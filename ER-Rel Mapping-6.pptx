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>
      <p:cViewPr varScale="1">
        <p:scale>
          <a:sx n="121" d="100"/>
          <a:sy n="121" d="100"/>
        </p:scale>
        <p:origin x="1904" y="17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28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827FBA-D12B-A644-87C4-803186344066}" type="datetimeFigureOut">
              <a:rPr lang="en-US" smtClean="0"/>
              <a:t>2/14/26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5FD813-BE09-AE47-9E54-B31F7EEDAC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4043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5FD813-BE09-AE47-9E54-B31F7EEDACF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8805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1">
                <a:solidFill>
                  <a:srgbClr val="0F114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1">
                <a:solidFill>
                  <a:srgbClr val="FF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0F114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35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-35" dirty="0"/>
              <a:t> </a:t>
            </a:r>
            <a:r>
              <a:rPr dirty="0"/>
              <a:t>Hyderabad</a:t>
            </a:r>
            <a:r>
              <a:rPr spc="-75" dirty="0"/>
              <a:t> </a:t>
            </a:r>
            <a:r>
              <a:rPr spc="-10" dirty="0"/>
              <a:t>Campus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</a:pPr>
            <a:endParaRPr spc="-10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1">
                <a:solidFill>
                  <a:srgbClr val="0F114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1" i="1">
                <a:solidFill>
                  <a:srgbClr val="FF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0F114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35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-35" dirty="0"/>
              <a:t> </a:t>
            </a:r>
            <a:r>
              <a:rPr dirty="0"/>
              <a:t>Hyderabad</a:t>
            </a:r>
            <a:r>
              <a:rPr spc="-75" dirty="0"/>
              <a:t> </a:t>
            </a:r>
            <a:r>
              <a:rPr spc="-10" dirty="0"/>
              <a:t>Campus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</a:pPr>
            <a:endParaRPr spc="-10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1">
                <a:solidFill>
                  <a:srgbClr val="0F114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0F114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35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-35" dirty="0"/>
              <a:t> </a:t>
            </a:r>
            <a:r>
              <a:rPr dirty="0"/>
              <a:t>Hyderabad</a:t>
            </a:r>
            <a:r>
              <a:rPr spc="-75" dirty="0"/>
              <a:t> </a:t>
            </a:r>
            <a:r>
              <a:rPr spc="-10" dirty="0"/>
              <a:t>Campus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</a:pPr>
            <a:endParaRPr spc="-10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1">
                <a:solidFill>
                  <a:srgbClr val="0F114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0F114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35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-35" dirty="0"/>
              <a:t> </a:t>
            </a:r>
            <a:r>
              <a:rPr dirty="0"/>
              <a:t>Hyderabad</a:t>
            </a:r>
            <a:r>
              <a:rPr spc="-75" dirty="0"/>
              <a:t> </a:t>
            </a:r>
            <a:r>
              <a:rPr spc="-10" dirty="0"/>
              <a:t>Campus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</a:pPr>
            <a:endParaRPr spc="-10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0F114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35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-35" dirty="0"/>
              <a:t> </a:t>
            </a:r>
            <a:r>
              <a:rPr dirty="0"/>
              <a:t>Hyderabad</a:t>
            </a:r>
            <a:r>
              <a:rPr spc="-75" dirty="0"/>
              <a:t> </a:t>
            </a:r>
            <a:r>
              <a:rPr spc="-10" dirty="0"/>
              <a:t>Campus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</a:pPr>
            <a:endParaRPr spc="-10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2362200" y="1295400"/>
            <a:ext cx="2329180" cy="45720"/>
          </a:xfrm>
          <a:custGeom>
            <a:avLst/>
            <a:gdLst/>
            <a:ahLst/>
            <a:cxnLst/>
            <a:rect l="l" t="t" r="r" b="b"/>
            <a:pathLst>
              <a:path w="2329179" h="45719">
                <a:moveTo>
                  <a:pt x="2328672" y="0"/>
                </a:moveTo>
                <a:lnTo>
                  <a:pt x="0" y="0"/>
                </a:lnTo>
                <a:lnTo>
                  <a:pt x="0" y="45720"/>
                </a:lnTo>
                <a:lnTo>
                  <a:pt x="2328672" y="45720"/>
                </a:lnTo>
                <a:lnTo>
                  <a:pt x="2328672" y="0"/>
                </a:lnTo>
                <a:close/>
              </a:path>
            </a:pathLst>
          </a:custGeom>
          <a:solidFill>
            <a:srgbClr val="76C2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1295400"/>
            <a:ext cx="2362200" cy="45720"/>
          </a:xfrm>
          <a:custGeom>
            <a:avLst/>
            <a:gdLst/>
            <a:ahLst/>
            <a:cxnLst/>
            <a:rect l="l" t="t" r="r" b="b"/>
            <a:pathLst>
              <a:path w="2362200" h="45719">
                <a:moveTo>
                  <a:pt x="2362200" y="0"/>
                </a:moveTo>
                <a:lnTo>
                  <a:pt x="0" y="0"/>
                </a:lnTo>
                <a:lnTo>
                  <a:pt x="0" y="45720"/>
                </a:lnTo>
                <a:lnTo>
                  <a:pt x="2362200" y="45720"/>
                </a:lnTo>
                <a:lnTo>
                  <a:pt x="2362200" y="0"/>
                </a:lnTo>
                <a:close/>
              </a:path>
            </a:pathLst>
          </a:custGeom>
          <a:solidFill>
            <a:srgbClr val="FBAF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681728" y="1295400"/>
            <a:ext cx="2329180" cy="45720"/>
          </a:xfrm>
          <a:custGeom>
            <a:avLst/>
            <a:gdLst/>
            <a:ahLst/>
            <a:cxnLst/>
            <a:rect l="l" t="t" r="r" b="b"/>
            <a:pathLst>
              <a:path w="2329179" h="45719">
                <a:moveTo>
                  <a:pt x="2328672" y="0"/>
                </a:moveTo>
                <a:lnTo>
                  <a:pt x="0" y="0"/>
                </a:lnTo>
                <a:lnTo>
                  <a:pt x="0" y="45720"/>
                </a:lnTo>
                <a:lnTo>
                  <a:pt x="2328672" y="45720"/>
                </a:lnTo>
                <a:lnTo>
                  <a:pt x="232867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4495800" y="6553200"/>
            <a:ext cx="2329180" cy="45720"/>
          </a:xfrm>
          <a:custGeom>
            <a:avLst/>
            <a:gdLst/>
            <a:ahLst/>
            <a:cxnLst/>
            <a:rect l="l" t="t" r="r" b="b"/>
            <a:pathLst>
              <a:path w="2329179" h="45720">
                <a:moveTo>
                  <a:pt x="2328672" y="0"/>
                </a:moveTo>
                <a:lnTo>
                  <a:pt x="0" y="0"/>
                </a:lnTo>
                <a:lnTo>
                  <a:pt x="0" y="45720"/>
                </a:lnTo>
                <a:lnTo>
                  <a:pt x="2328672" y="45720"/>
                </a:lnTo>
                <a:lnTo>
                  <a:pt x="2328672" y="0"/>
                </a:lnTo>
                <a:close/>
              </a:path>
            </a:pathLst>
          </a:custGeom>
          <a:solidFill>
            <a:srgbClr val="76C2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2133600" y="6553200"/>
            <a:ext cx="2362200" cy="45720"/>
          </a:xfrm>
          <a:custGeom>
            <a:avLst/>
            <a:gdLst/>
            <a:ahLst/>
            <a:cxnLst/>
            <a:rect l="l" t="t" r="r" b="b"/>
            <a:pathLst>
              <a:path w="2362200" h="45720">
                <a:moveTo>
                  <a:pt x="2362200" y="0"/>
                </a:moveTo>
                <a:lnTo>
                  <a:pt x="0" y="0"/>
                </a:lnTo>
                <a:lnTo>
                  <a:pt x="0" y="45720"/>
                </a:lnTo>
                <a:lnTo>
                  <a:pt x="2362200" y="45720"/>
                </a:lnTo>
                <a:lnTo>
                  <a:pt x="2362200" y="0"/>
                </a:lnTo>
                <a:close/>
              </a:path>
            </a:pathLst>
          </a:custGeom>
          <a:solidFill>
            <a:srgbClr val="FBAF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6815328" y="6553200"/>
            <a:ext cx="2329180" cy="45720"/>
          </a:xfrm>
          <a:custGeom>
            <a:avLst/>
            <a:gdLst/>
            <a:ahLst/>
            <a:cxnLst/>
            <a:rect l="l" t="t" r="r" b="b"/>
            <a:pathLst>
              <a:path w="2329179" h="45720">
                <a:moveTo>
                  <a:pt x="2328672" y="0"/>
                </a:moveTo>
                <a:lnTo>
                  <a:pt x="0" y="0"/>
                </a:lnTo>
                <a:lnTo>
                  <a:pt x="0" y="45720"/>
                </a:lnTo>
                <a:lnTo>
                  <a:pt x="2328672" y="45720"/>
                </a:lnTo>
                <a:lnTo>
                  <a:pt x="232867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bg object 2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629400" y="0"/>
            <a:ext cx="2194559" cy="69189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1140" y="150317"/>
            <a:ext cx="5789295" cy="10325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1">
                <a:solidFill>
                  <a:srgbClr val="0F114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45844" y="1519504"/>
            <a:ext cx="6721475" cy="39281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1">
                <a:solidFill>
                  <a:srgbClr val="FF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018401" y="6641897"/>
            <a:ext cx="2047875" cy="1828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0F114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35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-35" dirty="0"/>
              <a:t> </a:t>
            </a:r>
            <a:r>
              <a:rPr dirty="0"/>
              <a:t>Hyderabad</a:t>
            </a:r>
            <a:r>
              <a:rPr spc="-75" dirty="0"/>
              <a:t> </a:t>
            </a:r>
            <a:r>
              <a:rPr spc="-10" dirty="0"/>
              <a:t>Campus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145844" y="6641897"/>
            <a:ext cx="1201420" cy="21604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</a:pPr>
            <a:endParaRPr spc="-10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sldNum="0" hdr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3352800"/>
              <a:ext cx="8686800" cy="2743200"/>
            </a:xfrm>
            <a:custGeom>
              <a:avLst/>
              <a:gdLst/>
              <a:ahLst/>
              <a:cxnLst/>
              <a:rect l="l" t="t" r="r" b="b"/>
              <a:pathLst>
                <a:path w="8686800" h="2743200">
                  <a:moveTo>
                    <a:pt x="8686800" y="0"/>
                  </a:moveTo>
                  <a:lnTo>
                    <a:pt x="0" y="0"/>
                  </a:lnTo>
                  <a:lnTo>
                    <a:pt x="0" y="2743200"/>
                  </a:lnTo>
                  <a:lnTo>
                    <a:pt x="8686800" y="2743200"/>
                  </a:lnTo>
                  <a:lnTo>
                    <a:pt x="8686800" y="0"/>
                  </a:lnTo>
                  <a:close/>
                </a:path>
              </a:pathLst>
            </a:custGeom>
            <a:solidFill>
              <a:srgbClr val="0F114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895600" y="6096000"/>
              <a:ext cx="2895600" cy="76200"/>
            </a:xfrm>
            <a:custGeom>
              <a:avLst/>
              <a:gdLst/>
              <a:ahLst/>
              <a:cxnLst/>
              <a:rect l="l" t="t" r="r" b="b"/>
              <a:pathLst>
                <a:path w="2895600" h="76200">
                  <a:moveTo>
                    <a:pt x="2895600" y="0"/>
                  </a:moveTo>
                  <a:lnTo>
                    <a:pt x="0" y="0"/>
                  </a:lnTo>
                  <a:lnTo>
                    <a:pt x="0" y="76200"/>
                  </a:lnTo>
                  <a:lnTo>
                    <a:pt x="2895600" y="76200"/>
                  </a:lnTo>
                  <a:lnTo>
                    <a:pt x="2895600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6096000"/>
              <a:ext cx="2895600" cy="76200"/>
            </a:xfrm>
            <a:custGeom>
              <a:avLst/>
              <a:gdLst/>
              <a:ahLst/>
              <a:cxnLst/>
              <a:rect l="l" t="t" r="r" b="b"/>
              <a:pathLst>
                <a:path w="2895600" h="76200">
                  <a:moveTo>
                    <a:pt x="2895600" y="0"/>
                  </a:moveTo>
                  <a:lnTo>
                    <a:pt x="0" y="0"/>
                  </a:lnTo>
                  <a:lnTo>
                    <a:pt x="0" y="76200"/>
                  </a:lnTo>
                  <a:lnTo>
                    <a:pt x="2895600" y="76200"/>
                  </a:lnTo>
                  <a:lnTo>
                    <a:pt x="28956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791200" y="6096000"/>
              <a:ext cx="2895600" cy="76200"/>
            </a:xfrm>
            <a:custGeom>
              <a:avLst/>
              <a:gdLst/>
              <a:ahLst/>
              <a:cxnLst/>
              <a:rect l="l" t="t" r="r" b="b"/>
              <a:pathLst>
                <a:path w="2895600" h="76200">
                  <a:moveTo>
                    <a:pt x="2895600" y="0"/>
                  </a:moveTo>
                  <a:lnTo>
                    <a:pt x="0" y="0"/>
                  </a:lnTo>
                  <a:lnTo>
                    <a:pt x="0" y="76200"/>
                  </a:lnTo>
                  <a:lnTo>
                    <a:pt x="2895600" y="76200"/>
                  </a:lnTo>
                  <a:lnTo>
                    <a:pt x="28956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200" y="3352800"/>
              <a:ext cx="2057400" cy="1978152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207873" y="5283809"/>
            <a:ext cx="1671320" cy="6248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ts val="3375"/>
              </a:lnSpc>
              <a:spcBef>
                <a:spcPts val="105"/>
              </a:spcBef>
            </a:pPr>
            <a:r>
              <a:rPr sz="2900" b="1" spc="-125" dirty="0">
                <a:solidFill>
                  <a:srgbClr val="FFFFFF"/>
                </a:solidFill>
                <a:latin typeface="Arial"/>
                <a:cs typeface="Arial"/>
              </a:rPr>
              <a:t>BITS</a:t>
            </a:r>
            <a:r>
              <a:rPr sz="2900" b="1" spc="-2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900" spc="-110" dirty="0">
                <a:solidFill>
                  <a:srgbClr val="FFFFFF"/>
                </a:solidFill>
                <a:latin typeface="Arial"/>
                <a:cs typeface="Arial"/>
              </a:rPr>
              <a:t>Pilani</a:t>
            </a:r>
            <a:endParaRPr sz="2900">
              <a:latin typeface="Arial"/>
              <a:cs typeface="Arial"/>
            </a:endParaRPr>
          </a:p>
          <a:p>
            <a:pPr marL="35560">
              <a:lnSpc>
                <a:spcPts val="1335"/>
              </a:lnSpc>
            </a:pP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Hyderabad</a:t>
            </a:r>
            <a:r>
              <a:rPr sz="12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Campus</a:t>
            </a:r>
            <a:endParaRPr sz="12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588765" y="3947871"/>
            <a:ext cx="2870200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2800" b="1" spc="-140" dirty="0">
                <a:solidFill>
                  <a:srgbClr val="FFFFFF"/>
                </a:solidFill>
                <a:latin typeface="Arial"/>
                <a:cs typeface="Arial"/>
              </a:rPr>
              <a:t>Database</a:t>
            </a:r>
            <a:r>
              <a:rPr sz="2800" b="1" spc="-2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30" dirty="0">
                <a:solidFill>
                  <a:srgbClr val="FFFFFF"/>
                </a:solidFill>
                <a:latin typeface="Arial"/>
                <a:cs typeface="Arial"/>
              </a:rPr>
              <a:t>Systems</a:t>
            </a:r>
            <a:endParaRPr sz="2800">
              <a:latin typeface="Arial"/>
              <a:cs typeface="Arial"/>
            </a:endParaRP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1A1F2BB2-BAC8-B3FA-7907-B10D5A10EED5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>
              <a:lnSpc>
                <a:spcPct val="100000"/>
              </a:lnSpc>
            </a:pPr>
            <a:endParaRPr lang="en-US" spc="-10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11CA71B3-3A3A-DAC4-089E-B082CB9462A1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ct val="100000"/>
              </a:lnSpc>
            </a:pPr>
            <a:r>
              <a:rPr lang="en-US" b="1">
                <a:latin typeface="Arial"/>
                <a:cs typeface="Arial"/>
              </a:rPr>
              <a:t>BITS</a:t>
            </a:r>
            <a:r>
              <a:rPr lang="en-US" b="1" spc="-35">
                <a:latin typeface="Arial"/>
                <a:cs typeface="Arial"/>
              </a:rPr>
              <a:t> </a:t>
            </a:r>
            <a:r>
              <a:rPr lang="en-US"/>
              <a:t>Pilani,</a:t>
            </a:r>
            <a:r>
              <a:rPr lang="en-US" spc="-35"/>
              <a:t> </a:t>
            </a:r>
            <a:r>
              <a:rPr lang="en-US"/>
              <a:t>Hyderabad</a:t>
            </a:r>
            <a:r>
              <a:rPr lang="en-US" spc="-75"/>
              <a:t> </a:t>
            </a:r>
            <a:r>
              <a:rPr lang="en-US" spc="-10"/>
              <a:t>Campus</a:t>
            </a:r>
            <a:endParaRPr lang="en-US" spc="-1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165100" marR="5080">
              <a:lnSpc>
                <a:spcPts val="3600"/>
              </a:lnSpc>
              <a:spcBef>
                <a:spcPts val="819"/>
              </a:spcBef>
            </a:pPr>
            <a:r>
              <a:rPr sz="3600" i="0" spc="-80" dirty="0">
                <a:solidFill>
                  <a:srgbClr val="000000"/>
                </a:solidFill>
                <a:latin typeface="Arial"/>
                <a:cs typeface="Arial"/>
              </a:rPr>
              <a:t>ER</a:t>
            </a:r>
            <a:r>
              <a:rPr sz="3600" i="0" spc="-27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600" i="0" spc="-85" dirty="0">
                <a:solidFill>
                  <a:srgbClr val="000000"/>
                </a:solidFill>
                <a:latin typeface="Arial"/>
                <a:cs typeface="Arial"/>
              </a:rPr>
              <a:t>to</a:t>
            </a:r>
            <a:r>
              <a:rPr sz="3600" i="0" spc="-2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600" i="0" spc="-140" dirty="0">
                <a:solidFill>
                  <a:srgbClr val="000000"/>
                </a:solidFill>
                <a:latin typeface="Arial"/>
                <a:cs typeface="Arial"/>
              </a:rPr>
              <a:t>Relational</a:t>
            </a:r>
            <a:r>
              <a:rPr sz="3600" i="0" spc="-33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600" i="0" spc="-120" dirty="0">
                <a:solidFill>
                  <a:srgbClr val="000000"/>
                </a:solidFill>
                <a:latin typeface="Arial"/>
                <a:cs typeface="Arial"/>
              </a:rPr>
              <a:t>Mapping </a:t>
            </a:r>
            <a:r>
              <a:rPr sz="3600" i="0" spc="-130" dirty="0">
                <a:solidFill>
                  <a:srgbClr val="000000"/>
                </a:solidFill>
                <a:latin typeface="Arial"/>
                <a:cs typeface="Arial"/>
              </a:rPr>
              <a:t>(Ch.</a:t>
            </a:r>
            <a:r>
              <a:rPr sz="3600" i="0" spc="-31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600" i="0" dirty="0">
                <a:solidFill>
                  <a:srgbClr val="000000"/>
                </a:solidFill>
                <a:latin typeface="Arial"/>
                <a:cs typeface="Arial"/>
              </a:rPr>
              <a:t>8</a:t>
            </a:r>
            <a:r>
              <a:rPr sz="3600" i="0" spc="-27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600" i="0" spc="-90" dirty="0">
                <a:solidFill>
                  <a:srgbClr val="000000"/>
                </a:solidFill>
                <a:latin typeface="Arial"/>
                <a:cs typeface="Arial"/>
              </a:rPr>
              <a:t>of</a:t>
            </a:r>
            <a:r>
              <a:rPr sz="3600" i="0" spc="-31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600" i="0" spc="-25" dirty="0">
                <a:solidFill>
                  <a:srgbClr val="000000"/>
                </a:solidFill>
                <a:latin typeface="Arial"/>
                <a:cs typeface="Arial"/>
              </a:rPr>
              <a:t>T1)</a:t>
            </a:r>
            <a:endParaRPr sz="36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35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-35" dirty="0"/>
              <a:t> </a:t>
            </a:r>
            <a:r>
              <a:rPr dirty="0"/>
              <a:t>Hyderabad</a:t>
            </a:r>
            <a:r>
              <a:rPr spc="-75" dirty="0"/>
              <a:t> </a:t>
            </a:r>
            <a:r>
              <a:rPr spc="-10" dirty="0"/>
              <a:t>Campus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1298194" y="1418793"/>
            <a:ext cx="5934710" cy="439547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2000" b="1" i="1" spc="-10" dirty="0">
                <a:latin typeface="Arial"/>
                <a:cs typeface="Arial"/>
              </a:rPr>
              <a:t>Content</a:t>
            </a:r>
            <a:endParaRPr sz="2000">
              <a:latin typeface="Arial"/>
              <a:cs typeface="Arial"/>
            </a:endParaRPr>
          </a:p>
          <a:p>
            <a:pPr marL="421005" indent="-408305">
              <a:lnSpc>
                <a:spcPct val="100000"/>
              </a:lnSpc>
              <a:spcBef>
                <a:spcPts val="640"/>
              </a:spcBef>
              <a:buSzPct val="64285"/>
              <a:buAutoNum type="arabicPeriod"/>
              <a:tabLst>
                <a:tab pos="421005" algn="l"/>
              </a:tabLst>
            </a:pPr>
            <a:r>
              <a:rPr sz="2800" i="1" dirty="0">
                <a:solidFill>
                  <a:srgbClr val="17375E"/>
                </a:solidFill>
                <a:latin typeface="Arial"/>
                <a:cs typeface="Arial"/>
              </a:rPr>
              <a:t>Mapping</a:t>
            </a:r>
            <a:r>
              <a:rPr sz="2800" i="1" spc="-1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i="1" dirty="0">
                <a:solidFill>
                  <a:srgbClr val="17375E"/>
                </a:solidFill>
                <a:latin typeface="Arial"/>
                <a:cs typeface="Arial"/>
              </a:rPr>
              <a:t>Regular</a:t>
            </a:r>
            <a:r>
              <a:rPr sz="2800" i="1" spc="-3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i="1" dirty="0">
                <a:solidFill>
                  <a:srgbClr val="17375E"/>
                </a:solidFill>
                <a:latin typeface="Arial"/>
                <a:cs typeface="Arial"/>
              </a:rPr>
              <a:t>Entity</a:t>
            </a:r>
            <a:r>
              <a:rPr sz="2800" i="1" spc="-8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i="1" spc="-10" dirty="0">
                <a:solidFill>
                  <a:srgbClr val="17375E"/>
                </a:solidFill>
                <a:latin typeface="Arial"/>
                <a:cs typeface="Arial"/>
              </a:rPr>
              <a:t>types</a:t>
            </a:r>
            <a:endParaRPr sz="2800">
              <a:latin typeface="Arial"/>
              <a:cs typeface="Arial"/>
            </a:endParaRPr>
          </a:p>
          <a:p>
            <a:pPr marL="454025" indent="-441325">
              <a:lnSpc>
                <a:spcPct val="100000"/>
              </a:lnSpc>
              <a:spcBef>
                <a:spcPts val="675"/>
              </a:spcBef>
              <a:buAutoNum type="arabicPeriod"/>
              <a:tabLst>
                <a:tab pos="454025" algn="l"/>
              </a:tabLst>
            </a:pPr>
            <a:r>
              <a:rPr sz="2800" i="1" dirty="0">
                <a:solidFill>
                  <a:srgbClr val="17375E"/>
                </a:solidFill>
                <a:latin typeface="Arial"/>
                <a:cs typeface="Arial"/>
              </a:rPr>
              <a:t>Mapping</a:t>
            </a:r>
            <a:r>
              <a:rPr sz="2800" i="1" spc="-2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i="1" dirty="0">
                <a:solidFill>
                  <a:srgbClr val="17375E"/>
                </a:solidFill>
                <a:latin typeface="Arial"/>
                <a:cs typeface="Arial"/>
              </a:rPr>
              <a:t>Weak</a:t>
            </a:r>
            <a:r>
              <a:rPr sz="2800" i="1" spc="-114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i="1" dirty="0">
                <a:solidFill>
                  <a:srgbClr val="17375E"/>
                </a:solidFill>
                <a:latin typeface="Arial"/>
                <a:cs typeface="Arial"/>
              </a:rPr>
              <a:t>Entity</a:t>
            </a:r>
            <a:r>
              <a:rPr sz="2800" i="1" spc="-9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i="1" spc="-10" dirty="0">
                <a:solidFill>
                  <a:srgbClr val="17375E"/>
                </a:solidFill>
                <a:latin typeface="Arial"/>
                <a:cs typeface="Arial"/>
              </a:rPr>
              <a:t>types</a:t>
            </a:r>
            <a:endParaRPr sz="2800">
              <a:latin typeface="Arial"/>
              <a:cs typeface="Arial"/>
            </a:endParaRPr>
          </a:p>
          <a:p>
            <a:pPr marL="454025" indent="-441325">
              <a:lnSpc>
                <a:spcPct val="100000"/>
              </a:lnSpc>
              <a:spcBef>
                <a:spcPts val="670"/>
              </a:spcBef>
              <a:buAutoNum type="arabicPeriod"/>
              <a:tabLst>
                <a:tab pos="454025" algn="l"/>
              </a:tabLst>
            </a:pPr>
            <a:r>
              <a:rPr sz="2800" i="1" dirty="0">
                <a:solidFill>
                  <a:srgbClr val="17375E"/>
                </a:solidFill>
                <a:latin typeface="Arial"/>
                <a:cs typeface="Arial"/>
              </a:rPr>
              <a:t>Mapping</a:t>
            </a:r>
            <a:r>
              <a:rPr sz="2800" i="1" spc="-3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i="1" dirty="0">
                <a:solidFill>
                  <a:srgbClr val="17375E"/>
                </a:solidFill>
                <a:latin typeface="Arial"/>
                <a:cs typeface="Arial"/>
              </a:rPr>
              <a:t>1:1</a:t>
            </a:r>
            <a:r>
              <a:rPr sz="2800" i="1" spc="-10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i="1" spc="-10" dirty="0">
                <a:solidFill>
                  <a:srgbClr val="17375E"/>
                </a:solidFill>
                <a:latin typeface="Arial"/>
                <a:cs typeface="Arial"/>
              </a:rPr>
              <a:t>Relationships</a:t>
            </a:r>
            <a:endParaRPr sz="2800">
              <a:latin typeface="Arial"/>
              <a:cs typeface="Arial"/>
            </a:endParaRPr>
          </a:p>
          <a:p>
            <a:pPr marL="453390" indent="-440690">
              <a:lnSpc>
                <a:spcPct val="100000"/>
              </a:lnSpc>
              <a:spcBef>
                <a:spcPts val="675"/>
              </a:spcBef>
              <a:buAutoNum type="arabicPeriod"/>
              <a:tabLst>
                <a:tab pos="453390" algn="l"/>
              </a:tabLst>
            </a:pPr>
            <a:r>
              <a:rPr sz="2800" i="1" dirty="0">
                <a:solidFill>
                  <a:srgbClr val="17375E"/>
                </a:solidFill>
                <a:latin typeface="Arial"/>
                <a:cs typeface="Arial"/>
              </a:rPr>
              <a:t>Mapping</a:t>
            </a:r>
            <a:r>
              <a:rPr sz="2800" i="1" spc="2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i="1" dirty="0">
                <a:solidFill>
                  <a:srgbClr val="17375E"/>
                </a:solidFill>
                <a:latin typeface="Arial"/>
                <a:cs typeface="Arial"/>
              </a:rPr>
              <a:t>1:N</a:t>
            </a:r>
            <a:r>
              <a:rPr sz="2800" i="1" spc="-5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i="1" spc="-10" dirty="0">
                <a:solidFill>
                  <a:srgbClr val="17375E"/>
                </a:solidFill>
                <a:latin typeface="Arial"/>
                <a:cs typeface="Arial"/>
              </a:rPr>
              <a:t>Relationships</a:t>
            </a:r>
            <a:endParaRPr sz="2800">
              <a:latin typeface="Arial"/>
              <a:cs typeface="Arial"/>
            </a:endParaRPr>
          </a:p>
          <a:p>
            <a:pPr marL="453390" indent="-440690">
              <a:lnSpc>
                <a:spcPct val="100000"/>
              </a:lnSpc>
              <a:spcBef>
                <a:spcPts val="675"/>
              </a:spcBef>
              <a:buAutoNum type="arabicPeriod"/>
              <a:tabLst>
                <a:tab pos="453390" algn="l"/>
              </a:tabLst>
            </a:pPr>
            <a:r>
              <a:rPr sz="2800" i="1" dirty="0">
                <a:solidFill>
                  <a:srgbClr val="17375E"/>
                </a:solidFill>
                <a:latin typeface="Arial"/>
                <a:cs typeface="Arial"/>
              </a:rPr>
              <a:t>Mapping</a:t>
            </a:r>
            <a:r>
              <a:rPr sz="2800" i="1" spc="1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i="1" dirty="0">
                <a:solidFill>
                  <a:srgbClr val="17375E"/>
                </a:solidFill>
                <a:latin typeface="Arial"/>
                <a:cs typeface="Arial"/>
              </a:rPr>
              <a:t>N:M</a:t>
            </a:r>
            <a:r>
              <a:rPr sz="2800" i="1" spc="-6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i="1" spc="-10" dirty="0">
                <a:solidFill>
                  <a:srgbClr val="17375E"/>
                </a:solidFill>
                <a:latin typeface="Arial"/>
                <a:cs typeface="Arial"/>
              </a:rPr>
              <a:t>Relationships</a:t>
            </a:r>
            <a:endParaRPr sz="2800">
              <a:latin typeface="Arial"/>
              <a:cs typeface="Arial"/>
            </a:endParaRPr>
          </a:p>
          <a:p>
            <a:pPr marL="357505" marR="5080" indent="-344805">
              <a:lnSpc>
                <a:spcPct val="100000"/>
              </a:lnSpc>
              <a:spcBef>
                <a:spcPts val="675"/>
              </a:spcBef>
              <a:buAutoNum type="arabicPeriod"/>
              <a:tabLst>
                <a:tab pos="357505" algn="l"/>
                <a:tab pos="454025" algn="l"/>
              </a:tabLst>
            </a:pPr>
            <a:r>
              <a:rPr sz="2800" i="1" dirty="0">
                <a:solidFill>
                  <a:srgbClr val="17375E"/>
                </a:solidFill>
                <a:latin typeface="Arial"/>
                <a:cs typeface="Arial"/>
              </a:rPr>
              <a:t>	Mapping</a:t>
            </a:r>
            <a:r>
              <a:rPr sz="2800" i="1" spc="-6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i="1" dirty="0">
                <a:solidFill>
                  <a:srgbClr val="17375E"/>
                </a:solidFill>
                <a:latin typeface="Arial"/>
                <a:cs typeface="Arial"/>
              </a:rPr>
              <a:t>Multivalued</a:t>
            </a:r>
            <a:r>
              <a:rPr sz="2800" i="1" spc="-10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i="1" dirty="0">
                <a:solidFill>
                  <a:srgbClr val="17375E"/>
                </a:solidFill>
                <a:latin typeface="Arial"/>
                <a:cs typeface="Arial"/>
              </a:rPr>
              <a:t>and</a:t>
            </a:r>
            <a:r>
              <a:rPr sz="2800" i="1" spc="-11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i="1" spc="-10" dirty="0">
                <a:solidFill>
                  <a:srgbClr val="17375E"/>
                </a:solidFill>
                <a:latin typeface="Arial"/>
                <a:cs typeface="Arial"/>
              </a:rPr>
              <a:t>Complex attributes</a:t>
            </a:r>
            <a:endParaRPr sz="28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70"/>
              </a:spcBef>
              <a:buAutoNum type="arabicPeriod"/>
              <a:tabLst>
                <a:tab pos="355600" algn="l"/>
              </a:tabLst>
            </a:pPr>
            <a:r>
              <a:rPr sz="2800" i="1" dirty="0">
                <a:solidFill>
                  <a:srgbClr val="17375E"/>
                </a:solidFill>
                <a:latin typeface="Arial"/>
                <a:cs typeface="Arial"/>
              </a:rPr>
              <a:t>Mapping</a:t>
            </a:r>
            <a:r>
              <a:rPr sz="2800" i="1" spc="-1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i="1" dirty="0">
                <a:solidFill>
                  <a:srgbClr val="17375E"/>
                </a:solidFill>
                <a:latin typeface="Arial"/>
                <a:cs typeface="Arial"/>
              </a:rPr>
              <a:t>class</a:t>
            </a:r>
            <a:r>
              <a:rPr sz="2800" i="1" spc="-5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i="1" spc="-10" dirty="0">
                <a:solidFill>
                  <a:srgbClr val="17375E"/>
                </a:solidFill>
                <a:latin typeface="Arial"/>
                <a:cs typeface="Arial"/>
              </a:rPr>
              <a:t>hierarchies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7217" y="1304366"/>
            <a:ext cx="7686040" cy="472313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10"/>
              </a:spcBef>
              <a:buAutoNum type="arabicPeriod"/>
              <a:tabLst>
                <a:tab pos="469900" algn="l"/>
              </a:tabLst>
            </a:pPr>
            <a:r>
              <a:rPr sz="2800" spc="-110" dirty="0">
                <a:solidFill>
                  <a:srgbClr val="943735"/>
                </a:solidFill>
                <a:latin typeface="Arial"/>
                <a:cs typeface="Arial"/>
              </a:rPr>
              <a:t>Mapping</a:t>
            </a:r>
            <a:r>
              <a:rPr sz="2800" spc="-130" dirty="0">
                <a:solidFill>
                  <a:srgbClr val="943735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943735"/>
                </a:solidFill>
                <a:latin typeface="Arial"/>
                <a:cs typeface="Arial"/>
              </a:rPr>
              <a:t>of</a:t>
            </a:r>
            <a:r>
              <a:rPr sz="2800" spc="-165" dirty="0">
                <a:solidFill>
                  <a:srgbClr val="943735"/>
                </a:solidFill>
                <a:latin typeface="Arial"/>
                <a:cs typeface="Arial"/>
              </a:rPr>
              <a:t> </a:t>
            </a:r>
            <a:r>
              <a:rPr sz="2800" spc="-180" dirty="0">
                <a:solidFill>
                  <a:srgbClr val="943735"/>
                </a:solidFill>
                <a:latin typeface="Arial"/>
                <a:cs typeface="Arial"/>
              </a:rPr>
              <a:t>Regular</a:t>
            </a:r>
            <a:r>
              <a:rPr sz="2800" spc="-170" dirty="0">
                <a:solidFill>
                  <a:srgbClr val="943735"/>
                </a:solidFill>
                <a:latin typeface="Arial"/>
                <a:cs typeface="Arial"/>
              </a:rPr>
              <a:t> </a:t>
            </a:r>
            <a:r>
              <a:rPr sz="2800" spc="-75" dirty="0">
                <a:solidFill>
                  <a:srgbClr val="943735"/>
                </a:solidFill>
                <a:latin typeface="Arial"/>
                <a:cs typeface="Arial"/>
              </a:rPr>
              <a:t>Entity</a:t>
            </a:r>
            <a:r>
              <a:rPr sz="2800" spc="-145" dirty="0">
                <a:solidFill>
                  <a:srgbClr val="943735"/>
                </a:solidFill>
                <a:latin typeface="Arial"/>
                <a:cs typeface="Arial"/>
              </a:rPr>
              <a:t> </a:t>
            </a:r>
            <a:r>
              <a:rPr sz="2800" spc="-35" dirty="0">
                <a:solidFill>
                  <a:srgbClr val="943735"/>
                </a:solidFill>
                <a:latin typeface="Arial"/>
                <a:cs typeface="Arial"/>
              </a:rPr>
              <a:t>Types.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90"/>
              </a:spcBef>
              <a:buClr>
                <a:srgbClr val="943735"/>
              </a:buClr>
              <a:buFont typeface="Arial"/>
              <a:buAutoNum type="arabicPeriod"/>
            </a:pPr>
            <a:endParaRPr sz="2800">
              <a:latin typeface="Arial"/>
              <a:cs typeface="Arial"/>
            </a:endParaRPr>
          </a:p>
          <a:p>
            <a:pPr marL="812800" marR="41275" lvl="1" indent="-343535" algn="just">
              <a:lnSpc>
                <a:spcPts val="2690"/>
              </a:lnSpc>
              <a:buFont typeface="Wingdings"/>
              <a:buChar char=""/>
              <a:tabLst>
                <a:tab pos="814069" algn="l"/>
              </a:tabLst>
            </a:pPr>
            <a:r>
              <a:rPr sz="2800" spc="-175" dirty="0">
                <a:solidFill>
                  <a:srgbClr val="17375E"/>
                </a:solidFill>
                <a:latin typeface="Arial"/>
                <a:cs typeface="Arial"/>
              </a:rPr>
              <a:t>For</a:t>
            </a:r>
            <a:r>
              <a:rPr sz="2800" spc="-15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spc="-190" dirty="0">
                <a:solidFill>
                  <a:srgbClr val="17375E"/>
                </a:solidFill>
                <a:latin typeface="Arial"/>
                <a:cs typeface="Arial"/>
              </a:rPr>
              <a:t>each</a:t>
            </a:r>
            <a:r>
              <a:rPr sz="2800" spc="-14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spc="-105" dirty="0">
                <a:solidFill>
                  <a:srgbClr val="17375E"/>
                </a:solidFill>
                <a:latin typeface="Arial"/>
                <a:cs typeface="Arial"/>
              </a:rPr>
              <a:t>regular</a:t>
            </a:r>
            <a:r>
              <a:rPr sz="2800" spc="-17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spc="-105" dirty="0">
                <a:solidFill>
                  <a:srgbClr val="17375E"/>
                </a:solidFill>
                <a:latin typeface="Arial"/>
                <a:cs typeface="Arial"/>
              </a:rPr>
              <a:t>(strong)</a:t>
            </a:r>
            <a:r>
              <a:rPr sz="2800" spc="-15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17375E"/>
                </a:solidFill>
                <a:latin typeface="Arial"/>
                <a:cs typeface="Arial"/>
              </a:rPr>
              <a:t>entity</a:t>
            </a:r>
            <a:r>
              <a:rPr sz="2800" spc="-16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spc="-70" dirty="0">
                <a:solidFill>
                  <a:srgbClr val="17375E"/>
                </a:solidFill>
                <a:latin typeface="Arial"/>
                <a:cs typeface="Arial"/>
              </a:rPr>
              <a:t>type</a:t>
            </a:r>
            <a:r>
              <a:rPr sz="2800" spc="-16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spc="-505" dirty="0">
                <a:solidFill>
                  <a:srgbClr val="17375E"/>
                </a:solidFill>
                <a:latin typeface="Arial"/>
                <a:cs typeface="Arial"/>
              </a:rPr>
              <a:t>E</a:t>
            </a:r>
            <a:r>
              <a:rPr sz="2800" spc="-16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spc="-50" dirty="0">
                <a:solidFill>
                  <a:srgbClr val="17375E"/>
                </a:solidFill>
                <a:latin typeface="Arial"/>
                <a:cs typeface="Arial"/>
              </a:rPr>
              <a:t>in</a:t>
            </a:r>
            <a:r>
              <a:rPr sz="2800" spc="-14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spc="-40" dirty="0">
                <a:solidFill>
                  <a:srgbClr val="17375E"/>
                </a:solidFill>
                <a:latin typeface="Arial"/>
                <a:cs typeface="Arial"/>
              </a:rPr>
              <a:t>the</a:t>
            </a:r>
            <a:r>
              <a:rPr sz="2800" spc="-14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spc="-509" dirty="0">
                <a:solidFill>
                  <a:srgbClr val="17375E"/>
                </a:solidFill>
                <a:latin typeface="Arial"/>
                <a:cs typeface="Arial"/>
              </a:rPr>
              <a:t>ER</a:t>
            </a:r>
            <a:r>
              <a:rPr sz="2800" spc="-204" dirty="0">
                <a:solidFill>
                  <a:srgbClr val="17375E"/>
                </a:solidFill>
                <a:latin typeface="Arial"/>
                <a:cs typeface="Arial"/>
              </a:rPr>
              <a:t> 	</a:t>
            </a:r>
            <a:r>
              <a:rPr sz="2800" spc="-180" dirty="0">
                <a:solidFill>
                  <a:srgbClr val="17375E"/>
                </a:solidFill>
                <a:latin typeface="Arial"/>
                <a:cs typeface="Arial"/>
              </a:rPr>
              <a:t>schema,</a:t>
            </a:r>
            <a:r>
              <a:rPr sz="2800" spc="-14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spc="-125" dirty="0">
                <a:solidFill>
                  <a:srgbClr val="17375E"/>
                </a:solidFill>
                <a:latin typeface="Arial"/>
                <a:cs typeface="Arial"/>
              </a:rPr>
              <a:t>create</a:t>
            </a:r>
            <a:r>
              <a:rPr sz="2800" spc="-16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spc="-220" dirty="0">
                <a:solidFill>
                  <a:srgbClr val="17375E"/>
                </a:solidFill>
                <a:latin typeface="Arial"/>
                <a:cs typeface="Arial"/>
              </a:rPr>
              <a:t>a</a:t>
            </a:r>
            <a:r>
              <a:rPr sz="2800" spc="-13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spc="-55" dirty="0">
                <a:solidFill>
                  <a:srgbClr val="17375E"/>
                </a:solidFill>
                <a:latin typeface="Arial"/>
                <a:cs typeface="Arial"/>
              </a:rPr>
              <a:t>relation</a:t>
            </a:r>
            <a:r>
              <a:rPr sz="2800" spc="-19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spc="-509" dirty="0">
                <a:solidFill>
                  <a:srgbClr val="17375E"/>
                </a:solidFill>
                <a:latin typeface="Arial"/>
                <a:cs typeface="Arial"/>
              </a:rPr>
              <a:t>R</a:t>
            </a:r>
            <a:r>
              <a:rPr sz="2800" spc="-15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spc="-15" dirty="0">
                <a:solidFill>
                  <a:srgbClr val="17375E"/>
                </a:solidFill>
                <a:latin typeface="Arial"/>
                <a:cs typeface="Arial"/>
              </a:rPr>
              <a:t>that</a:t>
            </a:r>
            <a:r>
              <a:rPr sz="2800" spc="-14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spc="-130" dirty="0">
                <a:solidFill>
                  <a:srgbClr val="17375E"/>
                </a:solidFill>
                <a:latin typeface="Arial"/>
                <a:cs typeface="Arial"/>
              </a:rPr>
              <a:t>includes</a:t>
            </a:r>
            <a:r>
              <a:rPr sz="2800" spc="-13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spc="-70" dirty="0">
                <a:solidFill>
                  <a:srgbClr val="17375E"/>
                </a:solidFill>
                <a:latin typeface="Arial"/>
                <a:cs typeface="Arial"/>
              </a:rPr>
              <a:t>all</a:t>
            </a:r>
            <a:r>
              <a:rPr sz="2800" spc="-18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spc="-45" dirty="0">
                <a:solidFill>
                  <a:srgbClr val="17375E"/>
                </a:solidFill>
                <a:latin typeface="Arial"/>
                <a:cs typeface="Arial"/>
              </a:rPr>
              <a:t>the</a:t>
            </a:r>
            <a:r>
              <a:rPr sz="2800" spc="-90" dirty="0">
                <a:solidFill>
                  <a:srgbClr val="17375E"/>
                </a:solidFill>
                <a:latin typeface="Arial"/>
                <a:cs typeface="Arial"/>
              </a:rPr>
              <a:t> 	</a:t>
            </a:r>
            <a:r>
              <a:rPr sz="2800" spc="-114" dirty="0">
                <a:solidFill>
                  <a:srgbClr val="17375E"/>
                </a:solidFill>
                <a:latin typeface="Arial"/>
                <a:cs typeface="Arial"/>
              </a:rPr>
              <a:t>simple</a:t>
            </a:r>
            <a:r>
              <a:rPr sz="2800" spc="-16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spc="-55" dirty="0">
                <a:solidFill>
                  <a:srgbClr val="17375E"/>
                </a:solidFill>
                <a:latin typeface="Arial"/>
                <a:cs typeface="Arial"/>
              </a:rPr>
              <a:t>attributes</a:t>
            </a:r>
            <a:r>
              <a:rPr sz="2800" spc="-15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17375E"/>
                </a:solidFill>
                <a:latin typeface="Arial"/>
                <a:cs typeface="Arial"/>
              </a:rPr>
              <a:t>o</a:t>
            </a:r>
            <a:r>
              <a:rPr sz="2800" dirty="0">
                <a:solidFill>
                  <a:srgbClr val="17375E"/>
                </a:solidFill>
                <a:latin typeface="Arial"/>
                <a:cs typeface="Arial"/>
              </a:rPr>
              <a:t>f</a:t>
            </a:r>
            <a:r>
              <a:rPr sz="2800" spc="-14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spc="-300" dirty="0">
                <a:solidFill>
                  <a:srgbClr val="17375E"/>
                </a:solidFill>
                <a:latin typeface="Arial"/>
                <a:cs typeface="Arial"/>
              </a:rPr>
              <a:t>E.</a:t>
            </a:r>
            <a:endParaRPr sz="28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810"/>
              </a:spcBef>
              <a:buClr>
                <a:srgbClr val="17375E"/>
              </a:buClr>
              <a:buFont typeface="Wingdings"/>
              <a:buChar char=""/>
            </a:pPr>
            <a:endParaRPr sz="2800">
              <a:latin typeface="Arial"/>
              <a:cs typeface="Arial"/>
            </a:endParaRPr>
          </a:p>
          <a:p>
            <a:pPr marL="812800" marR="585470" lvl="1" indent="-343535">
              <a:lnSpc>
                <a:spcPts val="2690"/>
              </a:lnSpc>
              <a:buFont typeface="Wingdings"/>
              <a:buChar char=""/>
              <a:tabLst>
                <a:tab pos="814069" algn="l"/>
              </a:tabLst>
            </a:pPr>
            <a:r>
              <a:rPr sz="2800" spc="-229" dirty="0">
                <a:solidFill>
                  <a:srgbClr val="17375E"/>
                </a:solidFill>
                <a:latin typeface="Arial"/>
                <a:cs typeface="Arial"/>
              </a:rPr>
              <a:t>Choose</a:t>
            </a:r>
            <a:r>
              <a:rPr sz="2800" spc="-14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spc="-125" dirty="0">
                <a:solidFill>
                  <a:srgbClr val="17375E"/>
                </a:solidFill>
                <a:latin typeface="Arial"/>
                <a:cs typeface="Arial"/>
              </a:rPr>
              <a:t>one</a:t>
            </a:r>
            <a:r>
              <a:rPr sz="2800" spc="-15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17375E"/>
                </a:solidFill>
                <a:latin typeface="Arial"/>
                <a:cs typeface="Arial"/>
              </a:rPr>
              <a:t>of</a:t>
            </a:r>
            <a:r>
              <a:rPr sz="2800" spc="-15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spc="-45" dirty="0">
                <a:solidFill>
                  <a:srgbClr val="17375E"/>
                </a:solidFill>
                <a:latin typeface="Arial"/>
                <a:cs typeface="Arial"/>
              </a:rPr>
              <a:t>the</a:t>
            </a:r>
            <a:r>
              <a:rPr sz="2800" spc="-13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spc="-195" dirty="0">
                <a:solidFill>
                  <a:srgbClr val="17375E"/>
                </a:solidFill>
                <a:latin typeface="Arial"/>
                <a:cs typeface="Arial"/>
              </a:rPr>
              <a:t>key</a:t>
            </a:r>
            <a:r>
              <a:rPr sz="2800" spc="-12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spc="-55" dirty="0">
                <a:solidFill>
                  <a:srgbClr val="17375E"/>
                </a:solidFill>
                <a:latin typeface="Arial"/>
                <a:cs typeface="Arial"/>
              </a:rPr>
              <a:t>attributes</a:t>
            </a:r>
            <a:r>
              <a:rPr sz="2800" spc="-14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17375E"/>
                </a:solidFill>
                <a:latin typeface="Arial"/>
                <a:cs typeface="Arial"/>
              </a:rPr>
              <a:t>of</a:t>
            </a:r>
            <a:r>
              <a:rPr sz="2800" spc="-15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spc="-505" dirty="0">
                <a:solidFill>
                  <a:srgbClr val="17375E"/>
                </a:solidFill>
                <a:latin typeface="Arial"/>
                <a:cs typeface="Arial"/>
              </a:rPr>
              <a:t>E</a:t>
            </a:r>
            <a:r>
              <a:rPr sz="2800" spc="-12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spc="-270" dirty="0">
                <a:solidFill>
                  <a:srgbClr val="17375E"/>
                </a:solidFill>
                <a:latin typeface="Arial"/>
                <a:cs typeface="Arial"/>
              </a:rPr>
              <a:t>as</a:t>
            </a:r>
            <a:r>
              <a:rPr sz="2800" spc="-13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spc="-25" dirty="0">
                <a:solidFill>
                  <a:srgbClr val="17375E"/>
                </a:solidFill>
                <a:latin typeface="Arial"/>
                <a:cs typeface="Arial"/>
              </a:rPr>
              <a:t>the 	</a:t>
            </a:r>
            <a:r>
              <a:rPr sz="2800" spc="-70" dirty="0">
                <a:solidFill>
                  <a:srgbClr val="17375E"/>
                </a:solidFill>
                <a:latin typeface="Arial"/>
                <a:cs typeface="Arial"/>
              </a:rPr>
              <a:t>primary</a:t>
            </a:r>
            <a:r>
              <a:rPr sz="2800" spc="-15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spc="-200" dirty="0">
                <a:solidFill>
                  <a:srgbClr val="17375E"/>
                </a:solidFill>
                <a:latin typeface="Arial"/>
                <a:cs typeface="Arial"/>
              </a:rPr>
              <a:t>key</a:t>
            </a:r>
            <a:r>
              <a:rPr sz="2800" spc="-11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17375E"/>
                </a:solidFill>
                <a:latin typeface="Arial"/>
                <a:cs typeface="Arial"/>
              </a:rPr>
              <a:t>for</a:t>
            </a:r>
            <a:r>
              <a:rPr sz="2800" spc="-17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spc="-300" dirty="0">
                <a:solidFill>
                  <a:srgbClr val="17375E"/>
                </a:solidFill>
                <a:latin typeface="Arial"/>
                <a:cs typeface="Arial"/>
              </a:rPr>
              <a:t>R.</a:t>
            </a:r>
            <a:endParaRPr sz="28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840"/>
              </a:spcBef>
              <a:buClr>
                <a:srgbClr val="17375E"/>
              </a:buClr>
              <a:buFont typeface="Wingdings"/>
              <a:buChar char=""/>
            </a:pPr>
            <a:endParaRPr sz="2800">
              <a:latin typeface="Arial"/>
              <a:cs typeface="Arial"/>
            </a:endParaRPr>
          </a:p>
          <a:p>
            <a:pPr marL="812800" marR="5080" lvl="1" indent="-343535">
              <a:lnSpc>
                <a:spcPct val="80000"/>
              </a:lnSpc>
              <a:buFont typeface="Wingdings"/>
              <a:buChar char=""/>
              <a:tabLst>
                <a:tab pos="814069" algn="l"/>
              </a:tabLst>
            </a:pPr>
            <a:r>
              <a:rPr sz="2800" dirty="0">
                <a:solidFill>
                  <a:srgbClr val="17375E"/>
                </a:solidFill>
                <a:latin typeface="Arial"/>
                <a:cs typeface="Arial"/>
              </a:rPr>
              <a:t>If</a:t>
            </a:r>
            <a:r>
              <a:rPr sz="2800" spc="-13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spc="-45" dirty="0">
                <a:solidFill>
                  <a:srgbClr val="17375E"/>
                </a:solidFill>
                <a:latin typeface="Arial"/>
                <a:cs typeface="Arial"/>
              </a:rPr>
              <a:t>the</a:t>
            </a:r>
            <a:r>
              <a:rPr sz="2800" spc="-13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spc="-170" dirty="0">
                <a:solidFill>
                  <a:srgbClr val="17375E"/>
                </a:solidFill>
                <a:latin typeface="Arial"/>
                <a:cs typeface="Arial"/>
              </a:rPr>
              <a:t>chosen</a:t>
            </a:r>
            <a:r>
              <a:rPr sz="2800" spc="-14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spc="-195" dirty="0">
                <a:solidFill>
                  <a:srgbClr val="17375E"/>
                </a:solidFill>
                <a:latin typeface="Arial"/>
                <a:cs typeface="Arial"/>
              </a:rPr>
              <a:t>key</a:t>
            </a:r>
            <a:r>
              <a:rPr sz="2800" spc="-12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17375E"/>
                </a:solidFill>
                <a:latin typeface="Arial"/>
                <a:cs typeface="Arial"/>
              </a:rPr>
              <a:t>of</a:t>
            </a:r>
            <a:r>
              <a:rPr sz="2800" spc="-15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spc="-505" dirty="0">
                <a:solidFill>
                  <a:srgbClr val="17375E"/>
                </a:solidFill>
                <a:latin typeface="Arial"/>
                <a:cs typeface="Arial"/>
              </a:rPr>
              <a:t>E</a:t>
            </a:r>
            <a:r>
              <a:rPr sz="2800" spc="-150" dirty="0">
                <a:solidFill>
                  <a:srgbClr val="17375E"/>
                </a:solidFill>
                <a:latin typeface="Arial"/>
                <a:cs typeface="Arial"/>
              </a:rPr>
              <a:t> is</a:t>
            </a:r>
            <a:r>
              <a:rPr sz="2800" spc="-13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spc="-110" dirty="0">
                <a:solidFill>
                  <a:srgbClr val="17375E"/>
                </a:solidFill>
                <a:latin typeface="Arial"/>
                <a:cs typeface="Arial"/>
              </a:rPr>
              <a:t>composite,</a:t>
            </a:r>
            <a:r>
              <a:rPr sz="2800" spc="-15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spc="-45" dirty="0">
                <a:solidFill>
                  <a:srgbClr val="17375E"/>
                </a:solidFill>
                <a:latin typeface="Arial"/>
                <a:cs typeface="Arial"/>
              </a:rPr>
              <a:t>the</a:t>
            </a:r>
            <a:r>
              <a:rPr sz="2800" spc="-13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spc="-120" dirty="0">
                <a:solidFill>
                  <a:srgbClr val="17375E"/>
                </a:solidFill>
                <a:latin typeface="Arial"/>
                <a:cs typeface="Arial"/>
              </a:rPr>
              <a:t>set</a:t>
            </a:r>
            <a:r>
              <a:rPr sz="2800" spc="-13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spc="-25" dirty="0">
                <a:solidFill>
                  <a:srgbClr val="17375E"/>
                </a:solidFill>
                <a:latin typeface="Arial"/>
                <a:cs typeface="Arial"/>
              </a:rPr>
              <a:t>of 	</a:t>
            </a:r>
            <a:r>
              <a:rPr sz="2800" spc="-120" dirty="0">
                <a:solidFill>
                  <a:srgbClr val="17375E"/>
                </a:solidFill>
                <a:latin typeface="Arial"/>
                <a:cs typeface="Arial"/>
              </a:rPr>
              <a:t>simple</a:t>
            </a:r>
            <a:r>
              <a:rPr sz="2800" spc="-15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spc="-55" dirty="0">
                <a:solidFill>
                  <a:srgbClr val="17375E"/>
                </a:solidFill>
                <a:latin typeface="Arial"/>
                <a:cs typeface="Arial"/>
              </a:rPr>
              <a:t>attributes</a:t>
            </a:r>
            <a:r>
              <a:rPr sz="2800" spc="-13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17375E"/>
                </a:solidFill>
                <a:latin typeface="Arial"/>
                <a:cs typeface="Arial"/>
              </a:rPr>
              <a:t>that</a:t>
            </a:r>
            <a:r>
              <a:rPr sz="2800" spc="-12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spc="-30" dirty="0">
                <a:solidFill>
                  <a:srgbClr val="17375E"/>
                </a:solidFill>
                <a:latin typeface="Arial"/>
                <a:cs typeface="Arial"/>
              </a:rPr>
              <a:t>form</a:t>
            </a:r>
            <a:r>
              <a:rPr sz="2800" spc="-17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spc="90" dirty="0">
                <a:solidFill>
                  <a:srgbClr val="17375E"/>
                </a:solidFill>
                <a:latin typeface="Arial"/>
                <a:cs typeface="Arial"/>
              </a:rPr>
              <a:t>it</a:t>
            </a:r>
            <a:r>
              <a:rPr sz="2800" spc="-13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17375E"/>
                </a:solidFill>
                <a:latin typeface="Arial"/>
                <a:cs typeface="Arial"/>
              </a:rPr>
              <a:t>will</a:t>
            </a:r>
            <a:r>
              <a:rPr sz="2800" spc="-16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spc="-70" dirty="0">
                <a:solidFill>
                  <a:srgbClr val="17375E"/>
                </a:solidFill>
                <a:latin typeface="Arial"/>
                <a:cs typeface="Arial"/>
              </a:rPr>
              <a:t>together</a:t>
            </a:r>
            <a:r>
              <a:rPr sz="2800" spc="-16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17375E"/>
                </a:solidFill>
                <a:latin typeface="Arial"/>
                <a:cs typeface="Arial"/>
              </a:rPr>
              <a:t>form 	</a:t>
            </a:r>
            <a:r>
              <a:rPr sz="2800" spc="-45" dirty="0">
                <a:solidFill>
                  <a:srgbClr val="17375E"/>
                </a:solidFill>
                <a:latin typeface="Arial"/>
                <a:cs typeface="Arial"/>
              </a:rPr>
              <a:t>the</a:t>
            </a:r>
            <a:r>
              <a:rPr sz="2800" spc="-13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spc="-75" dirty="0">
                <a:solidFill>
                  <a:srgbClr val="17375E"/>
                </a:solidFill>
                <a:latin typeface="Arial"/>
                <a:cs typeface="Arial"/>
              </a:rPr>
              <a:t>primary</a:t>
            </a:r>
            <a:r>
              <a:rPr sz="2800" spc="-16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spc="-195" dirty="0">
                <a:solidFill>
                  <a:srgbClr val="17375E"/>
                </a:solidFill>
                <a:latin typeface="Arial"/>
                <a:cs typeface="Arial"/>
              </a:rPr>
              <a:t>key</a:t>
            </a:r>
            <a:r>
              <a:rPr sz="2800" spc="-14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17375E"/>
                </a:solidFill>
                <a:latin typeface="Arial"/>
                <a:cs typeface="Arial"/>
              </a:rPr>
              <a:t>of</a:t>
            </a:r>
            <a:r>
              <a:rPr sz="2800" spc="-13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800" spc="-300" dirty="0">
                <a:solidFill>
                  <a:srgbClr val="17375E"/>
                </a:solidFill>
                <a:latin typeface="Arial"/>
                <a:cs typeface="Arial"/>
              </a:rPr>
              <a:t>R.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35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-35" dirty="0"/>
              <a:t> </a:t>
            </a:r>
            <a:r>
              <a:rPr dirty="0"/>
              <a:t>Hyderabad</a:t>
            </a:r>
            <a:r>
              <a:rPr spc="-75" dirty="0"/>
              <a:t> </a:t>
            </a:r>
            <a:r>
              <a:rPr spc="-10" dirty="0"/>
              <a:t>Campus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spc="-10" dirty="0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83540" y="378917"/>
            <a:ext cx="42170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i="0" spc="-120" dirty="0">
                <a:solidFill>
                  <a:srgbClr val="000000"/>
                </a:solidFill>
                <a:latin typeface="Arial"/>
                <a:cs typeface="Arial"/>
              </a:rPr>
              <a:t>Mapping</a:t>
            </a:r>
            <a:r>
              <a:rPr sz="3600" i="0" spc="-3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600" i="0" spc="-130" dirty="0">
                <a:solidFill>
                  <a:srgbClr val="000000"/>
                </a:solidFill>
                <a:latin typeface="Arial"/>
                <a:cs typeface="Arial"/>
              </a:rPr>
              <a:t>entity</a:t>
            </a:r>
            <a:r>
              <a:rPr sz="3600" i="0" spc="-31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600" i="0" spc="-100" dirty="0">
                <a:solidFill>
                  <a:srgbClr val="000000"/>
                </a:solidFill>
                <a:latin typeface="Arial"/>
                <a:cs typeface="Arial"/>
              </a:rPr>
              <a:t>types</a:t>
            </a:r>
            <a:endParaRPr sz="3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6244" y="1381124"/>
            <a:ext cx="7949565" cy="4893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09245" indent="-296545">
              <a:lnSpc>
                <a:spcPct val="100000"/>
              </a:lnSpc>
              <a:spcBef>
                <a:spcPts val="105"/>
              </a:spcBef>
              <a:buSzPct val="85714"/>
              <a:buAutoNum type="arabicPeriod" startAt="2"/>
              <a:tabLst>
                <a:tab pos="309245" algn="l"/>
              </a:tabLst>
            </a:pPr>
            <a:r>
              <a:rPr sz="2800" spc="-114" dirty="0">
                <a:solidFill>
                  <a:srgbClr val="943735"/>
                </a:solidFill>
                <a:latin typeface="Arial"/>
                <a:cs typeface="Arial"/>
              </a:rPr>
              <a:t>Mapping</a:t>
            </a:r>
            <a:r>
              <a:rPr sz="2800" spc="-120" dirty="0">
                <a:solidFill>
                  <a:srgbClr val="943735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943735"/>
                </a:solidFill>
                <a:latin typeface="Arial"/>
                <a:cs typeface="Arial"/>
              </a:rPr>
              <a:t>of</a:t>
            </a:r>
            <a:r>
              <a:rPr sz="2800" spc="-140" dirty="0">
                <a:solidFill>
                  <a:srgbClr val="943735"/>
                </a:solidFill>
                <a:latin typeface="Arial"/>
                <a:cs typeface="Arial"/>
              </a:rPr>
              <a:t> </a:t>
            </a:r>
            <a:r>
              <a:rPr sz="2800" spc="-210" dirty="0">
                <a:solidFill>
                  <a:srgbClr val="943735"/>
                </a:solidFill>
                <a:latin typeface="Arial"/>
                <a:cs typeface="Arial"/>
              </a:rPr>
              <a:t>Weak</a:t>
            </a:r>
            <a:r>
              <a:rPr sz="2800" spc="-145" dirty="0">
                <a:solidFill>
                  <a:srgbClr val="943735"/>
                </a:solidFill>
                <a:latin typeface="Arial"/>
                <a:cs typeface="Arial"/>
              </a:rPr>
              <a:t> </a:t>
            </a:r>
            <a:r>
              <a:rPr sz="2800" spc="-70" dirty="0">
                <a:solidFill>
                  <a:srgbClr val="943735"/>
                </a:solidFill>
                <a:latin typeface="Arial"/>
                <a:cs typeface="Arial"/>
              </a:rPr>
              <a:t>Entity</a:t>
            </a:r>
            <a:r>
              <a:rPr sz="2800" spc="-135" dirty="0">
                <a:solidFill>
                  <a:srgbClr val="943735"/>
                </a:solidFill>
                <a:latin typeface="Arial"/>
                <a:cs typeface="Arial"/>
              </a:rPr>
              <a:t> </a:t>
            </a:r>
            <a:r>
              <a:rPr sz="2800" spc="-25" dirty="0">
                <a:solidFill>
                  <a:srgbClr val="943735"/>
                </a:solidFill>
                <a:latin typeface="Arial"/>
                <a:cs typeface="Arial"/>
              </a:rPr>
              <a:t>Types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90"/>
              </a:spcBef>
              <a:buClr>
                <a:srgbClr val="943735"/>
              </a:buClr>
              <a:buFont typeface="Arial"/>
              <a:buAutoNum type="arabicPeriod" startAt="2"/>
            </a:pPr>
            <a:endParaRPr sz="2800">
              <a:latin typeface="Arial"/>
              <a:cs typeface="Arial"/>
            </a:endParaRPr>
          </a:p>
          <a:p>
            <a:pPr marL="814069" marR="457200" lvl="1" indent="-344805">
              <a:lnSpc>
                <a:spcPts val="2690"/>
              </a:lnSpc>
              <a:spcBef>
                <a:spcPts val="5"/>
              </a:spcBef>
              <a:buFont typeface="Wingdings"/>
              <a:buChar char=""/>
              <a:tabLst>
                <a:tab pos="814069" algn="l"/>
              </a:tabLst>
            </a:pPr>
            <a:r>
              <a:rPr sz="2800" spc="-180" dirty="0">
                <a:solidFill>
                  <a:srgbClr val="0F1141"/>
                </a:solidFill>
                <a:latin typeface="Arial"/>
                <a:cs typeface="Arial"/>
              </a:rPr>
              <a:t>For</a:t>
            </a:r>
            <a:r>
              <a:rPr sz="2800" spc="-14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195" dirty="0">
                <a:solidFill>
                  <a:srgbClr val="0F1141"/>
                </a:solidFill>
                <a:latin typeface="Arial"/>
                <a:cs typeface="Arial"/>
              </a:rPr>
              <a:t>each</a:t>
            </a:r>
            <a:r>
              <a:rPr sz="2800" spc="-13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150" dirty="0">
                <a:solidFill>
                  <a:srgbClr val="0F1141"/>
                </a:solidFill>
                <a:latin typeface="Arial"/>
                <a:cs typeface="Arial"/>
              </a:rPr>
              <a:t>weak</a:t>
            </a:r>
            <a:r>
              <a:rPr sz="2800" spc="-17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0F1141"/>
                </a:solidFill>
                <a:latin typeface="Arial"/>
                <a:cs typeface="Arial"/>
              </a:rPr>
              <a:t>entity</a:t>
            </a:r>
            <a:r>
              <a:rPr sz="2800" spc="-15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75" dirty="0">
                <a:solidFill>
                  <a:srgbClr val="0F1141"/>
                </a:solidFill>
                <a:latin typeface="Arial"/>
                <a:cs typeface="Arial"/>
              </a:rPr>
              <a:t>type</a:t>
            </a:r>
            <a:r>
              <a:rPr sz="2800" spc="-13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165" dirty="0">
                <a:solidFill>
                  <a:srgbClr val="0F1141"/>
                </a:solidFill>
                <a:latin typeface="Arial"/>
                <a:cs typeface="Arial"/>
              </a:rPr>
              <a:t>W</a:t>
            </a:r>
            <a:r>
              <a:rPr sz="2800" spc="-13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50" dirty="0">
                <a:solidFill>
                  <a:srgbClr val="0F1141"/>
                </a:solidFill>
                <a:latin typeface="Arial"/>
                <a:cs typeface="Arial"/>
              </a:rPr>
              <a:t>in</a:t>
            </a:r>
            <a:r>
              <a:rPr sz="2800" spc="-13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45" dirty="0">
                <a:solidFill>
                  <a:srgbClr val="0F1141"/>
                </a:solidFill>
                <a:latin typeface="Arial"/>
                <a:cs typeface="Arial"/>
              </a:rPr>
              <a:t>the</a:t>
            </a:r>
            <a:r>
              <a:rPr sz="2800" spc="-13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509" dirty="0">
                <a:solidFill>
                  <a:srgbClr val="0F1141"/>
                </a:solidFill>
                <a:latin typeface="Arial"/>
                <a:cs typeface="Arial"/>
              </a:rPr>
              <a:t>ER</a:t>
            </a:r>
            <a:r>
              <a:rPr sz="2800" spc="-15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130" dirty="0">
                <a:solidFill>
                  <a:srgbClr val="0F1141"/>
                </a:solidFill>
                <a:latin typeface="Arial"/>
                <a:cs typeface="Arial"/>
              </a:rPr>
              <a:t>schema </a:t>
            </a:r>
            <a:r>
              <a:rPr sz="2800" dirty="0">
                <a:solidFill>
                  <a:srgbClr val="0F1141"/>
                </a:solidFill>
                <a:latin typeface="Arial"/>
                <a:cs typeface="Arial"/>
              </a:rPr>
              <a:t>with</a:t>
            </a:r>
            <a:r>
              <a:rPr sz="2800" spc="-15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70" dirty="0">
                <a:solidFill>
                  <a:srgbClr val="0F1141"/>
                </a:solidFill>
                <a:latin typeface="Arial"/>
                <a:cs typeface="Arial"/>
              </a:rPr>
              <a:t>owner</a:t>
            </a:r>
            <a:r>
              <a:rPr sz="2800" spc="-16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25" dirty="0">
                <a:solidFill>
                  <a:srgbClr val="0F1141"/>
                </a:solidFill>
                <a:latin typeface="Arial"/>
                <a:cs typeface="Arial"/>
              </a:rPr>
              <a:t>entity</a:t>
            </a:r>
            <a:r>
              <a:rPr sz="2800" spc="-14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70" dirty="0">
                <a:solidFill>
                  <a:srgbClr val="0F1141"/>
                </a:solidFill>
                <a:latin typeface="Arial"/>
                <a:cs typeface="Arial"/>
              </a:rPr>
              <a:t>type</a:t>
            </a:r>
            <a:r>
              <a:rPr sz="2800" spc="-14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295" dirty="0">
                <a:solidFill>
                  <a:srgbClr val="0F1141"/>
                </a:solidFill>
                <a:latin typeface="Arial"/>
                <a:cs typeface="Arial"/>
              </a:rPr>
              <a:t>E,</a:t>
            </a:r>
            <a:r>
              <a:rPr sz="2800" spc="-125" dirty="0">
                <a:solidFill>
                  <a:srgbClr val="0F1141"/>
                </a:solidFill>
                <a:latin typeface="Arial"/>
                <a:cs typeface="Arial"/>
              </a:rPr>
              <a:t> create</a:t>
            </a:r>
            <a:r>
              <a:rPr sz="2800" spc="-15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225" dirty="0">
                <a:solidFill>
                  <a:srgbClr val="0F1141"/>
                </a:solidFill>
                <a:latin typeface="Arial"/>
                <a:cs typeface="Arial"/>
              </a:rPr>
              <a:t>a</a:t>
            </a:r>
            <a:r>
              <a:rPr sz="2800" spc="-14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60" dirty="0">
                <a:solidFill>
                  <a:srgbClr val="0F1141"/>
                </a:solidFill>
                <a:latin typeface="Arial"/>
                <a:cs typeface="Arial"/>
              </a:rPr>
              <a:t>relation</a:t>
            </a:r>
            <a:r>
              <a:rPr sz="2800" spc="-14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509" dirty="0">
                <a:solidFill>
                  <a:srgbClr val="0F1141"/>
                </a:solidFill>
                <a:latin typeface="Arial"/>
                <a:cs typeface="Arial"/>
              </a:rPr>
              <a:t>R</a:t>
            </a:r>
            <a:r>
              <a:rPr sz="2800" spc="-13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50" dirty="0">
                <a:solidFill>
                  <a:srgbClr val="0F1141"/>
                </a:solidFill>
                <a:latin typeface="Arial"/>
                <a:cs typeface="Arial"/>
              </a:rPr>
              <a:t>&amp; </a:t>
            </a:r>
            <a:r>
              <a:rPr sz="2800" spc="-100" dirty="0">
                <a:solidFill>
                  <a:srgbClr val="0F1141"/>
                </a:solidFill>
                <a:latin typeface="Arial"/>
                <a:cs typeface="Arial"/>
              </a:rPr>
              <a:t>include</a:t>
            </a:r>
            <a:r>
              <a:rPr sz="2800" spc="-12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70" dirty="0">
                <a:solidFill>
                  <a:srgbClr val="0F1141"/>
                </a:solidFill>
                <a:latin typeface="Arial"/>
                <a:cs typeface="Arial"/>
              </a:rPr>
              <a:t>all</a:t>
            </a:r>
            <a:r>
              <a:rPr sz="2800" spc="-114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120" dirty="0">
                <a:solidFill>
                  <a:srgbClr val="0F1141"/>
                </a:solidFill>
                <a:latin typeface="Arial"/>
                <a:cs typeface="Arial"/>
              </a:rPr>
              <a:t>simple</a:t>
            </a:r>
            <a:r>
              <a:rPr sz="2800" spc="-13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55" dirty="0">
                <a:solidFill>
                  <a:srgbClr val="0F1141"/>
                </a:solidFill>
                <a:latin typeface="Arial"/>
                <a:cs typeface="Arial"/>
              </a:rPr>
              <a:t>attributes</a:t>
            </a:r>
            <a:r>
              <a:rPr sz="2800" spc="-13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60" dirty="0">
                <a:solidFill>
                  <a:srgbClr val="0F1141"/>
                </a:solidFill>
                <a:latin typeface="Arial"/>
                <a:cs typeface="Arial"/>
              </a:rPr>
              <a:t>(or</a:t>
            </a:r>
            <a:r>
              <a:rPr sz="2800" spc="-12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0F1141"/>
                </a:solidFill>
                <a:latin typeface="Arial"/>
                <a:cs typeface="Arial"/>
              </a:rPr>
              <a:t>simple </a:t>
            </a:r>
            <a:r>
              <a:rPr sz="2800" spc="-125" dirty="0">
                <a:solidFill>
                  <a:srgbClr val="0F1141"/>
                </a:solidFill>
                <a:latin typeface="Arial"/>
                <a:cs typeface="Arial"/>
              </a:rPr>
              <a:t>components</a:t>
            </a:r>
            <a:r>
              <a:rPr sz="2800" spc="-12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F1141"/>
                </a:solidFill>
                <a:latin typeface="Arial"/>
                <a:cs typeface="Arial"/>
              </a:rPr>
              <a:t>of</a:t>
            </a:r>
            <a:r>
              <a:rPr sz="2800" spc="-13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114" dirty="0">
                <a:solidFill>
                  <a:srgbClr val="0F1141"/>
                </a:solidFill>
                <a:latin typeface="Arial"/>
                <a:cs typeface="Arial"/>
              </a:rPr>
              <a:t>composite</a:t>
            </a:r>
            <a:r>
              <a:rPr sz="2800" spc="-16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60" dirty="0">
                <a:solidFill>
                  <a:srgbClr val="0F1141"/>
                </a:solidFill>
                <a:latin typeface="Arial"/>
                <a:cs typeface="Arial"/>
              </a:rPr>
              <a:t>attributes)</a:t>
            </a:r>
            <a:r>
              <a:rPr sz="2800" spc="-13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F1141"/>
                </a:solidFill>
                <a:latin typeface="Arial"/>
                <a:cs typeface="Arial"/>
              </a:rPr>
              <a:t>of</a:t>
            </a:r>
            <a:r>
              <a:rPr sz="2800" spc="-15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165" dirty="0">
                <a:solidFill>
                  <a:srgbClr val="0F1141"/>
                </a:solidFill>
                <a:latin typeface="Arial"/>
                <a:cs typeface="Arial"/>
              </a:rPr>
              <a:t>W</a:t>
            </a:r>
            <a:r>
              <a:rPr sz="2800" spc="-12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310" dirty="0">
                <a:solidFill>
                  <a:srgbClr val="0F1141"/>
                </a:solidFill>
                <a:latin typeface="Arial"/>
                <a:cs typeface="Arial"/>
              </a:rPr>
              <a:t>as </a:t>
            </a:r>
            <a:r>
              <a:rPr sz="2800" spc="-55" dirty="0">
                <a:solidFill>
                  <a:srgbClr val="0F1141"/>
                </a:solidFill>
                <a:latin typeface="Arial"/>
                <a:cs typeface="Arial"/>
              </a:rPr>
              <a:t>attributes</a:t>
            </a:r>
            <a:r>
              <a:rPr sz="2800" spc="-13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F1141"/>
                </a:solidFill>
                <a:latin typeface="Arial"/>
                <a:cs typeface="Arial"/>
              </a:rPr>
              <a:t>of</a:t>
            </a:r>
            <a:r>
              <a:rPr sz="2800" spc="-12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300" dirty="0">
                <a:solidFill>
                  <a:srgbClr val="0F1141"/>
                </a:solidFill>
                <a:latin typeface="Arial"/>
                <a:cs typeface="Arial"/>
              </a:rPr>
              <a:t>R.</a:t>
            </a:r>
            <a:endParaRPr sz="2800">
              <a:latin typeface="Arial"/>
              <a:cs typeface="Arial"/>
            </a:endParaRPr>
          </a:p>
          <a:p>
            <a:pPr marL="814069" marR="539750" lvl="1" indent="-344805" algn="just">
              <a:lnSpc>
                <a:spcPct val="80000"/>
              </a:lnSpc>
              <a:spcBef>
                <a:spcPts val="690"/>
              </a:spcBef>
              <a:buFont typeface="Wingdings"/>
              <a:buChar char=""/>
              <a:tabLst>
                <a:tab pos="814069" algn="l"/>
              </a:tabLst>
            </a:pPr>
            <a:r>
              <a:rPr sz="2800" spc="-155" dirty="0">
                <a:solidFill>
                  <a:srgbClr val="0F1141"/>
                </a:solidFill>
                <a:latin typeface="Arial"/>
                <a:cs typeface="Arial"/>
              </a:rPr>
              <a:t>Also,</a:t>
            </a:r>
            <a:r>
              <a:rPr sz="2800" spc="-18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105" dirty="0">
                <a:solidFill>
                  <a:srgbClr val="0F1141"/>
                </a:solidFill>
                <a:latin typeface="Arial"/>
                <a:cs typeface="Arial"/>
              </a:rPr>
              <a:t>include</a:t>
            </a:r>
            <a:r>
              <a:rPr sz="2800" spc="-12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270" dirty="0">
                <a:solidFill>
                  <a:srgbClr val="0F1141"/>
                </a:solidFill>
                <a:latin typeface="Arial"/>
                <a:cs typeface="Arial"/>
              </a:rPr>
              <a:t>as</a:t>
            </a:r>
            <a:r>
              <a:rPr sz="2800" spc="-14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85" dirty="0">
                <a:solidFill>
                  <a:srgbClr val="0F1141"/>
                </a:solidFill>
                <a:latin typeface="Arial"/>
                <a:cs typeface="Arial"/>
              </a:rPr>
              <a:t>foreign</a:t>
            </a:r>
            <a:r>
              <a:rPr sz="2800" spc="-21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195" dirty="0">
                <a:solidFill>
                  <a:srgbClr val="0F1141"/>
                </a:solidFill>
                <a:latin typeface="Arial"/>
                <a:cs typeface="Arial"/>
              </a:rPr>
              <a:t>key</a:t>
            </a:r>
            <a:r>
              <a:rPr sz="2800" spc="-13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55" dirty="0">
                <a:solidFill>
                  <a:srgbClr val="0F1141"/>
                </a:solidFill>
                <a:latin typeface="Arial"/>
                <a:cs typeface="Arial"/>
              </a:rPr>
              <a:t>attributes</a:t>
            </a:r>
            <a:r>
              <a:rPr sz="2800" spc="-16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0F1141"/>
                </a:solidFill>
                <a:latin typeface="Arial"/>
                <a:cs typeface="Arial"/>
              </a:rPr>
              <a:t>o</a:t>
            </a:r>
            <a:r>
              <a:rPr sz="2800" dirty="0">
                <a:solidFill>
                  <a:srgbClr val="0F1141"/>
                </a:solidFill>
                <a:latin typeface="Arial"/>
                <a:cs typeface="Arial"/>
              </a:rPr>
              <a:t>f</a:t>
            </a:r>
            <a:r>
              <a:rPr sz="2800" spc="-14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509" dirty="0">
                <a:solidFill>
                  <a:srgbClr val="0F1141"/>
                </a:solidFill>
                <a:latin typeface="Arial"/>
                <a:cs typeface="Arial"/>
              </a:rPr>
              <a:t>R</a:t>
            </a:r>
            <a:r>
              <a:rPr sz="2800" spc="-15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45" dirty="0">
                <a:solidFill>
                  <a:srgbClr val="0F1141"/>
                </a:solidFill>
                <a:latin typeface="Arial"/>
                <a:cs typeface="Arial"/>
              </a:rPr>
              <a:t>the</a:t>
            </a:r>
            <a:r>
              <a:rPr sz="2800" spc="-9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70" dirty="0">
                <a:solidFill>
                  <a:srgbClr val="0F1141"/>
                </a:solidFill>
                <a:latin typeface="Arial"/>
                <a:cs typeface="Arial"/>
              </a:rPr>
              <a:t>primary</a:t>
            </a:r>
            <a:r>
              <a:rPr sz="2800" spc="-18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190" dirty="0">
                <a:solidFill>
                  <a:srgbClr val="0F1141"/>
                </a:solidFill>
                <a:latin typeface="Arial"/>
                <a:cs typeface="Arial"/>
              </a:rPr>
              <a:t>key</a:t>
            </a:r>
            <a:r>
              <a:rPr sz="2800" spc="-13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65" dirty="0">
                <a:solidFill>
                  <a:srgbClr val="0F1141"/>
                </a:solidFill>
                <a:latin typeface="Arial"/>
                <a:cs typeface="Arial"/>
              </a:rPr>
              <a:t>attribute(s)</a:t>
            </a:r>
            <a:r>
              <a:rPr sz="2800" spc="-14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0F1141"/>
                </a:solidFill>
                <a:latin typeface="Arial"/>
                <a:cs typeface="Arial"/>
              </a:rPr>
              <a:t>o</a:t>
            </a:r>
            <a:r>
              <a:rPr sz="2800" dirty="0">
                <a:solidFill>
                  <a:srgbClr val="0F1141"/>
                </a:solidFill>
                <a:latin typeface="Arial"/>
                <a:cs typeface="Arial"/>
              </a:rPr>
              <a:t>f</a:t>
            </a:r>
            <a:r>
              <a:rPr sz="2800" spc="-16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45" dirty="0">
                <a:solidFill>
                  <a:srgbClr val="0F1141"/>
                </a:solidFill>
                <a:latin typeface="Arial"/>
                <a:cs typeface="Arial"/>
              </a:rPr>
              <a:t>the</a:t>
            </a:r>
            <a:r>
              <a:rPr sz="2800" spc="-14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90" dirty="0">
                <a:solidFill>
                  <a:srgbClr val="0F1141"/>
                </a:solidFill>
                <a:latin typeface="Arial"/>
                <a:cs typeface="Arial"/>
              </a:rPr>
              <a:t>relation(s)</a:t>
            </a:r>
            <a:r>
              <a:rPr sz="2800" spc="-16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15" dirty="0">
                <a:solidFill>
                  <a:srgbClr val="0F1141"/>
                </a:solidFill>
                <a:latin typeface="Arial"/>
                <a:cs typeface="Arial"/>
              </a:rPr>
              <a:t>that</a:t>
            </a:r>
            <a:r>
              <a:rPr sz="2800" spc="16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125" dirty="0">
                <a:solidFill>
                  <a:srgbClr val="0F1141"/>
                </a:solidFill>
                <a:latin typeface="Arial"/>
                <a:cs typeface="Arial"/>
              </a:rPr>
              <a:t>correspond</a:t>
            </a:r>
            <a:r>
              <a:rPr sz="2800" spc="-15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15" dirty="0">
                <a:solidFill>
                  <a:srgbClr val="0F1141"/>
                </a:solidFill>
                <a:latin typeface="Arial"/>
                <a:cs typeface="Arial"/>
              </a:rPr>
              <a:t>to</a:t>
            </a:r>
            <a:r>
              <a:rPr sz="2800" spc="-14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45" dirty="0">
                <a:solidFill>
                  <a:srgbClr val="0F1141"/>
                </a:solidFill>
                <a:latin typeface="Arial"/>
                <a:cs typeface="Arial"/>
              </a:rPr>
              <a:t>the</a:t>
            </a:r>
            <a:r>
              <a:rPr sz="2800" spc="-14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75" dirty="0">
                <a:solidFill>
                  <a:srgbClr val="0F1141"/>
                </a:solidFill>
                <a:latin typeface="Arial"/>
                <a:cs typeface="Arial"/>
              </a:rPr>
              <a:t>owner</a:t>
            </a:r>
            <a:r>
              <a:rPr sz="2800" spc="-20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25" dirty="0">
                <a:solidFill>
                  <a:srgbClr val="0F1141"/>
                </a:solidFill>
                <a:latin typeface="Arial"/>
                <a:cs typeface="Arial"/>
              </a:rPr>
              <a:t>entity</a:t>
            </a:r>
            <a:r>
              <a:rPr sz="2800" spc="-15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110" dirty="0">
                <a:solidFill>
                  <a:srgbClr val="0F1141"/>
                </a:solidFill>
                <a:latin typeface="Arial"/>
                <a:cs typeface="Arial"/>
              </a:rPr>
              <a:t>type(s).</a:t>
            </a:r>
            <a:endParaRPr sz="2800">
              <a:latin typeface="Arial"/>
              <a:cs typeface="Arial"/>
            </a:endParaRPr>
          </a:p>
          <a:p>
            <a:pPr marL="814069" marR="5080" lvl="1" indent="-344805">
              <a:lnSpc>
                <a:spcPct val="80000"/>
              </a:lnSpc>
              <a:spcBef>
                <a:spcPts val="670"/>
              </a:spcBef>
              <a:buFont typeface="Wingdings"/>
              <a:buChar char=""/>
              <a:tabLst>
                <a:tab pos="814069" algn="l"/>
              </a:tabLst>
            </a:pPr>
            <a:r>
              <a:rPr sz="2800" spc="-225" dirty="0">
                <a:solidFill>
                  <a:srgbClr val="0F1141"/>
                </a:solidFill>
                <a:latin typeface="Arial"/>
                <a:cs typeface="Arial"/>
              </a:rPr>
              <a:t>The</a:t>
            </a:r>
            <a:r>
              <a:rPr sz="2800" spc="-13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75" dirty="0">
                <a:solidFill>
                  <a:srgbClr val="0F1141"/>
                </a:solidFill>
                <a:latin typeface="Arial"/>
                <a:cs typeface="Arial"/>
              </a:rPr>
              <a:t>primary</a:t>
            </a:r>
            <a:r>
              <a:rPr sz="2800" spc="-17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195" dirty="0">
                <a:solidFill>
                  <a:srgbClr val="0F1141"/>
                </a:solidFill>
                <a:latin typeface="Arial"/>
                <a:cs typeface="Arial"/>
              </a:rPr>
              <a:t>key</a:t>
            </a:r>
            <a:r>
              <a:rPr sz="2800" spc="-14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F1141"/>
                </a:solidFill>
                <a:latin typeface="Arial"/>
                <a:cs typeface="Arial"/>
              </a:rPr>
              <a:t>of</a:t>
            </a:r>
            <a:r>
              <a:rPr sz="2800" spc="-13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509" dirty="0">
                <a:solidFill>
                  <a:srgbClr val="0F1141"/>
                </a:solidFill>
                <a:latin typeface="Arial"/>
                <a:cs typeface="Arial"/>
              </a:rPr>
              <a:t>R</a:t>
            </a:r>
            <a:r>
              <a:rPr sz="2800" spc="-14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150" dirty="0">
                <a:solidFill>
                  <a:srgbClr val="0F1141"/>
                </a:solidFill>
                <a:latin typeface="Arial"/>
                <a:cs typeface="Arial"/>
              </a:rPr>
              <a:t>is</a:t>
            </a:r>
            <a:r>
              <a:rPr sz="2800" spc="-13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35" dirty="0">
                <a:solidFill>
                  <a:srgbClr val="0F1141"/>
                </a:solidFill>
                <a:latin typeface="Arial"/>
                <a:cs typeface="Arial"/>
              </a:rPr>
              <a:t>the</a:t>
            </a:r>
            <a:r>
              <a:rPr sz="2800" spc="-11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i="1" spc="-95" dirty="0">
                <a:solidFill>
                  <a:srgbClr val="0F1141"/>
                </a:solidFill>
                <a:latin typeface="Arial"/>
                <a:cs typeface="Arial"/>
              </a:rPr>
              <a:t>combination</a:t>
            </a:r>
            <a:r>
              <a:rPr sz="2800" i="1" spc="-22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i="1" dirty="0">
                <a:solidFill>
                  <a:srgbClr val="0F1141"/>
                </a:solidFill>
                <a:latin typeface="Arial"/>
                <a:cs typeface="Arial"/>
              </a:rPr>
              <a:t>of</a:t>
            </a:r>
            <a:r>
              <a:rPr sz="2800" i="1" spc="-12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25" dirty="0">
                <a:solidFill>
                  <a:srgbClr val="0F1141"/>
                </a:solidFill>
                <a:latin typeface="Arial"/>
                <a:cs typeface="Arial"/>
              </a:rPr>
              <a:t>the </a:t>
            </a:r>
            <a:r>
              <a:rPr sz="2800" spc="-70" dirty="0">
                <a:solidFill>
                  <a:srgbClr val="0F1141"/>
                </a:solidFill>
                <a:latin typeface="Arial"/>
                <a:cs typeface="Arial"/>
              </a:rPr>
              <a:t>primary</a:t>
            </a:r>
            <a:r>
              <a:rPr sz="2800" spc="-15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190" dirty="0">
                <a:solidFill>
                  <a:srgbClr val="0F1141"/>
                </a:solidFill>
                <a:latin typeface="Arial"/>
                <a:cs typeface="Arial"/>
              </a:rPr>
              <a:t>key(s)</a:t>
            </a:r>
            <a:r>
              <a:rPr sz="2800" spc="-114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F1141"/>
                </a:solidFill>
                <a:latin typeface="Arial"/>
                <a:cs typeface="Arial"/>
              </a:rPr>
              <a:t>of</a:t>
            </a:r>
            <a:r>
              <a:rPr sz="2800" spc="-114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45" dirty="0">
                <a:solidFill>
                  <a:srgbClr val="0F1141"/>
                </a:solidFill>
                <a:latin typeface="Arial"/>
                <a:cs typeface="Arial"/>
              </a:rPr>
              <a:t>the</a:t>
            </a:r>
            <a:r>
              <a:rPr sz="2800" spc="-114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120" dirty="0">
                <a:solidFill>
                  <a:srgbClr val="0F1141"/>
                </a:solidFill>
                <a:latin typeface="Arial"/>
                <a:cs typeface="Arial"/>
              </a:rPr>
              <a:t>owner(s)</a:t>
            </a:r>
            <a:r>
              <a:rPr sz="2800" spc="-17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150" dirty="0">
                <a:solidFill>
                  <a:srgbClr val="0F1141"/>
                </a:solidFill>
                <a:latin typeface="Arial"/>
                <a:cs typeface="Arial"/>
              </a:rPr>
              <a:t>and</a:t>
            </a:r>
            <a:r>
              <a:rPr sz="2800" spc="-114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45" dirty="0">
                <a:solidFill>
                  <a:srgbClr val="0F1141"/>
                </a:solidFill>
                <a:latin typeface="Arial"/>
                <a:cs typeface="Arial"/>
              </a:rPr>
              <a:t>the</a:t>
            </a:r>
            <a:r>
              <a:rPr sz="2800" spc="-114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50" dirty="0">
                <a:solidFill>
                  <a:srgbClr val="0F1141"/>
                </a:solidFill>
                <a:latin typeface="Arial"/>
                <a:cs typeface="Arial"/>
              </a:rPr>
              <a:t>partial</a:t>
            </a:r>
            <a:r>
              <a:rPr sz="2800" spc="-15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75" dirty="0">
                <a:solidFill>
                  <a:srgbClr val="0F1141"/>
                </a:solidFill>
                <a:latin typeface="Arial"/>
                <a:cs typeface="Arial"/>
              </a:rPr>
              <a:t>key </a:t>
            </a:r>
            <a:r>
              <a:rPr sz="2800" dirty="0">
                <a:solidFill>
                  <a:srgbClr val="0F1141"/>
                </a:solidFill>
                <a:latin typeface="Arial"/>
                <a:cs typeface="Arial"/>
              </a:rPr>
              <a:t>of</a:t>
            </a:r>
            <a:r>
              <a:rPr sz="2800" spc="-15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45" dirty="0">
                <a:solidFill>
                  <a:srgbClr val="0F1141"/>
                </a:solidFill>
                <a:latin typeface="Arial"/>
                <a:cs typeface="Arial"/>
              </a:rPr>
              <a:t>the</a:t>
            </a:r>
            <a:r>
              <a:rPr sz="2800" spc="-13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145" dirty="0">
                <a:solidFill>
                  <a:srgbClr val="0F1141"/>
                </a:solidFill>
                <a:latin typeface="Arial"/>
                <a:cs typeface="Arial"/>
              </a:rPr>
              <a:t>weak</a:t>
            </a:r>
            <a:r>
              <a:rPr sz="2800" spc="-15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0F1141"/>
                </a:solidFill>
                <a:latin typeface="Arial"/>
                <a:cs typeface="Arial"/>
              </a:rPr>
              <a:t>entity</a:t>
            </a:r>
            <a:r>
              <a:rPr sz="2800" spc="-14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70" dirty="0">
                <a:solidFill>
                  <a:srgbClr val="0F1141"/>
                </a:solidFill>
                <a:latin typeface="Arial"/>
                <a:cs typeface="Arial"/>
              </a:rPr>
              <a:t>type</a:t>
            </a:r>
            <a:r>
              <a:rPr sz="2800" spc="-14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270" dirty="0">
                <a:solidFill>
                  <a:srgbClr val="0F1141"/>
                </a:solidFill>
                <a:latin typeface="Arial"/>
                <a:cs typeface="Arial"/>
              </a:rPr>
              <a:t>W,</a:t>
            </a:r>
            <a:r>
              <a:rPr sz="2800" spc="-14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F1141"/>
                </a:solidFill>
                <a:latin typeface="Arial"/>
                <a:cs typeface="Arial"/>
              </a:rPr>
              <a:t>if</a:t>
            </a:r>
            <a:r>
              <a:rPr sz="2800" spc="-13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0F1141"/>
                </a:solidFill>
                <a:latin typeface="Arial"/>
                <a:cs typeface="Arial"/>
              </a:rPr>
              <a:t>any.</a:t>
            </a:r>
            <a:endParaRPr sz="28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35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-35" dirty="0"/>
              <a:t> </a:t>
            </a:r>
            <a:r>
              <a:rPr dirty="0"/>
              <a:t>Hyderabad</a:t>
            </a:r>
            <a:r>
              <a:rPr spc="-75" dirty="0"/>
              <a:t> </a:t>
            </a:r>
            <a:r>
              <a:rPr spc="-10" dirty="0"/>
              <a:t>Campus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spc="-1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1304366"/>
            <a:ext cx="8105775" cy="177609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800" spc="-114" dirty="0">
                <a:solidFill>
                  <a:srgbClr val="943735"/>
                </a:solidFill>
                <a:latin typeface="Arial"/>
                <a:cs typeface="Arial"/>
              </a:rPr>
              <a:t>3. </a:t>
            </a:r>
            <a:r>
              <a:rPr sz="2800" spc="-105" dirty="0">
                <a:solidFill>
                  <a:srgbClr val="943735"/>
                </a:solidFill>
                <a:latin typeface="Arial"/>
                <a:cs typeface="Arial"/>
              </a:rPr>
              <a:t>Mapping</a:t>
            </a:r>
            <a:r>
              <a:rPr sz="2800" spc="-125" dirty="0">
                <a:solidFill>
                  <a:srgbClr val="943735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943735"/>
                </a:solidFill>
                <a:latin typeface="Arial"/>
                <a:cs typeface="Arial"/>
              </a:rPr>
              <a:t>of</a:t>
            </a:r>
            <a:r>
              <a:rPr sz="2800" spc="-165" dirty="0">
                <a:solidFill>
                  <a:srgbClr val="943735"/>
                </a:solidFill>
                <a:latin typeface="Arial"/>
                <a:cs typeface="Arial"/>
              </a:rPr>
              <a:t> </a:t>
            </a:r>
            <a:r>
              <a:rPr sz="2800" spc="-125" dirty="0">
                <a:solidFill>
                  <a:srgbClr val="943735"/>
                </a:solidFill>
                <a:latin typeface="Arial"/>
                <a:cs typeface="Arial"/>
              </a:rPr>
              <a:t>Binary</a:t>
            </a:r>
            <a:r>
              <a:rPr sz="2800" spc="-165" dirty="0">
                <a:solidFill>
                  <a:srgbClr val="943735"/>
                </a:solidFill>
                <a:latin typeface="Arial"/>
                <a:cs typeface="Arial"/>
              </a:rPr>
              <a:t> </a:t>
            </a:r>
            <a:r>
              <a:rPr sz="2800" spc="-114" dirty="0">
                <a:solidFill>
                  <a:srgbClr val="943735"/>
                </a:solidFill>
                <a:latin typeface="Arial"/>
                <a:cs typeface="Arial"/>
              </a:rPr>
              <a:t>1:1</a:t>
            </a:r>
            <a:r>
              <a:rPr sz="2800" spc="-130" dirty="0">
                <a:solidFill>
                  <a:srgbClr val="943735"/>
                </a:solidFill>
                <a:latin typeface="Arial"/>
                <a:cs typeface="Arial"/>
              </a:rPr>
              <a:t> </a:t>
            </a:r>
            <a:r>
              <a:rPr sz="2800" spc="-125" dirty="0">
                <a:solidFill>
                  <a:srgbClr val="943735"/>
                </a:solidFill>
                <a:latin typeface="Arial"/>
                <a:cs typeface="Arial"/>
              </a:rPr>
              <a:t>Relation</a:t>
            </a:r>
            <a:r>
              <a:rPr sz="2800" spc="-170" dirty="0">
                <a:solidFill>
                  <a:srgbClr val="943735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943735"/>
                </a:solidFill>
                <a:latin typeface="Arial"/>
                <a:cs typeface="Arial"/>
              </a:rPr>
              <a:t>Types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80"/>
              </a:spcBef>
            </a:pPr>
            <a:endParaRPr sz="2800">
              <a:latin typeface="Arial"/>
              <a:cs typeface="Arial"/>
            </a:endParaRPr>
          </a:p>
          <a:p>
            <a:pPr marL="469900" marR="5080">
              <a:lnSpc>
                <a:spcPct val="80000"/>
              </a:lnSpc>
            </a:pP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For</a:t>
            </a:r>
            <a:r>
              <a:rPr sz="2400" spc="-4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each</a:t>
            </a:r>
            <a:r>
              <a:rPr sz="2400" spc="-8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binary</a:t>
            </a:r>
            <a:r>
              <a:rPr sz="2400" spc="-4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1:1</a:t>
            </a:r>
            <a:r>
              <a:rPr sz="2400" spc="-5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relationship</a:t>
            </a:r>
            <a:r>
              <a:rPr sz="2400" spc="-5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type</a:t>
            </a:r>
            <a:r>
              <a:rPr sz="2400" spc="-5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R</a:t>
            </a:r>
            <a:r>
              <a:rPr sz="2400" spc="-4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in</a:t>
            </a:r>
            <a:r>
              <a:rPr sz="2400" spc="-3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the</a:t>
            </a:r>
            <a:r>
              <a:rPr sz="2400" spc="-5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17375E"/>
                </a:solidFill>
                <a:latin typeface="Arial"/>
                <a:cs typeface="Arial"/>
              </a:rPr>
              <a:t>ER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schema,</a:t>
            </a:r>
            <a:r>
              <a:rPr sz="2400" spc="-8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identify</a:t>
            </a:r>
            <a:r>
              <a:rPr sz="2400" spc="-8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the</a:t>
            </a:r>
            <a:r>
              <a:rPr sz="2400" spc="-8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relations</a:t>
            </a:r>
            <a:r>
              <a:rPr sz="2400" spc="-5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S</a:t>
            </a:r>
            <a:r>
              <a:rPr sz="2400" spc="-3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and</a:t>
            </a:r>
            <a:r>
              <a:rPr sz="2400" spc="-9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T</a:t>
            </a:r>
            <a:r>
              <a:rPr sz="2400" spc="-10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that</a:t>
            </a:r>
            <a:r>
              <a:rPr sz="2400" spc="-5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correspond</a:t>
            </a:r>
            <a:r>
              <a:rPr sz="2400" spc="-8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17375E"/>
                </a:solidFill>
                <a:latin typeface="Arial"/>
                <a:cs typeface="Arial"/>
              </a:rPr>
              <a:t>to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the</a:t>
            </a:r>
            <a:r>
              <a:rPr sz="2400" spc="-5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entity</a:t>
            </a:r>
            <a:r>
              <a:rPr sz="2400" spc="-6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types</a:t>
            </a:r>
            <a:r>
              <a:rPr sz="2400" spc="-3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17375E"/>
                </a:solidFill>
                <a:latin typeface="Arial"/>
                <a:cs typeface="Arial"/>
              </a:rPr>
              <a:t>participating</a:t>
            </a:r>
            <a:r>
              <a:rPr sz="2400" spc="-4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in</a:t>
            </a:r>
            <a:r>
              <a:rPr sz="2400" spc="-4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17375E"/>
                </a:solidFill>
                <a:latin typeface="Arial"/>
                <a:cs typeface="Arial"/>
              </a:rPr>
              <a:t>R.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35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-35" dirty="0"/>
              <a:t> </a:t>
            </a:r>
            <a:r>
              <a:rPr dirty="0"/>
              <a:t>Hyderabad</a:t>
            </a:r>
            <a:r>
              <a:rPr spc="-75" dirty="0"/>
              <a:t> </a:t>
            </a:r>
            <a:r>
              <a:rPr spc="-10" dirty="0"/>
              <a:t>Campus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spc="-10" dirty="0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1300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100"/>
              </a:spcBef>
            </a:pPr>
            <a:r>
              <a:rPr sz="3600" i="0" spc="-120" dirty="0">
                <a:solidFill>
                  <a:srgbClr val="000000"/>
                </a:solidFill>
                <a:latin typeface="Arial"/>
                <a:cs typeface="Arial"/>
              </a:rPr>
              <a:t>Mapping</a:t>
            </a:r>
            <a:r>
              <a:rPr sz="3600" i="0" spc="-32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600" i="0" spc="-140" dirty="0">
                <a:solidFill>
                  <a:srgbClr val="000000"/>
                </a:solidFill>
                <a:latin typeface="Arial"/>
                <a:cs typeface="Arial"/>
              </a:rPr>
              <a:t>Relationship</a:t>
            </a:r>
            <a:r>
              <a:rPr sz="3600" i="0" spc="-32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600" i="0" spc="-100" dirty="0">
                <a:solidFill>
                  <a:srgbClr val="000000"/>
                </a:solidFill>
                <a:latin typeface="Arial"/>
                <a:cs typeface="Arial"/>
              </a:rPr>
              <a:t>types</a:t>
            </a:r>
            <a:endParaRPr sz="3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2068" y="1319606"/>
            <a:ext cx="7729855" cy="4124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35" dirty="0">
                <a:solidFill>
                  <a:srgbClr val="943735"/>
                </a:solidFill>
                <a:latin typeface="Arial"/>
                <a:cs typeface="Arial"/>
              </a:rPr>
              <a:t>There</a:t>
            </a:r>
            <a:r>
              <a:rPr sz="2400" spc="-114" dirty="0">
                <a:solidFill>
                  <a:srgbClr val="943735"/>
                </a:solidFill>
                <a:latin typeface="Arial"/>
                <a:cs typeface="Arial"/>
              </a:rPr>
              <a:t> are</a:t>
            </a:r>
            <a:r>
              <a:rPr sz="2400" spc="-135" dirty="0">
                <a:solidFill>
                  <a:srgbClr val="943735"/>
                </a:solidFill>
                <a:latin typeface="Arial"/>
                <a:cs typeface="Arial"/>
              </a:rPr>
              <a:t> </a:t>
            </a:r>
            <a:r>
              <a:rPr sz="2400" spc="-50" dirty="0">
                <a:solidFill>
                  <a:srgbClr val="943735"/>
                </a:solidFill>
                <a:latin typeface="Arial"/>
                <a:cs typeface="Arial"/>
              </a:rPr>
              <a:t>three</a:t>
            </a:r>
            <a:r>
              <a:rPr sz="2400" spc="-140" dirty="0">
                <a:solidFill>
                  <a:srgbClr val="943735"/>
                </a:solidFill>
                <a:latin typeface="Arial"/>
                <a:cs typeface="Arial"/>
              </a:rPr>
              <a:t> </a:t>
            </a:r>
            <a:r>
              <a:rPr sz="2400" spc="-114" dirty="0">
                <a:solidFill>
                  <a:srgbClr val="943735"/>
                </a:solidFill>
                <a:latin typeface="Arial"/>
                <a:cs typeface="Arial"/>
              </a:rPr>
              <a:t>possible</a:t>
            </a:r>
            <a:r>
              <a:rPr sz="2400" spc="-110" dirty="0">
                <a:solidFill>
                  <a:srgbClr val="943735"/>
                </a:solidFill>
                <a:latin typeface="Arial"/>
                <a:cs typeface="Arial"/>
              </a:rPr>
              <a:t> </a:t>
            </a:r>
            <a:r>
              <a:rPr sz="2400" spc="-30" dirty="0">
                <a:solidFill>
                  <a:srgbClr val="943735"/>
                </a:solidFill>
                <a:latin typeface="Arial"/>
                <a:cs typeface="Arial"/>
              </a:rPr>
              <a:t>approaches:</a:t>
            </a:r>
            <a:endParaRPr sz="2400">
              <a:latin typeface="Arial"/>
              <a:cs typeface="Arial"/>
            </a:endParaRPr>
          </a:p>
          <a:p>
            <a:pPr marL="446405" marR="5080" indent="-321310">
              <a:lnSpc>
                <a:spcPct val="80000"/>
              </a:lnSpc>
              <a:spcBef>
                <a:spcPts val="580"/>
              </a:spcBef>
              <a:buAutoNum type="arabicPeriod"/>
              <a:tabLst>
                <a:tab pos="448309" algn="l"/>
              </a:tabLst>
            </a:pPr>
            <a:r>
              <a:rPr sz="2400" b="1" spc="-210" dirty="0">
                <a:solidFill>
                  <a:srgbClr val="17375E"/>
                </a:solidFill>
                <a:latin typeface="Arial"/>
                <a:cs typeface="Arial"/>
              </a:rPr>
              <a:t>Foreign</a:t>
            </a:r>
            <a:r>
              <a:rPr sz="2400" b="1" spc="-13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b="1" spc="-290" dirty="0">
                <a:solidFill>
                  <a:srgbClr val="17375E"/>
                </a:solidFill>
                <a:latin typeface="Arial"/>
                <a:cs typeface="Arial"/>
              </a:rPr>
              <a:t>Key</a:t>
            </a:r>
            <a:r>
              <a:rPr sz="2400" b="1" spc="-10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b="1" spc="-180" dirty="0">
                <a:solidFill>
                  <a:srgbClr val="17375E"/>
                </a:solidFill>
                <a:latin typeface="Arial"/>
                <a:cs typeface="Arial"/>
              </a:rPr>
              <a:t>approach:</a:t>
            </a:r>
            <a:r>
              <a:rPr sz="2400" b="1" spc="-10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spc="-190" dirty="0">
                <a:solidFill>
                  <a:srgbClr val="17375E"/>
                </a:solidFill>
                <a:latin typeface="Arial"/>
                <a:cs typeface="Arial"/>
              </a:rPr>
              <a:t>Choose</a:t>
            </a:r>
            <a:r>
              <a:rPr sz="2400" spc="-13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spc="-105" dirty="0">
                <a:solidFill>
                  <a:srgbClr val="17375E"/>
                </a:solidFill>
                <a:latin typeface="Arial"/>
                <a:cs typeface="Arial"/>
              </a:rPr>
              <a:t>one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of</a:t>
            </a:r>
            <a:r>
              <a:rPr sz="2400" spc="-12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spc="-30" dirty="0">
                <a:solidFill>
                  <a:srgbClr val="17375E"/>
                </a:solidFill>
                <a:latin typeface="Arial"/>
                <a:cs typeface="Arial"/>
              </a:rPr>
              <a:t>the</a:t>
            </a:r>
            <a:r>
              <a:rPr sz="2400" spc="-10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spc="-75" dirty="0">
                <a:solidFill>
                  <a:srgbClr val="17375E"/>
                </a:solidFill>
                <a:latin typeface="Arial"/>
                <a:cs typeface="Arial"/>
              </a:rPr>
              <a:t>relations-</a:t>
            </a:r>
            <a:r>
              <a:rPr sz="2400" spc="-215" dirty="0">
                <a:solidFill>
                  <a:srgbClr val="17375E"/>
                </a:solidFill>
                <a:latin typeface="Arial"/>
                <a:cs typeface="Arial"/>
              </a:rPr>
              <a:t>say</a:t>
            </a:r>
            <a:r>
              <a:rPr sz="2400" spc="-17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spc="-320" dirty="0">
                <a:solidFill>
                  <a:srgbClr val="17375E"/>
                </a:solidFill>
                <a:latin typeface="Arial"/>
                <a:cs typeface="Arial"/>
              </a:rPr>
              <a:t>S-	</a:t>
            </a:r>
            <a:r>
              <a:rPr sz="2400" spc="-125" dirty="0">
                <a:solidFill>
                  <a:srgbClr val="17375E"/>
                </a:solidFill>
                <a:latin typeface="Arial"/>
                <a:cs typeface="Arial"/>
              </a:rPr>
              <a:t>and</a:t>
            </a:r>
            <a:r>
              <a:rPr sz="2400" spc="-11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spc="-90" dirty="0">
                <a:solidFill>
                  <a:srgbClr val="17375E"/>
                </a:solidFill>
                <a:latin typeface="Arial"/>
                <a:cs typeface="Arial"/>
              </a:rPr>
              <a:t>include</a:t>
            </a:r>
            <a:r>
              <a:rPr sz="2400" spc="-14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spc="-195" dirty="0">
                <a:solidFill>
                  <a:srgbClr val="17375E"/>
                </a:solidFill>
                <a:latin typeface="Arial"/>
                <a:cs typeface="Arial"/>
              </a:rPr>
              <a:t>a</a:t>
            </a:r>
            <a:r>
              <a:rPr sz="2400" spc="-114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spc="-80" dirty="0">
                <a:solidFill>
                  <a:srgbClr val="17375E"/>
                </a:solidFill>
                <a:latin typeface="Arial"/>
                <a:cs typeface="Arial"/>
              </a:rPr>
              <a:t>foreign</a:t>
            </a:r>
            <a:r>
              <a:rPr sz="2400" spc="-13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spc="-170" dirty="0">
                <a:solidFill>
                  <a:srgbClr val="17375E"/>
                </a:solidFill>
                <a:latin typeface="Arial"/>
                <a:cs typeface="Arial"/>
              </a:rPr>
              <a:t>key</a:t>
            </a:r>
            <a:r>
              <a:rPr sz="2400" spc="-9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spc="-40" dirty="0">
                <a:solidFill>
                  <a:srgbClr val="17375E"/>
                </a:solidFill>
                <a:latin typeface="Arial"/>
                <a:cs typeface="Arial"/>
              </a:rPr>
              <a:t>in</a:t>
            </a:r>
            <a:r>
              <a:rPr sz="2400" spc="-11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spc="-515" dirty="0">
                <a:solidFill>
                  <a:srgbClr val="17375E"/>
                </a:solidFill>
                <a:latin typeface="Arial"/>
                <a:cs typeface="Arial"/>
              </a:rPr>
              <a:t>S</a:t>
            </a:r>
            <a:r>
              <a:rPr sz="2400" spc="-114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that</a:t>
            </a:r>
            <a:r>
              <a:rPr sz="2400" spc="-13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spc="-100" dirty="0">
                <a:solidFill>
                  <a:srgbClr val="17375E"/>
                </a:solidFill>
                <a:latin typeface="Arial"/>
                <a:cs typeface="Arial"/>
              </a:rPr>
              <a:t>refers</a:t>
            </a:r>
            <a:r>
              <a:rPr sz="2400" spc="-12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to</a:t>
            </a:r>
            <a:r>
              <a:rPr sz="2400" spc="-11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spc="-30" dirty="0">
                <a:solidFill>
                  <a:srgbClr val="17375E"/>
                </a:solidFill>
                <a:latin typeface="Arial"/>
                <a:cs typeface="Arial"/>
              </a:rPr>
              <a:t>the</a:t>
            </a:r>
            <a:r>
              <a:rPr sz="2400" spc="-14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spc="-65" dirty="0">
                <a:solidFill>
                  <a:srgbClr val="17375E"/>
                </a:solidFill>
                <a:latin typeface="Arial"/>
                <a:cs typeface="Arial"/>
              </a:rPr>
              <a:t>primary</a:t>
            </a:r>
            <a:r>
              <a:rPr sz="2400" spc="-12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spc="-30" dirty="0">
                <a:solidFill>
                  <a:srgbClr val="17375E"/>
                </a:solidFill>
                <a:latin typeface="Arial"/>
                <a:cs typeface="Arial"/>
              </a:rPr>
              <a:t>key 	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of</a:t>
            </a:r>
            <a:r>
              <a:rPr sz="2400" spc="-10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spc="-305" dirty="0">
                <a:solidFill>
                  <a:srgbClr val="17375E"/>
                </a:solidFill>
                <a:latin typeface="Arial"/>
                <a:cs typeface="Arial"/>
              </a:rPr>
              <a:t>T.</a:t>
            </a:r>
            <a:r>
              <a:rPr sz="2400" spc="-114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It</a:t>
            </a:r>
            <a:r>
              <a:rPr sz="2400" spc="-10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spc="-140" dirty="0">
                <a:solidFill>
                  <a:srgbClr val="17375E"/>
                </a:solidFill>
                <a:latin typeface="Arial"/>
                <a:cs typeface="Arial"/>
              </a:rPr>
              <a:t>is</a:t>
            </a:r>
            <a:r>
              <a:rPr sz="2400" spc="-12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17375E"/>
                </a:solidFill>
                <a:latin typeface="Arial"/>
                <a:cs typeface="Arial"/>
              </a:rPr>
              <a:t>better</a:t>
            </a:r>
            <a:r>
              <a:rPr sz="2400" spc="-13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to</a:t>
            </a:r>
            <a:r>
              <a:rPr sz="2400" spc="-13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spc="-145" dirty="0">
                <a:solidFill>
                  <a:srgbClr val="17375E"/>
                </a:solidFill>
                <a:latin typeface="Arial"/>
                <a:cs typeface="Arial"/>
              </a:rPr>
              <a:t>choose</a:t>
            </a:r>
            <a:r>
              <a:rPr sz="2400" spc="-11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spc="-145" dirty="0">
                <a:solidFill>
                  <a:srgbClr val="17375E"/>
                </a:solidFill>
                <a:latin typeface="Arial"/>
                <a:cs typeface="Arial"/>
              </a:rPr>
              <a:t>an</a:t>
            </a:r>
            <a:r>
              <a:rPr sz="2400" spc="-10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17375E"/>
                </a:solidFill>
                <a:latin typeface="Arial"/>
                <a:cs typeface="Arial"/>
              </a:rPr>
              <a:t>entity</a:t>
            </a:r>
            <a:r>
              <a:rPr sz="2400" spc="-17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spc="-60" dirty="0">
                <a:solidFill>
                  <a:srgbClr val="17375E"/>
                </a:solidFill>
                <a:latin typeface="Arial"/>
                <a:cs typeface="Arial"/>
              </a:rPr>
              <a:t>type</a:t>
            </a:r>
            <a:r>
              <a:rPr sz="2400" spc="-10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with</a:t>
            </a:r>
            <a:r>
              <a:rPr sz="2400" spc="-10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17375E"/>
                </a:solidFill>
                <a:latin typeface="Arial"/>
                <a:cs typeface="Arial"/>
              </a:rPr>
              <a:t>total 	</a:t>
            </a:r>
            <a:r>
              <a:rPr sz="2400" spc="-55" dirty="0">
                <a:solidFill>
                  <a:srgbClr val="17375E"/>
                </a:solidFill>
                <a:latin typeface="Arial"/>
                <a:cs typeface="Arial"/>
              </a:rPr>
              <a:t>participation</a:t>
            </a:r>
            <a:r>
              <a:rPr sz="2400" spc="-18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spc="-40" dirty="0">
                <a:solidFill>
                  <a:srgbClr val="17375E"/>
                </a:solidFill>
                <a:latin typeface="Arial"/>
                <a:cs typeface="Arial"/>
              </a:rPr>
              <a:t>in</a:t>
            </a:r>
            <a:r>
              <a:rPr sz="2400" spc="-114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spc="-434" dirty="0">
                <a:solidFill>
                  <a:srgbClr val="17375E"/>
                </a:solidFill>
                <a:latin typeface="Arial"/>
                <a:cs typeface="Arial"/>
              </a:rPr>
              <a:t>R</a:t>
            </a:r>
            <a:r>
              <a:rPr sz="2400" spc="-11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spc="-40" dirty="0">
                <a:solidFill>
                  <a:srgbClr val="17375E"/>
                </a:solidFill>
                <a:latin typeface="Arial"/>
                <a:cs typeface="Arial"/>
              </a:rPr>
              <a:t>in</a:t>
            </a:r>
            <a:r>
              <a:rPr sz="2400" spc="-114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spc="-30" dirty="0">
                <a:solidFill>
                  <a:srgbClr val="17375E"/>
                </a:solidFill>
                <a:latin typeface="Arial"/>
                <a:cs typeface="Arial"/>
              </a:rPr>
              <a:t>the</a:t>
            </a:r>
            <a:r>
              <a:rPr sz="2400" spc="-14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spc="-60" dirty="0">
                <a:solidFill>
                  <a:srgbClr val="17375E"/>
                </a:solidFill>
                <a:latin typeface="Arial"/>
                <a:cs typeface="Arial"/>
              </a:rPr>
              <a:t>role</a:t>
            </a:r>
            <a:r>
              <a:rPr sz="2400" spc="-11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of</a:t>
            </a:r>
            <a:r>
              <a:rPr sz="2400" spc="-10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spc="-315" dirty="0">
                <a:solidFill>
                  <a:srgbClr val="17375E"/>
                </a:solidFill>
                <a:latin typeface="Arial"/>
                <a:cs typeface="Arial"/>
              </a:rPr>
              <a:t>S.</a:t>
            </a:r>
            <a:endParaRPr sz="2400">
              <a:latin typeface="Arial"/>
              <a:cs typeface="Arial"/>
            </a:endParaRPr>
          </a:p>
          <a:p>
            <a:pPr marL="446405" marR="240665" indent="-321310">
              <a:lnSpc>
                <a:spcPct val="80000"/>
              </a:lnSpc>
              <a:spcBef>
                <a:spcPts val="575"/>
              </a:spcBef>
              <a:buAutoNum type="arabicPeriod"/>
              <a:tabLst>
                <a:tab pos="448309" algn="l"/>
              </a:tabLst>
            </a:pPr>
            <a:r>
              <a:rPr sz="2400" b="1" spc="-145" dirty="0">
                <a:solidFill>
                  <a:srgbClr val="17375E"/>
                </a:solidFill>
                <a:latin typeface="Arial"/>
                <a:cs typeface="Arial"/>
              </a:rPr>
              <a:t>Merged</a:t>
            </a:r>
            <a:r>
              <a:rPr sz="2400" b="1" spc="-8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b="1" spc="-120" dirty="0">
                <a:solidFill>
                  <a:srgbClr val="17375E"/>
                </a:solidFill>
                <a:latin typeface="Arial"/>
                <a:cs typeface="Arial"/>
              </a:rPr>
              <a:t>relation</a:t>
            </a:r>
            <a:r>
              <a:rPr sz="2400" b="1" spc="-12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b="1" spc="-130" dirty="0">
                <a:solidFill>
                  <a:srgbClr val="17375E"/>
                </a:solidFill>
                <a:latin typeface="Arial"/>
                <a:cs typeface="Arial"/>
              </a:rPr>
              <a:t>option: </a:t>
            </a:r>
            <a:r>
              <a:rPr sz="2400" spc="-150" dirty="0">
                <a:solidFill>
                  <a:srgbClr val="17375E"/>
                </a:solidFill>
                <a:latin typeface="Arial"/>
                <a:cs typeface="Arial"/>
              </a:rPr>
              <a:t>An</a:t>
            </a:r>
            <a:r>
              <a:rPr sz="2400" spc="-12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spc="-60" dirty="0">
                <a:solidFill>
                  <a:srgbClr val="17375E"/>
                </a:solidFill>
                <a:latin typeface="Arial"/>
                <a:cs typeface="Arial"/>
              </a:rPr>
              <a:t>alternate</a:t>
            </a:r>
            <a:r>
              <a:rPr sz="2400" spc="-13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spc="-114" dirty="0">
                <a:solidFill>
                  <a:srgbClr val="17375E"/>
                </a:solidFill>
                <a:latin typeface="Arial"/>
                <a:cs typeface="Arial"/>
              </a:rPr>
              <a:t>mapping</a:t>
            </a:r>
            <a:r>
              <a:rPr sz="2400" spc="-16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of</a:t>
            </a:r>
            <a:r>
              <a:rPr sz="2400" spc="-9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spc="-210" dirty="0">
                <a:solidFill>
                  <a:srgbClr val="17375E"/>
                </a:solidFill>
                <a:latin typeface="Arial"/>
                <a:cs typeface="Arial"/>
              </a:rPr>
              <a:t>a</a:t>
            </a:r>
            <a:r>
              <a:rPr sz="2400" spc="-11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17375E"/>
                </a:solidFill>
                <a:latin typeface="Arial"/>
                <a:cs typeface="Arial"/>
              </a:rPr>
              <a:t>1:1 	</a:t>
            </a:r>
            <a:r>
              <a:rPr sz="2400" spc="-75" dirty="0">
                <a:solidFill>
                  <a:srgbClr val="17375E"/>
                </a:solidFill>
                <a:latin typeface="Arial"/>
                <a:cs typeface="Arial"/>
              </a:rPr>
              <a:t>relationship</a:t>
            </a:r>
            <a:r>
              <a:rPr sz="2400" spc="-15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spc="-60" dirty="0">
                <a:solidFill>
                  <a:srgbClr val="17375E"/>
                </a:solidFill>
                <a:latin typeface="Arial"/>
                <a:cs typeface="Arial"/>
              </a:rPr>
              <a:t>type</a:t>
            </a:r>
            <a:r>
              <a:rPr sz="2400" spc="-13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spc="-140" dirty="0">
                <a:solidFill>
                  <a:srgbClr val="17375E"/>
                </a:solidFill>
                <a:latin typeface="Arial"/>
                <a:cs typeface="Arial"/>
              </a:rPr>
              <a:t>is</a:t>
            </a:r>
            <a:r>
              <a:rPr sz="2400" spc="-8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spc="-120" dirty="0">
                <a:solidFill>
                  <a:srgbClr val="17375E"/>
                </a:solidFill>
                <a:latin typeface="Arial"/>
                <a:cs typeface="Arial"/>
              </a:rPr>
              <a:t>possible</a:t>
            </a:r>
            <a:r>
              <a:rPr sz="2400" spc="-13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spc="-105" dirty="0">
                <a:solidFill>
                  <a:srgbClr val="17375E"/>
                </a:solidFill>
                <a:latin typeface="Arial"/>
                <a:cs typeface="Arial"/>
              </a:rPr>
              <a:t>by</a:t>
            </a:r>
            <a:r>
              <a:rPr sz="2400" spc="-110" dirty="0">
                <a:solidFill>
                  <a:srgbClr val="17375E"/>
                </a:solidFill>
                <a:latin typeface="Arial"/>
                <a:cs typeface="Arial"/>
              </a:rPr>
              <a:t> merging</a:t>
            </a:r>
            <a:r>
              <a:rPr sz="2400" spc="-15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17375E"/>
                </a:solidFill>
                <a:latin typeface="Arial"/>
                <a:cs typeface="Arial"/>
              </a:rPr>
              <a:t>the</a:t>
            </a:r>
            <a:r>
              <a:rPr sz="2400" spc="-10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two</a:t>
            </a:r>
            <a:r>
              <a:rPr sz="2400" spc="-10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17375E"/>
                </a:solidFill>
                <a:latin typeface="Arial"/>
                <a:cs typeface="Arial"/>
              </a:rPr>
              <a:t>entity 	</a:t>
            </a:r>
            <a:r>
              <a:rPr sz="2400" spc="-95" dirty="0">
                <a:solidFill>
                  <a:srgbClr val="17375E"/>
                </a:solidFill>
                <a:latin typeface="Arial"/>
                <a:cs typeface="Arial"/>
              </a:rPr>
              <a:t>types</a:t>
            </a:r>
            <a:r>
              <a:rPr sz="2400" spc="-11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spc="-120" dirty="0">
                <a:solidFill>
                  <a:srgbClr val="17375E"/>
                </a:solidFill>
                <a:latin typeface="Arial"/>
                <a:cs typeface="Arial"/>
              </a:rPr>
              <a:t>and</a:t>
            </a:r>
            <a:r>
              <a:rPr sz="2400" spc="-12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17375E"/>
                </a:solidFill>
                <a:latin typeface="Arial"/>
                <a:cs typeface="Arial"/>
              </a:rPr>
              <a:t>the</a:t>
            </a:r>
            <a:r>
              <a:rPr sz="2400" spc="-9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spc="-75" dirty="0">
                <a:solidFill>
                  <a:srgbClr val="17375E"/>
                </a:solidFill>
                <a:latin typeface="Arial"/>
                <a:cs typeface="Arial"/>
              </a:rPr>
              <a:t>relationship</a:t>
            </a:r>
            <a:r>
              <a:rPr sz="2400" spc="-17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17375E"/>
                </a:solidFill>
                <a:latin typeface="Arial"/>
                <a:cs typeface="Arial"/>
              </a:rPr>
              <a:t>into</a:t>
            </a:r>
            <a:r>
              <a:rPr sz="2400" spc="-12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spc="-210" dirty="0">
                <a:solidFill>
                  <a:srgbClr val="17375E"/>
                </a:solidFill>
                <a:latin typeface="Arial"/>
                <a:cs typeface="Arial"/>
              </a:rPr>
              <a:t>a</a:t>
            </a:r>
            <a:r>
              <a:rPr sz="2400" spc="-10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spc="-120" dirty="0">
                <a:solidFill>
                  <a:srgbClr val="17375E"/>
                </a:solidFill>
                <a:latin typeface="Arial"/>
                <a:cs typeface="Arial"/>
              </a:rPr>
              <a:t>single</a:t>
            </a:r>
            <a:r>
              <a:rPr sz="2400" spc="-10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spc="-55" dirty="0">
                <a:solidFill>
                  <a:srgbClr val="17375E"/>
                </a:solidFill>
                <a:latin typeface="Arial"/>
                <a:cs typeface="Arial"/>
              </a:rPr>
              <a:t>relation.</a:t>
            </a:r>
            <a:r>
              <a:rPr sz="2400" spc="-165" dirty="0">
                <a:solidFill>
                  <a:srgbClr val="17375E"/>
                </a:solidFill>
                <a:latin typeface="Arial"/>
                <a:cs typeface="Arial"/>
              </a:rPr>
              <a:t> This</a:t>
            </a:r>
            <a:r>
              <a:rPr sz="2400" spc="-11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17375E"/>
                </a:solidFill>
                <a:latin typeface="Arial"/>
                <a:cs typeface="Arial"/>
              </a:rPr>
              <a:t>may 	</a:t>
            </a:r>
            <a:r>
              <a:rPr sz="2400" spc="-120" dirty="0">
                <a:solidFill>
                  <a:srgbClr val="17375E"/>
                </a:solidFill>
                <a:latin typeface="Arial"/>
                <a:cs typeface="Arial"/>
              </a:rPr>
              <a:t>be</a:t>
            </a:r>
            <a:r>
              <a:rPr sz="2400" spc="-8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spc="-70" dirty="0">
                <a:solidFill>
                  <a:srgbClr val="17375E"/>
                </a:solidFill>
                <a:latin typeface="Arial"/>
                <a:cs typeface="Arial"/>
              </a:rPr>
              <a:t>appropriate</a:t>
            </a:r>
            <a:r>
              <a:rPr sz="2400" spc="-14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spc="-100" dirty="0">
                <a:solidFill>
                  <a:srgbClr val="17375E"/>
                </a:solidFill>
                <a:latin typeface="Arial"/>
                <a:cs typeface="Arial"/>
              </a:rPr>
              <a:t>when</a:t>
            </a:r>
            <a:r>
              <a:rPr sz="2400" spc="-8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17375E"/>
                </a:solidFill>
                <a:latin typeface="Arial"/>
                <a:cs typeface="Arial"/>
              </a:rPr>
              <a:t>both</a:t>
            </a:r>
            <a:r>
              <a:rPr sz="2400" spc="-11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spc="-70" dirty="0">
                <a:solidFill>
                  <a:srgbClr val="17375E"/>
                </a:solidFill>
                <a:latin typeface="Arial"/>
                <a:cs typeface="Arial"/>
              </a:rPr>
              <a:t>participations</a:t>
            </a:r>
            <a:r>
              <a:rPr sz="2400" spc="-15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spc="-120" dirty="0">
                <a:solidFill>
                  <a:srgbClr val="17375E"/>
                </a:solidFill>
                <a:latin typeface="Arial"/>
                <a:cs typeface="Arial"/>
              </a:rPr>
              <a:t>are</a:t>
            </a:r>
            <a:r>
              <a:rPr sz="2400" spc="-8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17375E"/>
                </a:solidFill>
                <a:latin typeface="Arial"/>
                <a:cs typeface="Arial"/>
              </a:rPr>
              <a:t>total.</a:t>
            </a:r>
            <a:endParaRPr sz="2400">
              <a:latin typeface="Arial"/>
              <a:cs typeface="Arial"/>
            </a:endParaRPr>
          </a:p>
          <a:p>
            <a:pPr marL="447040" marR="79375" indent="-321945">
              <a:lnSpc>
                <a:spcPct val="80100"/>
              </a:lnSpc>
              <a:spcBef>
                <a:spcPts val="575"/>
              </a:spcBef>
              <a:buAutoNum type="arabicPeriod"/>
              <a:tabLst>
                <a:tab pos="448309" algn="l"/>
              </a:tabLst>
            </a:pPr>
            <a:r>
              <a:rPr sz="2400" b="1" spc="-270" dirty="0">
                <a:solidFill>
                  <a:srgbClr val="17375E"/>
                </a:solidFill>
                <a:latin typeface="Arial"/>
                <a:cs typeface="Arial"/>
              </a:rPr>
              <a:t>Cross-</a:t>
            </a:r>
            <a:r>
              <a:rPr sz="2400" b="1" spc="-160" dirty="0">
                <a:solidFill>
                  <a:srgbClr val="17375E"/>
                </a:solidFill>
                <a:latin typeface="Arial"/>
                <a:cs typeface="Arial"/>
              </a:rPr>
              <a:t>reference</a:t>
            </a:r>
            <a:r>
              <a:rPr sz="2400" b="1" spc="-10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b="1" spc="-140" dirty="0">
                <a:solidFill>
                  <a:srgbClr val="17375E"/>
                </a:solidFill>
                <a:latin typeface="Arial"/>
                <a:cs typeface="Arial"/>
              </a:rPr>
              <a:t>or</a:t>
            </a:r>
            <a:r>
              <a:rPr sz="2400" b="1" spc="-9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b="1" spc="-145" dirty="0">
                <a:solidFill>
                  <a:srgbClr val="17375E"/>
                </a:solidFill>
                <a:latin typeface="Arial"/>
                <a:cs typeface="Arial"/>
              </a:rPr>
              <a:t>relationship</a:t>
            </a:r>
            <a:r>
              <a:rPr sz="2400" b="1" spc="-13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b="1" spc="-114" dirty="0">
                <a:solidFill>
                  <a:srgbClr val="17375E"/>
                </a:solidFill>
                <a:latin typeface="Arial"/>
                <a:cs typeface="Arial"/>
              </a:rPr>
              <a:t>relation</a:t>
            </a:r>
            <a:r>
              <a:rPr sz="2400" b="1" spc="-9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b="1" spc="-130" dirty="0">
                <a:solidFill>
                  <a:srgbClr val="17375E"/>
                </a:solidFill>
                <a:latin typeface="Arial"/>
                <a:cs typeface="Arial"/>
              </a:rPr>
              <a:t>option:</a:t>
            </a:r>
            <a:r>
              <a:rPr sz="2400" b="1" spc="-204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spc="-185" dirty="0">
                <a:solidFill>
                  <a:srgbClr val="17375E"/>
                </a:solidFill>
                <a:latin typeface="Arial"/>
                <a:cs typeface="Arial"/>
              </a:rPr>
              <a:t>The</a:t>
            </a:r>
            <a:r>
              <a:rPr sz="2400" spc="-8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17375E"/>
                </a:solidFill>
                <a:latin typeface="Arial"/>
                <a:cs typeface="Arial"/>
              </a:rPr>
              <a:t>third 	</a:t>
            </a:r>
            <a:r>
              <a:rPr sz="2400" spc="-60" dirty="0">
                <a:solidFill>
                  <a:srgbClr val="17375E"/>
                </a:solidFill>
                <a:latin typeface="Arial"/>
                <a:cs typeface="Arial"/>
              </a:rPr>
              <a:t>alternative</a:t>
            </a:r>
            <a:r>
              <a:rPr sz="2400" spc="-140" dirty="0">
                <a:solidFill>
                  <a:srgbClr val="17375E"/>
                </a:solidFill>
                <a:latin typeface="Arial"/>
                <a:cs typeface="Arial"/>
              </a:rPr>
              <a:t> is</a:t>
            </a:r>
            <a:r>
              <a:rPr sz="2400" spc="-12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to</a:t>
            </a:r>
            <a:r>
              <a:rPr sz="2400" spc="-13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spc="-105" dirty="0">
                <a:solidFill>
                  <a:srgbClr val="17375E"/>
                </a:solidFill>
                <a:latin typeface="Arial"/>
                <a:cs typeface="Arial"/>
              </a:rPr>
              <a:t>set</a:t>
            </a:r>
            <a:r>
              <a:rPr sz="2400" spc="-8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spc="-80" dirty="0">
                <a:solidFill>
                  <a:srgbClr val="17375E"/>
                </a:solidFill>
                <a:latin typeface="Arial"/>
                <a:cs typeface="Arial"/>
              </a:rPr>
              <a:t>up</a:t>
            </a:r>
            <a:r>
              <a:rPr sz="2400" spc="-13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spc="-210" dirty="0">
                <a:solidFill>
                  <a:srgbClr val="17375E"/>
                </a:solidFill>
                <a:latin typeface="Arial"/>
                <a:cs typeface="Arial"/>
              </a:rPr>
              <a:t>a</a:t>
            </a:r>
            <a:r>
              <a:rPr sz="2400" spc="-114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third</a:t>
            </a:r>
            <a:r>
              <a:rPr sz="2400" spc="-13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spc="-55" dirty="0">
                <a:solidFill>
                  <a:srgbClr val="17375E"/>
                </a:solidFill>
                <a:latin typeface="Arial"/>
                <a:cs typeface="Arial"/>
              </a:rPr>
              <a:t>relation</a:t>
            </a:r>
            <a:r>
              <a:rPr sz="2400" spc="-15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spc="-434" dirty="0">
                <a:solidFill>
                  <a:srgbClr val="17375E"/>
                </a:solidFill>
                <a:latin typeface="Arial"/>
                <a:cs typeface="Arial"/>
              </a:rPr>
              <a:t>R</a:t>
            </a:r>
            <a:r>
              <a:rPr sz="2400" spc="-10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17375E"/>
                </a:solidFill>
                <a:latin typeface="Arial"/>
                <a:cs typeface="Arial"/>
              </a:rPr>
              <a:t>for</a:t>
            </a:r>
            <a:r>
              <a:rPr sz="2400" spc="-13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17375E"/>
                </a:solidFill>
                <a:latin typeface="Arial"/>
                <a:cs typeface="Arial"/>
              </a:rPr>
              <a:t>the</a:t>
            </a:r>
            <a:r>
              <a:rPr sz="2400" spc="-11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spc="-105" dirty="0">
                <a:solidFill>
                  <a:srgbClr val="17375E"/>
                </a:solidFill>
                <a:latin typeface="Arial"/>
                <a:cs typeface="Arial"/>
              </a:rPr>
              <a:t>purpose</a:t>
            </a:r>
            <a:r>
              <a:rPr sz="2400" spc="-15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17375E"/>
                </a:solidFill>
                <a:latin typeface="Arial"/>
                <a:cs typeface="Arial"/>
              </a:rPr>
              <a:t>of 	</a:t>
            </a:r>
            <a:r>
              <a:rPr sz="2400" spc="-155" dirty="0">
                <a:solidFill>
                  <a:srgbClr val="17375E"/>
                </a:solidFill>
                <a:latin typeface="Arial"/>
                <a:cs typeface="Arial"/>
              </a:rPr>
              <a:t>cross-</a:t>
            </a:r>
            <a:r>
              <a:rPr sz="2400" spc="-100" dirty="0">
                <a:solidFill>
                  <a:srgbClr val="17375E"/>
                </a:solidFill>
                <a:latin typeface="Arial"/>
                <a:cs typeface="Arial"/>
              </a:rPr>
              <a:t>referencing</a:t>
            </a:r>
            <a:r>
              <a:rPr sz="2400" spc="-14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spc="-30" dirty="0">
                <a:solidFill>
                  <a:srgbClr val="17375E"/>
                </a:solidFill>
                <a:latin typeface="Arial"/>
                <a:cs typeface="Arial"/>
              </a:rPr>
              <a:t>the</a:t>
            </a:r>
            <a:r>
              <a:rPr sz="2400" spc="-13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spc="-65" dirty="0">
                <a:solidFill>
                  <a:srgbClr val="17375E"/>
                </a:solidFill>
                <a:latin typeface="Arial"/>
                <a:cs typeface="Arial"/>
              </a:rPr>
              <a:t>primary</a:t>
            </a:r>
            <a:r>
              <a:rPr sz="2400" spc="-114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spc="-200" dirty="0">
                <a:solidFill>
                  <a:srgbClr val="17375E"/>
                </a:solidFill>
                <a:latin typeface="Arial"/>
                <a:cs typeface="Arial"/>
              </a:rPr>
              <a:t>keys</a:t>
            </a:r>
            <a:r>
              <a:rPr sz="2400" spc="-6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of</a:t>
            </a:r>
            <a:r>
              <a:rPr sz="2400" spc="-9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spc="-30" dirty="0">
                <a:solidFill>
                  <a:srgbClr val="17375E"/>
                </a:solidFill>
                <a:latin typeface="Arial"/>
                <a:cs typeface="Arial"/>
              </a:rPr>
              <a:t>the</a:t>
            </a:r>
            <a:r>
              <a:rPr sz="2400" spc="-12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7375E"/>
                </a:solidFill>
                <a:latin typeface="Arial"/>
                <a:cs typeface="Arial"/>
              </a:rPr>
              <a:t>two</a:t>
            </a:r>
            <a:r>
              <a:rPr sz="2400" spc="-10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spc="-75" dirty="0">
                <a:solidFill>
                  <a:srgbClr val="17375E"/>
                </a:solidFill>
                <a:latin typeface="Arial"/>
                <a:cs typeface="Arial"/>
              </a:rPr>
              <a:t>relations</a:t>
            </a:r>
            <a:r>
              <a:rPr sz="2400" spc="-16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spc="-565" dirty="0">
                <a:solidFill>
                  <a:srgbClr val="17375E"/>
                </a:solidFill>
                <a:latin typeface="Arial"/>
                <a:cs typeface="Arial"/>
              </a:rPr>
              <a:t>S</a:t>
            </a:r>
            <a:r>
              <a:rPr sz="2400" spc="-120" dirty="0">
                <a:solidFill>
                  <a:srgbClr val="17375E"/>
                </a:solidFill>
                <a:latin typeface="Arial"/>
                <a:cs typeface="Arial"/>
              </a:rPr>
              <a:t> 	and</a:t>
            </a:r>
            <a:r>
              <a:rPr sz="2400" spc="-10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spc="-310" dirty="0">
                <a:solidFill>
                  <a:srgbClr val="17375E"/>
                </a:solidFill>
                <a:latin typeface="Arial"/>
                <a:cs typeface="Arial"/>
              </a:rPr>
              <a:t>T</a:t>
            </a:r>
            <a:r>
              <a:rPr sz="2400" spc="-10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spc="-95" dirty="0">
                <a:solidFill>
                  <a:srgbClr val="17375E"/>
                </a:solidFill>
                <a:latin typeface="Arial"/>
                <a:cs typeface="Arial"/>
              </a:rPr>
              <a:t>representing</a:t>
            </a:r>
            <a:r>
              <a:rPr sz="2400" spc="-160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spc="-30" dirty="0">
                <a:solidFill>
                  <a:srgbClr val="17375E"/>
                </a:solidFill>
                <a:latin typeface="Arial"/>
                <a:cs typeface="Arial"/>
              </a:rPr>
              <a:t>the</a:t>
            </a:r>
            <a:r>
              <a:rPr sz="2400" spc="-12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17375E"/>
                </a:solidFill>
                <a:latin typeface="Arial"/>
                <a:cs typeface="Arial"/>
              </a:rPr>
              <a:t>entity</a:t>
            </a:r>
            <a:r>
              <a:rPr sz="2400" spc="-135" dirty="0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17375E"/>
                </a:solidFill>
                <a:latin typeface="Arial"/>
                <a:cs typeface="Arial"/>
              </a:rPr>
              <a:t>types</a:t>
            </a:r>
            <a:r>
              <a:rPr sz="2000" spc="-10" dirty="0">
                <a:solidFill>
                  <a:srgbClr val="17375E"/>
                </a:solidFill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35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-35" dirty="0"/>
              <a:t> </a:t>
            </a:r>
            <a:r>
              <a:rPr dirty="0"/>
              <a:t>Hyderabad</a:t>
            </a:r>
            <a:r>
              <a:rPr spc="-75" dirty="0"/>
              <a:t> </a:t>
            </a:r>
            <a:r>
              <a:rPr spc="-10" dirty="0"/>
              <a:t>Campus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spc="-1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3540" y="1340942"/>
            <a:ext cx="8321675" cy="464693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49885" indent="-337185">
              <a:lnSpc>
                <a:spcPct val="100000"/>
              </a:lnSpc>
              <a:spcBef>
                <a:spcPts val="110"/>
              </a:spcBef>
              <a:buSzPct val="85714"/>
              <a:buAutoNum type="arabicPeriod" startAt="4"/>
              <a:tabLst>
                <a:tab pos="349885" algn="l"/>
              </a:tabLst>
            </a:pPr>
            <a:r>
              <a:rPr sz="2800" spc="-110" dirty="0">
                <a:solidFill>
                  <a:srgbClr val="943735"/>
                </a:solidFill>
                <a:latin typeface="Arial"/>
                <a:cs typeface="Arial"/>
              </a:rPr>
              <a:t>Mapping</a:t>
            </a:r>
            <a:r>
              <a:rPr sz="2800" spc="-114" dirty="0">
                <a:solidFill>
                  <a:srgbClr val="943735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943735"/>
                </a:solidFill>
                <a:latin typeface="Arial"/>
                <a:cs typeface="Arial"/>
              </a:rPr>
              <a:t>of</a:t>
            </a:r>
            <a:r>
              <a:rPr sz="2800" spc="-140" dirty="0">
                <a:solidFill>
                  <a:srgbClr val="943735"/>
                </a:solidFill>
                <a:latin typeface="Arial"/>
                <a:cs typeface="Arial"/>
              </a:rPr>
              <a:t> </a:t>
            </a:r>
            <a:r>
              <a:rPr sz="2800" spc="-125" dirty="0">
                <a:solidFill>
                  <a:srgbClr val="943735"/>
                </a:solidFill>
                <a:latin typeface="Arial"/>
                <a:cs typeface="Arial"/>
              </a:rPr>
              <a:t>Binary</a:t>
            </a:r>
            <a:r>
              <a:rPr sz="2800" spc="-150" dirty="0">
                <a:solidFill>
                  <a:srgbClr val="943735"/>
                </a:solidFill>
                <a:latin typeface="Arial"/>
                <a:cs typeface="Arial"/>
              </a:rPr>
              <a:t> </a:t>
            </a:r>
            <a:r>
              <a:rPr sz="2800" spc="-145" dirty="0">
                <a:solidFill>
                  <a:srgbClr val="943735"/>
                </a:solidFill>
                <a:latin typeface="Arial"/>
                <a:cs typeface="Arial"/>
              </a:rPr>
              <a:t>1:N</a:t>
            </a:r>
            <a:r>
              <a:rPr sz="2800" spc="-95" dirty="0">
                <a:solidFill>
                  <a:srgbClr val="943735"/>
                </a:solidFill>
                <a:latin typeface="Arial"/>
                <a:cs typeface="Arial"/>
              </a:rPr>
              <a:t> </a:t>
            </a:r>
            <a:r>
              <a:rPr sz="2800" spc="-130" dirty="0">
                <a:solidFill>
                  <a:srgbClr val="943735"/>
                </a:solidFill>
                <a:latin typeface="Arial"/>
                <a:cs typeface="Arial"/>
              </a:rPr>
              <a:t>Relationship</a:t>
            </a:r>
            <a:r>
              <a:rPr sz="2800" spc="-170" dirty="0">
                <a:solidFill>
                  <a:srgbClr val="943735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943735"/>
                </a:solidFill>
                <a:latin typeface="Arial"/>
                <a:cs typeface="Arial"/>
              </a:rPr>
              <a:t>Types.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25"/>
              </a:spcBef>
              <a:buClr>
                <a:srgbClr val="943735"/>
              </a:buClr>
              <a:buFont typeface="Arial"/>
              <a:buAutoNum type="arabicPeriod" startAt="4"/>
            </a:pPr>
            <a:endParaRPr sz="2800">
              <a:latin typeface="Arial"/>
              <a:cs typeface="Arial"/>
            </a:endParaRPr>
          </a:p>
          <a:p>
            <a:pPr marL="814069" marR="5080" lvl="1" indent="-344805">
              <a:lnSpc>
                <a:spcPct val="90000"/>
              </a:lnSpc>
              <a:buFont typeface="Wingdings"/>
              <a:buChar char=""/>
              <a:tabLst>
                <a:tab pos="814069" algn="l"/>
              </a:tabLst>
            </a:pPr>
            <a:r>
              <a:rPr sz="2800" dirty="0">
                <a:solidFill>
                  <a:srgbClr val="0F1141"/>
                </a:solidFill>
                <a:latin typeface="Arial"/>
                <a:cs typeface="Arial"/>
              </a:rPr>
              <a:t>For</a:t>
            </a:r>
            <a:r>
              <a:rPr sz="2800" spc="-3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F1141"/>
                </a:solidFill>
                <a:latin typeface="Arial"/>
                <a:cs typeface="Arial"/>
              </a:rPr>
              <a:t>each</a:t>
            </a:r>
            <a:r>
              <a:rPr sz="2800" spc="-5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F1141"/>
                </a:solidFill>
                <a:latin typeface="Arial"/>
                <a:cs typeface="Arial"/>
              </a:rPr>
              <a:t>regular</a:t>
            </a:r>
            <a:r>
              <a:rPr sz="2800" spc="-3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F1141"/>
                </a:solidFill>
                <a:latin typeface="Arial"/>
                <a:cs typeface="Arial"/>
              </a:rPr>
              <a:t>binary</a:t>
            </a:r>
            <a:r>
              <a:rPr sz="2800" spc="-3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F1141"/>
                </a:solidFill>
                <a:latin typeface="Arial"/>
                <a:cs typeface="Arial"/>
              </a:rPr>
              <a:t>1:N</a:t>
            </a:r>
            <a:r>
              <a:rPr sz="2800" spc="-6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F1141"/>
                </a:solidFill>
                <a:latin typeface="Arial"/>
                <a:cs typeface="Arial"/>
              </a:rPr>
              <a:t>relationship</a:t>
            </a:r>
            <a:r>
              <a:rPr sz="2800" spc="-7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F1141"/>
                </a:solidFill>
                <a:latin typeface="Arial"/>
                <a:cs typeface="Arial"/>
              </a:rPr>
              <a:t>type</a:t>
            </a:r>
            <a:r>
              <a:rPr sz="2800" spc="-1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25" dirty="0">
                <a:solidFill>
                  <a:srgbClr val="0F1141"/>
                </a:solidFill>
                <a:latin typeface="Arial"/>
                <a:cs typeface="Arial"/>
              </a:rPr>
              <a:t>R, </a:t>
            </a:r>
            <a:r>
              <a:rPr sz="2800" dirty="0">
                <a:solidFill>
                  <a:srgbClr val="0F1141"/>
                </a:solidFill>
                <a:latin typeface="Arial"/>
                <a:cs typeface="Arial"/>
              </a:rPr>
              <a:t>identify</a:t>
            </a:r>
            <a:r>
              <a:rPr sz="2800" spc="-2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F1141"/>
                </a:solidFill>
                <a:latin typeface="Arial"/>
                <a:cs typeface="Arial"/>
              </a:rPr>
              <a:t>the</a:t>
            </a:r>
            <a:r>
              <a:rPr sz="2800" spc="-3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F1141"/>
                </a:solidFill>
                <a:latin typeface="Arial"/>
                <a:cs typeface="Arial"/>
              </a:rPr>
              <a:t>relation</a:t>
            </a:r>
            <a:r>
              <a:rPr sz="2800" spc="1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F1141"/>
                </a:solidFill>
                <a:latin typeface="Arial"/>
                <a:cs typeface="Arial"/>
              </a:rPr>
              <a:t>S</a:t>
            </a:r>
            <a:r>
              <a:rPr sz="2800" spc="-3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F1141"/>
                </a:solidFill>
                <a:latin typeface="Arial"/>
                <a:cs typeface="Arial"/>
              </a:rPr>
              <a:t>that represent</a:t>
            </a:r>
            <a:r>
              <a:rPr sz="2800" spc="-2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25" dirty="0">
                <a:solidFill>
                  <a:srgbClr val="0F1141"/>
                </a:solidFill>
                <a:latin typeface="Arial"/>
                <a:cs typeface="Arial"/>
              </a:rPr>
              <a:t>the </a:t>
            </a:r>
            <a:r>
              <a:rPr sz="2800" dirty="0">
                <a:solidFill>
                  <a:srgbClr val="0F1141"/>
                </a:solidFill>
                <a:latin typeface="Arial"/>
                <a:cs typeface="Arial"/>
              </a:rPr>
              <a:t>participating</a:t>
            </a:r>
            <a:r>
              <a:rPr sz="2800" spc="-5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F1141"/>
                </a:solidFill>
                <a:latin typeface="Arial"/>
                <a:cs typeface="Arial"/>
              </a:rPr>
              <a:t>entity</a:t>
            </a:r>
            <a:r>
              <a:rPr sz="2800" spc="-6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F1141"/>
                </a:solidFill>
                <a:latin typeface="Arial"/>
                <a:cs typeface="Arial"/>
              </a:rPr>
              <a:t>type</a:t>
            </a:r>
            <a:r>
              <a:rPr sz="2800" spc="1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F1141"/>
                </a:solidFill>
                <a:latin typeface="Arial"/>
                <a:cs typeface="Arial"/>
              </a:rPr>
              <a:t>at</a:t>
            </a:r>
            <a:r>
              <a:rPr sz="2800" spc="-4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F1141"/>
                </a:solidFill>
                <a:latin typeface="Arial"/>
                <a:cs typeface="Arial"/>
              </a:rPr>
              <a:t>the</a:t>
            </a:r>
            <a:r>
              <a:rPr sz="2800" spc="-3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0F1141"/>
                </a:solidFill>
                <a:latin typeface="Arial"/>
                <a:cs typeface="Arial"/>
              </a:rPr>
              <a:t>N-</a:t>
            </a:r>
            <a:r>
              <a:rPr sz="2800" dirty="0">
                <a:solidFill>
                  <a:srgbClr val="0F1141"/>
                </a:solidFill>
                <a:latin typeface="Arial"/>
                <a:cs typeface="Arial"/>
              </a:rPr>
              <a:t>side</a:t>
            </a:r>
            <a:r>
              <a:rPr sz="2800" spc="-3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F1141"/>
                </a:solidFill>
                <a:latin typeface="Arial"/>
                <a:cs typeface="Arial"/>
              </a:rPr>
              <a:t>of</a:t>
            </a:r>
            <a:r>
              <a:rPr sz="2800" spc="-2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25" dirty="0">
                <a:solidFill>
                  <a:srgbClr val="0F1141"/>
                </a:solidFill>
                <a:latin typeface="Arial"/>
                <a:cs typeface="Arial"/>
              </a:rPr>
              <a:t>the </a:t>
            </a:r>
            <a:r>
              <a:rPr sz="2800" dirty="0">
                <a:solidFill>
                  <a:srgbClr val="0F1141"/>
                </a:solidFill>
                <a:latin typeface="Arial"/>
                <a:cs typeface="Arial"/>
              </a:rPr>
              <a:t>relationship</a:t>
            </a:r>
            <a:r>
              <a:rPr sz="2800" spc="-2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0F1141"/>
                </a:solidFill>
                <a:latin typeface="Arial"/>
                <a:cs typeface="Arial"/>
              </a:rPr>
              <a:t>type.</a:t>
            </a:r>
            <a:endParaRPr sz="2800">
              <a:latin typeface="Arial"/>
              <a:cs typeface="Arial"/>
            </a:endParaRPr>
          </a:p>
          <a:p>
            <a:pPr marL="812800" marR="386080" lvl="1" indent="-343535">
              <a:lnSpc>
                <a:spcPct val="90000"/>
              </a:lnSpc>
              <a:spcBef>
                <a:spcPts val="675"/>
              </a:spcBef>
              <a:buFont typeface="Wingdings"/>
              <a:buChar char=""/>
              <a:tabLst>
                <a:tab pos="814069" algn="l"/>
              </a:tabLst>
            </a:pPr>
            <a:r>
              <a:rPr sz="2800" dirty="0">
                <a:solidFill>
                  <a:srgbClr val="0F1141"/>
                </a:solidFill>
                <a:latin typeface="Arial"/>
                <a:cs typeface="Arial"/>
              </a:rPr>
              <a:t>Include</a:t>
            </a:r>
            <a:r>
              <a:rPr sz="2800" spc="-5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F1141"/>
                </a:solidFill>
                <a:latin typeface="Arial"/>
                <a:cs typeface="Arial"/>
              </a:rPr>
              <a:t>as</a:t>
            </a:r>
            <a:r>
              <a:rPr sz="2800" spc="-1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F1141"/>
                </a:solidFill>
                <a:latin typeface="Arial"/>
                <a:cs typeface="Arial"/>
              </a:rPr>
              <a:t>foreign</a:t>
            </a:r>
            <a:r>
              <a:rPr sz="2800" spc="-3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F1141"/>
                </a:solidFill>
                <a:latin typeface="Arial"/>
                <a:cs typeface="Arial"/>
              </a:rPr>
              <a:t>key</a:t>
            </a:r>
            <a:r>
              <a:rPr sz="2800" spc="-3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F1141"/>
                </a:solidFill>
                <a:latin typeface="Arial"/>
                <a:cs typeface="Arial"/>
              </a:rPr>
              <a:t>in S</a:t>
            </a:r>
            <a:r>
              <a:rPr sz="2800" spc="-2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F1141"/>
                </a:solidFill>
                <a:latin typeface="Arial"/>
                <a:cs typeface="Arial"/>
              </a:rPr>
              <a:t>the</a:t>
            </a:r>
            <a:r>
              <a:rPr sz="2800" spc="-4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F1141"/>
                </a:solidFill>
                <a:latin typeface="Arial"/>
                <a:cs typeface="Arial"/>
              </a:rPr>
              <a:t>primary</a:t>
            </a:r>
            <a:r>
              <a:rPr sz="2800" spc="1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F1141"/>
                </a:solidFill>
                <a:latin typeface="Arial"/>
                <a:cs typeface="Arial"/>
              </a:rPr>
              <a:t>key</a:t>
            </a:r>
            <a:r>
              <a:rPr sz="2800" spc="-3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25" dirty="0">
                <a:solidFill>
                  <a:srgbClr val="0F1141"/>
                </a:solidFill>
                <a:latin typeface="Arial"/>
                <a:cs typeface="Arial"/>
              </a:rPr>
              <a:t>of 	</a:t>
            </a:r>
            <a:r>
              <a:rPr sz="2800" dirty="0">
                <a:solidFill>
                  <a:srgbClr val="0F1141"/>
                </a:solidFill>
                <a:latin typeface="Arial"/>
                <a:cs typeface="Arial"/>
              </a:rPr>
              <a:t>the</a:t>
            </a:r>
            <a:r>
              <a:rPr sz="2800" spc="-4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F1141"/>
                </a:solidFill>
                <a:latin typeface="Arial"/>
                <a:cs typeface="Arial"/>
              </a:rPr>
              <a:t>relation</a:t>
            </a:r>
            <a:r>
              <a:rPr sz="2800" spc="-8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F1141"/>
                </a:solidFill>
                <a:latin typeface="Arial"/>
                <a:cs typeface="Arial"/>
              </a:rPr>
              <a:t>T</a:t>
            </a:r>
            <a:r>
              <a:rPr sz="2800" spc="-9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F1141"/>
                </a:solidFill>
                <a:latin typeface="Arial"/>
                <a:cs typeface="Arial"/>
              </a:rPr>
              <a:t>that</a:t>
            </a:r>
            <a:r>
              <a:rPr sz="2800" spc="-5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F1141"/>
                </a:solidFill>
                <a:latin typeface="Arial"/>
                <a:cs typeface="Arial"/>
              </a:rPr>
              <a:t>represents</a:t>
            </a:r>
            <a:r>
              <a:rPr sz="2800" spc="-5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F1141"/>
                </a:solidFill>
                <a:latin typeface="Arial"/>
                <a:cs typeface="Arial"/>
              </a:rPr>
              <a:t>the</a:t>
            </a:r>
            <a:r>
              <a:rPr sz="2800" spc="-3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F1141"/>
                </a:solidFill>
                <a:latin typeface="Arial"/>
                <a:cs typeface="Arial"/>
              </a:rPr>
              <a:t>other</a:t>
            </a:r>
            <a:r>
              <a:rPr sz="2800" spc="-4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0F1141"/>
                </a:solidFill>
                <a:latin typeface="Arial"/>
                <a:cs typeface="Arial"/>
              </a:rPr>
              <a:t>entity 	</a:t>
            </a:r>
            <a:r>
              <a:rPr sz="2800" dirty="0">
                <a:solidFill>
                  <a:srgbClr val="0F1141"/>
                </a:solidFill>
                <a:latin typeface="Arial"/>
                <a:cs typeface="Arial"/>
              </a:rPr>
              <a:t>type</a:t>
            </a:r>
            <a:r>
              <a:rPr sz="2800" spc="-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F1141"/>
                </a:solidFill>
                <a:latin typeface="Arial"/>
                <a:cs typeface="Arial"/>
              </a:rPr>
              <a:t>participating</a:t>
            </a:r>
            <a:r>
              <a:rPr sz="2800" spc="-4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F1141"/>
                </a:solidFill>
                <a:latin typeface="Arial"/>
                <a:cs typeface="Arial"/>
              </a:rPr>
              <a:t>in </a:t>
            </a:r>
            <a:r>
              <a:rPr sz="2800" spc="-25" dirty="0">
                <a:solidFill>
                  <a:srgbClr val="0F1141"/>
                </a:solidFill>
                <a:latin typeface="Arial"/>
                <a:cs typeface="Arial"/>
              </a:rPr>
              <a:t>R.</a:t>
            </a:r>
            <a:endParaRPr sz="2800">
              <a:latin typeface="Arial"/>
              <a:cs typeface="Arial"/>
            </a:endParaRPr>
          </a:p>
          <a:p>
            <a:pPr marL="814069" marR="69850" lvl="1" indent="-344805">
              <a:lnSpc>
                <a:spcPts val="3020"/>
              </a:lnSpc>
              <a:spcBef>
                <a:spcPts val="720"/>
              </a:spcBef>
              <a:buFont typeface="Wingdings"/>
              <a:buChar char=""/>
              <a:tabLst>
                <a:tab pos="814069" algn="l"/>
              </a:tabLst>
            </a:pPr>
            <a:r>
              <a:rPr sz="2800" dirty="0">
                <a:solidFill>
                  <a:srgbClr val="0F1141"/>
                </a:solidFill>
                <a:latin typeface="Arial"/>
                <a:cs typeface="Arial"/>
              </a:rPr>
              <a:t>Include</a:t>
            </a:r>
            <a:r>
              <a:rPr sz="2800" spc="-6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F1141"/>
                </a:solidFill>
                <a:latin typeface="Arial"/>
                <a:cs typeface="Arial"/>
              </a:rPr>
              <a:t>any</a:t>
            </a:r>
            <a:r>
              <a:rPr sz="2800" spc="-2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F1141"/>
                </a:solidFill>
                <a:latin typeface="Arial"/>
                <a:cs typeface="Arial"/>
              </a:rPr>
              <a:t>simple</a:t>
            </a:r>
            <a:r>
              <a:rPr sz="2800" spc="-2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F1141"/>
                </a:solidFill>
                <a:latin typeface="Arial"/>
                <a:cs typeface="Arial"/>
              </a:rPr>
              <a:t>attributes</a:t>
            </a:r>
            <a:r>
              <a:rPr sz="2800" spc="-7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F1141"/>
                </a:solidFill>
                <a:latin typeface="Arial"/>
                <a:cs typeface="Arial"/>
              </a:rPr>
              <a:t>of</a:t>
            </a:r>
            <a:r>
              <a:rPr sz="2800" spc="-5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F1141"/>
                </a:solidFill>
                <a:latin typeface="Arial"/>
                <a:cs typeface="Arial"/>
              </a:rPr>
              <a:t>the</a:t>
            </a:r>
            <a:r>
              <a:rPr sz="2800" spc="-4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F1141"/>
                </a:solidFill>
                <a:latin typeface="Arial"/>
                <a:cs typeface="Arial"/>
              </a:rPr>
              <a:t>1:N</a:t>
            </a:r>
            <a:r>
              <a:rPr sz="2800" spc="-4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0F1141"/>
                </a:solidFill>
                <a:latin typeface="Arial"/>
                <a:cs typeface="Arial"/>
              </a:rPr>
              <a:t>relation </a:t>
            </a:r>
            <a:r>
              <a:rPr sz="2800" dirty="0">
                <a:solidFill>
                  <a:srgbClr val="0F1141"/>
                </a:solidFill>
                <a:latin typeface="Arial"/>
                <a:cs typeface="Arial"/>
              </a:rPr>
              <a:t>type</a:t>
            </a:r>
            <a:r>
              <a:rPr sz="2800" spc="-1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F1141"/>
                </a:solidFill>
                <a:latin typeface="Arial"/>
                <a:cs typeface="Arial"/>
              </a:rPr>
              <a:t>as</a:t>
            </a:r>
            <a:r>
              <a:rPr sz="2800" spc="-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F1141"/>
                </a:solidFill>
                <a:latin typeface="Arial"/>
                <a:cs typeface="Arial"/>
              </a:rPr>
              <a:t>attributes</a:t>
            </a:r>
            <a:r>
              <a:rPr sz="2800" spc="-5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F1141"/>
                </a:solidFill>
                <a:latin typeface="Arial"/>
                <a:cs typeface="Arial"/>
              </a:rPr>
              <a:t>of</a:t>
            </a:r>
            <a:r>
              <a:rPr sz="2800" spc="-1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25" dirty="0">
                <a:solidFill>
                  <a:srgbClr val="0F1141"/>
                </a:solidFill>
                <a:latin typeface="Arial"/>
                <a:cs typeface="Arial"/>
              </a:rPr>
              <a:t>S.</a:t>
            </a:r>
            <a:endParaRPr sz="28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35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-35" dirty="0"/>
              <a:t> </a:t>
            </a:r>
            <a:r>
              <a:rPr dirty="0"/>
              <a:t>Hyderabad</a:t>
            </a:r>
            <a:r>
              <a:rPr spc="-75" dirty="0"/>
              <a:t> </a:t>
            </a:r>
            <a:r>
              <a:rPr spc="-10" dirty="0"/>
              <a:t>Campus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spc="-1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3540" y="1228166"/>
            <a:ext cx="8390890" cy="50647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37185" indent="-324485">
              <a:lnSpc>
                <a:spcPct val="100000"/>
              </a:lnSpc>
              <a:spcBef>
                <a:spcPts val="110"/>
              </a:spcBef>
              <a:buSzPct val="85714"/>
              <a:buAutoNum type="arabicPeriod" startAt="5"/>
              <a:tabLst>
                <a:tab pos="337185" algn="l"/>
              </a:tabLst>
            </a:pPr>
            <a:r>
              <a:rPr sz="2800" spc="-110" dirty="0">
                <a:solidFill>
                  <a:srgbClr val="943735"/>
                </a:solidFill>
                <a:latin typeface="Arial"/>
                <a:cs typeface="Arial"/>
              </a:rPr>
              <a:t>Mapping</a:t>
            </a:r>
            <a:r>
              <a:rPr sz="2800" spc="-114" dirty="0">
                <a:solidFill>
                  <a:srgbClr val="943735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943735"/>
                </a:solidFill>
                <a:latin typeface="Arial"/>
                <a:cs typeface="Arial"/>
              </a:rPr>
              <a:t>of</a:t>
            </a:r>
            <a:r>
              <a:rPr sz="2800" spc="-145" dirty="0">
                <a:solidFill>
                  <a:srgbClr val="943735"/>
                </a:solidFill>
                <a:latin typeface="Arial"/>
                <a:cs typeface="Arial"/>
              </a:rPr>
              <a:t> </a:t>
            </a:r>
            <a:r>
              <a:rPr sz="2800" spc="-125" dirty="0">
                <a:solidFill>
                  <a:srgbClr val="943735"/>
                </a:solidFill>
                <a:latin typeface="Arial"/>
                <a:cs typeface="Arial"/>
              </a:rPr>
              <a:t>Binary</a:t>
            </a:r>
            <a:r>
              <a:rPr sz="2800" spc="-150" dirty="0">
                <a:solidFill>
                  <a:srgbClr val="943735"/>
                </a:solidFill>
                <a:latin typeface="Arial"/>
                <a:cs typeface="Arial"/>
              </a:rPr>
              <a:t> </a:t>
            </a:r>
            <a:r>
              <a:rPr sz="2800" spc="-75" dirty="0">
                <a:solidFill>
                  <a:srgbClr val="943735"/>
                </a:solidFill>
                <a:latin typeface="Arial"/>
                <a:cs typeface="Arial"/>
              </a:rPr>
              <a:t>M:N</a:t>
            </a:r>
            <a:r>
              <a:rPr sz="2800" spc="-125" dirty="0">
                <a:solidFill>
                  <a:srgbClr val="943735"/>
                </a:solidFill>
                <a:latin typeface="Arial"/>
                <a:cs typeface="Arial"/>
              </a:rPr>
              <a:t> </a:t>
            </a:r>
            <a:r>
              <a:rPr sz="2800" spc="-130" dirty="0">
                <a:solidFill>
                  <a:srgbClr val="943735"/>
                </a:solidFill>
                <a:latin typeface="Arial"/>
                <a:cs typeface="Arial"/>
              </a:rPr>
              <a:t>Relationship</a:t>
            </a:r>
            <a:r>
              <a:rPr sz="2800" spc="-170" dirty="0">
                <a:solidFill>
                  <a:srgbClr val="943735"/>
                </a:solidFill>
                <a:latin typeface="Arial"/>
                <a:cs typeface="Arial"/>
              </a:rPr>
              <a:t> </a:t>
            </a:r>
            <a:r>
              <a:rPr sz="2800" spc="-25" dirty="0">
                <a:solidFill>
                  <a:srgbClr val="943735"/>
                </a:solidFill>
                <a:latin typeface="Arial"/>
                <a:cs typeface="Arial"/>
              </a:rPr>
              <a:t>Types.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45"/>
              </a:spcBef>
              <a:buClr>
                <a:srgbClr val="943735"/>
              </a:buClr>
              <a:buFont typeface="Arial"/>
              <a:buAutoNum type="arabicPeriod" startAt="5"/>
            </a:pPr>
            <a:endParaRPr sz="2800">
              <a:latin typeface="Arial"/>
              <a:cs typeface="Arial"/>
            </a:endParaRPr>
          </a:p>
          <a:p>
            <a:pPr marL="813435" lvl="1" indent="-343535">
              <a:lnSpc>
                <a:spcPts val="3025"/>
              </a:lnSpc>
              <a:buFont typeface="Wingdings"/>
              <a:buChar char=""/>
              <a:tabLst>
                <a:tab pos="813435" algn="l"/>
              </a:tabLst>
            </a:pPr>
            <a:r>
              <a:rPr sz="2800" spc="-180" dirty="0">
                <a:solidFill>
                  <a:srgbClr val="0F1141"/>
                </a:solidFill>
                <a:latin typeface="Arial"/>
                <a:cs typeface="Arial"/>
              </a:rPr>
              <a:t>For</a:t>
            </a:r>
            <a:r>
              <a:rPr sz="2800" spc="-114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190" dirty="0">
                <a:solidFill>
                  <a:srgbClr val="0F1141"/>
                </a:solidFill>
                <a:latin typeface="Arial"/>
                <a:cs typeface="Arial"/>
              </a:rPr>
              <a:t>each</a:t>
            </a:r>
            <a:r>
              <a:rPr sz="2800" spc="-12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110" dirty="0">
                <a:solidFill>
                  <a:srgbClr val="0F1141"/>
                </a:solidFill>
                <a:latin typeface="Arial"/>
                <a:cs typeface="Arial"/>
              </a:rPr>
              <a:t>regular</a:t>
            </a:r>
            <a:r>
              <a:rPr sz="2800" spc="-14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90" dirty="0">
                <a:solidFill>
                  <a:srgbClr val="0F1141"/>
                </a:solidFill>
                <a:latin typeface="Arial"/>
                <a:cs typeface="Arial"/>
              </a:rPr>
              <a:t>binary</a:t>
            </a:r>
            <a:r>
              <a:rPr sz="2800" spc="-114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75" dirty="0">
                <a:solidFill>
                  <a:srgbClr val="0F1141"/>
                </a:solidFill>
                <a:latin typeface="Arial"/>
                <a:cs typeface="Arial"/>
              </a:rPr>
              <a:t>M:N</a:t>
            </a:r>
            <a:r>
              <a:rPr sz="2800" spc="-11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85" dirty="0">
                <a:solidFill>
                  <a:srgbClr val="0F1141"/>
                </a:solidFill>
                <a:latin typeface="Arial"/>
                <a:cs typeface="Arial"/>
              </a:rPr>
              <a:t>relationship</a:t>
            </a:r>
            <a:r>
              <a:rPr sz="2800" spc="-13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75" dirty="0">
                <a:solidFill>
                  <a:srgbClr val="0F1141"/>
                </a:solidFill>
                <a:latin typeface="Arial"/>
                <a:cs typeface="Arial"/>
              </a:rPr>
              <a:t>type</a:t>
            </a:r>
            <a:r>
              <a:rPr sz="2800" spc="-13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315" dirty="0">
                <a:solidFill>
                  <a:srgbClr val="0F1141"/>
                </a:solidFill>
                <a:latin typeface="Arial"/>
                <a:cs typeface="Arial"/>
              </a:rPr>
              <a:t>R,</a:t>
            </a:r>
            <a:endParaRPr sz="2800">
              <a:latin typeface="Arial"/>
              <a:cs typeface="Arial"/>
            </a:endParaRPr>
          </a:p>
          <a:p>
            <a:pPr marL="814069">
              <a:lnSpc>
                <a:spcPts val="3025"/>
              </a:lnSpc>
            </a:pPr>
            <a:r>
              <a:rPr sz="2800" i="1" spc="-120" dirty="0">
                <a:solidFill>
                  <a:srgbClr val="0F1141"/>
                </a:solidFill>
                <a:latin typeface="Arial"/>
                <a:cs typeface="Arial"/>
              </a:rPr>
              <a:t>create</a:t>
            </a:r>
            <a:r>
              <a:rPr sz="2800" i="1" spc="-14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i="1" spc="-125" dirty="0">
                <a:solidFill>
                  <a:srgbClr val="0F1141"/>
                </a:solidFill>
                <a:latin typeface="Arial"/>
                <a:cs typeface="Arial"/>
              </a:rPr>
              <a:t>a</a:t>
            </a:r>
            <a:r>
              <a:rPr sz="2800" i="1" spc="-10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i="1" spc="-135" dirty="0">
                <a:solidFill>
                  <a:srgbClr val="0F1141"/>
                </a:solidFill>
                <a:latin typeface="Arial"/>
                <a:cs typeface="Arial"/>
              </a:rPr>
              <a:t>new</a:t>
            </a:r>
            <a:r>
              <a:rPr sz="2800" i="1" spc="-114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i="1" spc="-60" dirty="0">
                <a:solidFill>
                  <a:srgbClr val="0F1141"/>
                </a:solidFill>
                <a:latin typeface="Arial"/>
                <a:cs typeface="Arial"/>
              </a:rPr>
              <a:t>relation</a:t>
            </a:r>
            <a:r>
              <a:rPr sz="2800" i="1" spc="-15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580" dirty="0">
                <a:solidFill>
                  <a:srgbClr val="0F1141"/>
                </a:solidFill>
                <a:latin typeface="Arial"/>
                <a:cs typeface="Arial"/>
              </a:rPr>
              <a:t>S</a:t>
            </a:r>
            <a:r>
              <a:rPr sz="2800" spc="-11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F1141"/>
                </a:solidFill>
                <a:latin typeface="Arial"/>
                <a:cs typeface="Arial"/>
              </a:rPr>
              <a:t>to</a:t>
            </a:r>
            <a:r>
              <a:rPr sz="2800" spc="-11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114" dirty="0">
                <a:solidFill>
                  <a:srgbClr val="0F1141"/>
                </a:solidFill>
                <a:latin typeface="Arial"/>
                <a:cs typeface="Arial"/>
              </a:rPr>
              <a:t>represent</a:t>
            </a:r>
            <a:r>
              <a:rPr sz="2800" spc="-11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300" dirty="0">
                <a:solidFill>
                  <a:srgbClr val="0F1141"/>
                </a:solidFill>
                <a:latin typeface="Arial"/>
                <a:cs typeface="Arial"/>
              </a:rPr>
              <a:t>R.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10"/>
              </a:spcBef>
            </a:pPr>
            <a:endParaRPr sz="2800">
              <a:latin typeface="Arial"/>
              <a:cs typeface="Arial"/>
            </a:endParaRPr>
          </a:p>
          <a:p>
            <a:pPr marL="812800" marR="5080" lvl="1" indent="-343535">
              <a:lnSpc>
                <a:spcPct val="80000"/>
              </a:lnSpc>
              <a:spcBef>
                <a:spcPts val="5"/>
              </a:spcBef>
              <a:buFont typeface="Wingdings"/>
              <a:buChar char=""/>
              <a:tabLst>
                <a:tab pos="814069" algn="l"/>
              </a:tabLst>
            </a:pPr>
            <a:r>
              <a:rPr sz="2800" spc="-125" dirty="0">
                <a:solidFill>
                  <a:srgbClr val="0F1141"/>
                </a:solidFill>
                <a:latin typeface="Arial"/>
                <a:cs typeface="Arial"/>
              </a:rPr>
              <a:t>Include</a:t>
            </a:r>
            <a:r>
              <a:rPr sz="2800" spc="-9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270" dirty="0">
                <a:solidFill>
                  <a:srgbClr val="0F1141"/>
                </a:solidFill>
                <a:latin typeface="Arial"/>
                <a:cs typeface="Arial"/>
              </a:rPr>
              <a:t>as</a:t>
            </a:r>
            <a:r>
              <a:rPr sz="2800" spc="-12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90" dirty="0">
                <a:solidFill>
                  <a:srgbClr val="0F1141"/>
                </a:solidFill>
                <a:latin typeface="Arial"/>
                <a:cs typeface="Arial"/>
              </a:rPr>
              <a:t>foreign</a:t>
            </a:r>
            <a:r>
              <a:rPr sz="2800" spc="-17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195" dirty="0">
                <a:solidFill>
                  <a:srgbClr val="0F1141"/>
                </a:solidFill>
                <a:latin typeface="Arial"/>
                <a:cs typeface="Arial"/>
              </a:rPr>
              <a:t>key</a:t>
            </a:r>
            <a:r>
              <a:rPr sz="2800" spc="-13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50" dirty="0">
                <a:solidFill>
                  <a:srgbClr val="0F1141"/>
                </a:solidFill>
                <a:latin typeface="Arial"/>
                <a:cs typeface="Arial"/>
              </a:rPr>
              <a:t>attributes</a:t>
            </a:r>
            <a:r>
              <a:rPr sz="2800" spc="-114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55" dirty="0">
                <a:solidFill>
                  <a:srgbClr val="0F1141"/>
                </a:solidFill>
                <a:latin typeface="Arial"/>
                <a:cs typeface="Arial"/>
              </a:rPr>
              <a:t>in</a:t>
            </a:r>
            <a:r>
              <a:rPr sz="2800" spc="-14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580" dirty="0">
                <a:solidFill>
                  <a:srgbClr val="0F1141"/>
                </a:solidFill>
                <a:latin typeface="Arial"/>
                <a:cs typeface="Arial"/>
              </a:rPr>
              <a:t>S</a:t>
            </a:r>
            <a:r>
              <a:rPr sz="2800" spc="-12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45" dirty="0">
                <a:solidFill>
                  <a:srgbClr val="0F1141"/>
                </a:solidFill>
                <a:latin typeface="Arial"/>
                <a:cs typeface="Arial"/>
              </a:rPr>
              <a:t>the</a:t>
            </a:r>
            <a:r>
              <a:rPr sz="2800" spc="-12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0F1141"/>
                </a:solidFill>
                <a:latin typeface="Arial"/>
                <a:cs typeface="Arial"/>
              </a:rPr>
              <a:t>primary 	</a:t>
            </a:r>
            <a:r>
              <a:rPr sz="2800" spc="-235" dirty="0">
                <a:solidFill>
                  <a:srgbClr val="0F1141"/>
                </a:solidFill>
                <a:latin typeface="Arial"/>
                <a:cs typeface="Arial"/>
              </a:rPr>
              <a:t>keys</a:t>
            </a:r>
            <a:r>
              <a:rPr sz="2800" spc="-13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F1141"/>
                </a:solidFill>
                <a:latin typeface="Arial"/>
                <a:cs typeface="Arial"/>
              </a:rPr>
              <a:t>of</a:t>
            </a:r>
            <a:r>
              <a:rPr sz="2800" spc="-13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40" dirty="0">
                <a:solidFill>
                  <a:srgbClr val="0F1141"/>
                </a:solidFill>
                <a:latin typeface="Arial"/>
                <a:cs typeface="Arial"/>
              </a:rPr>
              <a:t>the</a:t>
            </a:r>
            <a:r>
              <a:rPr sz="2800" spc="-13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85" dirty="0">
                <a:solidFill>
                  <a:srgbClr val="0F1141"/>
                </a:solidFill>
                <a:latin typeface="Arial"/>
                <a:cs typeface="Arial"/>
              </a:rPr>
              <a:t>relations</a:t>
            </a:r>
            <a:r>
              <a:rPr sz="2800" spc="-16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F1141"/>
                </a:solidFill>
                <a:latin typeface="Arial"/>
                <a:cs typeface="Arial"/>
              </a:rPr>
              <a:t>that</a:t>
            </a:r>
            <a:r>
              <a:rPr sz="2800" spc="-12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110" dirty="0">
                <a:solidFill>
                  <a:srgbClr val="0F1141"/>
                </a:solidFill>
                <a:latin typeface="Arial"/>
                <a:cs typeface="Arial"/>
              </a:rPr>
              <a:t>represent</a:t>
            </a:r>
            <a:r>
              <a:rPr sz="2800" spc="-15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40" dirty="0">
                <a:solidFill>
                  <a:srgbClr val="0F1141"/>
                </a:solidFill>
                <a:latin typeface="Arial"/>
                <a:cs typeface="Arial"/>
              </a:rPr>
              <a:t>the</a:t>
            </a:r>
            <a:r>
              <a:rPr sz="2800" spc="-12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25" dirty="0">
                <a:solidFill>
                  <a:srgbClr val="0F1141"/>
                </a:solidFill>
                <a:latin typeface="Arial"/>
                <a:cs typeface="Arial"/>
              </a:rPr>
              <a:t>participating 	entity</a:t>
            </a:r>
            <a:r>
              <a:rPr sz="2800" spc="-13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105" dirty="0">
                <a:solidFill>
                  <a:srgbClr val="0F1141"/>
                </a:solidFill>
                <a:latin typeface="Arial"/>
                <a:cs typeface="Arial"/>
              </a:rPr>
              <a:t>types;</a:t>
            </a:r>
            <a:r>
              <a:rPr sz="2800" spc="-11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i="1" spc="-35" dirty="0">
                <a:solidFill>
                  <a:srgbClr val="0F1141"/>
                </a:solidFill>
                <a:latin typeface="Arial"/>
                <a:cs typeface="Arial"/>
              </a:rPr>
              <a:t>their</a:t>
            </a:r>
            <a:r>
              <a:rPr sz="2800" i="1" spc="-13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i="1" spc="-95" dirty="0">
                <a:solidFill>
                  <a:srgbClr val="0F1141"/>
                </a:solidFill>
                <a:latin typeface="Arial"/>
                <a:cs typeface="Arial"/>
              </a:rPr>
              <a:t>combination</a:t>
            </a:r>
            <a:r>
              <a:rPr sz="2800" i="1" spc="-21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i="1" dirty="0">
                <a:solidFill>
                  <a:srgbClr val="0F1141"/>
                </a:solidFill>
                <a:latin typeface="Arial"/>
                <a:cs typeface="Arial"/>
              </a:rPr>
              <a:t>will</a:t>
            </a:r>
            <a:r>
              <a:rPr sz="2800" i="1" spc="-15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i="1" spc="-50" dirty="0">
                <a:solidFill>
                  <a:srgbClr val="0F1141"/>
                </a:solidFill>
                <a:latin typeface="Arial"/>
                <a:cs typeface="Arial"/>
              </a:rPr>
              <a:t>form</a:t>
            </a:r>
            <a:r>
              <a:rPr sz="2800" i="1" spc="-15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i="1" spc="-65" dirty="0">
                <a:solidFill>
                  <a:srgbClr val="0F1141"/>
                </a:solidFill>
                <a:latin typeface="Arial"/>
                <a:cs typeface="Arial"/>
              </a:rPr>
              <a:t>the</a:t>
            </a:r>
            <a:r>
              <a:rPr sz="2800" i="1" spc="-13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i="1" spc="-10" dirty="0">
                <a:solidFill>
                  <a:srgbClr val="0F1141"/>
                </a:solidFill>
                <a:latin typeface="Arial"/>
                <a:cs typeface="Arial"/>
              </a:rPr>
              <a:t>primary 	</a:t>
            </a:r>
            <a:r>
              <a:rPr sz="2800" i="1" spc="-220" dirty="0">
                <a:solidFill>
                  <a:srgbClr val="0F1141"/>
                </a:solidFill>
                <a:latin typeface="Arial"/>
                <a:cs typeface="Arial"/>
              </a:rPr>
              <a:t>key</a:t>
            </a:r>
            <a:r>
              <a:rPr sz="2800" i="1" spc="-13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F1141"/>
                </a:solidFill>
                <a:latin typeface="Arial"/>
                <a:cs typeface="Arial"/>
              </a:rPr>
              <a:t>of</a:t>
            </a:r>
            <a:r>
              <a:rPr sz="2800" spc="-15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360" dirty="0">
                <a:solidFill>
                  <a:srgbClr val="0F1141"/>
                </a:solidFill>
                <a:latin typeface="Arial"/>
                <a:cs typeface="Arial"/>
              </a:rPr>
              <a:t>S.</a:t>
            </a:r>
            <a:endParaRPr sz="28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810"/>
              </a:spcBef>
              <a:buClr>
                <a:srgbClr val="0F1141"/>
              </a:buClr>
              <a:buFont typeface="Wingdings"/>
              <a:buChar char=""/>
            </a:pPr>
            <a:endParaRPr sz="2800">
              <a:latin typeface="Arial"/>
              <a:cs typeface="Arial"/>
            </a:endParaRPr>
          </a:p>
          <a:p>
            <a:pPr marL="812800" marR="1055370" lvl="1" indent="-343535">
              <a:lnSpc>
                <a:spcPct val="80000"/>
              </a:lnSpc>
              <a:spcBef>
                <a:spcPts val="5"/>
              </a:spcBef>
              <a:buFont typeface="Wingdings"/>
              <a:buChar char=""/>
              <a:tabLst>
                <a:tab pos="814069" algn="l"/>
              </a:tabLst>
            </a:pPr>
            <a:r>
              <a:rPr sz="2800" spc="-170" dirty="0">
                <a:solidFill>
                  <a:srgbClr val="0F1141"/>
                </a:solidFill>
                <a:latin typeface="Arial"/>
                <a:cs typeface="Arial"/>
              </a:rPr>
              <a:t>Also</a:t>
            </a:r>
            <a:r>
              <a:rPr sz="2800" spc="-15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100" dirty="0">
                <a:solidFill>
                  <a:srgbClr val="0F1141"/>
                </a:solidFill>
                <a:latin typeface="Arial"/>
                <a:cs typeface="Arial"/>
              </a:rPr>
              <a:t>include</a:t>
            </a:r>
            <a:r>
              <a:rPr sz="2800" spc="-12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180" dirty="0">
                <a:solidFill>
                  <a:srgbClr val="0F1141"/>
                </a:solidFill>
                <a:latin typeface="Arial"/>
                <a:cs typeface="Arial"/>
              </a:rPr>
              <a:t>any</a:t>
            </a:r>
            <a:r>
              <a:rPr sz="2800" spc="-114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110" dirty="0">
                <a:solidFill>
                  <a:srgbClr val="0F1141"/>
                </a:solidFill>
                <a:latin typeface="Arial"/>
                <a:cs typeface="Arial"/>
              </a:rPr>
              <a:t>simple</a:t>
            </a:r>
            <a:r>
              <a:rPr sz="2800" spc="-14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55" dirty="0">
                <a:solidFill>
                  <a:srgbClr val="0F1141"/>
                </a:solidFill>
                <a:latin typeface="Arial"/>
                <a:cs typeface="Arial"/>
              </a:rPr>
              <a:t>attributes</a:t>
            </a:r>
            <a:r>
              <a:rPr sz="2800" spc="-14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F1141"/>
                </a:solidFill>
                <a:latin typeface="Arial"/>
                <a:cs typeface="Arial"/>
              </a:rPr>
              <a:t>of</a:t>
            </a:r>
            <a:r>
              <a:rPr sz="2800" spc="-16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40" dirty="0">
                <a:solidFill>
                  <a:srgbClr val="0F1141"/>
                </a:solidFill>
                <a:latin typeface="Arial"/>
                <a:cs typeface="Arial"/>
              </a:rPr>
              <a:t>the</a:t>
            </a:r>
            <a:r>
              <a:rPr sz="2800" spc="-12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25" dirty="0">
                <a:solidFill>
                  <a:srgbClr val="0F1141"/>
                </a:solidFill>
                <a:latin typeface="Arial"/>
                <a:cs typeface="Arial"/>
              </a:rPr>
              <a:t>M:N 	</a:t>
            </a:r>
            <a:r>
              <a:rPr sz="2800" spc="-85" dirty="0">
                <a:solidFill>
                  <a:srgbClr val="0F1141"/>
                </a:solidFill>
                <a:latin typeface="Arial"/>
                <a:cs typeface="Arial"/>
              </a:rPr>
              <a:t>relationship</a:t>
            </a:r>
            <a:r>
              <a:rPr sz="2800" spc="-12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70" dirty="0">
                <a:solidFill>
                  <a:srgbClr val="0F1141"/>
                </a:solidFill>
                <a:latin typeface="Arial"/>
                <a:cs typeface="Arial"/>
              </a:rPr>
              <a:t>type</a:t>
            </a:r>
            <a:r>
              <a:rPr sz="2800" spc="-114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60" dirty="0">
                <a:solidFill>
                  <a:srgbClr val="0F1141"/>
                </a:solidFill>
                <a:latin typeface="Arial"/>
                <a:cs typeface="Arial"/>
              </a:rPr>
              <a:t>(or</a:t>
            </a:r>
            <a:r>
              <a:rPr sz="2800" spc="-10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114" dirty="0">
                <a:solidFill>
                  <a:srgbClr val="0F1141"/>
                </a:solidFill>
                <a:latin typeface="Arial"/>
                <a:cs typeface="Arial"/>
              </a:rPr>
              <a:t>simple </a:t>
            </a:r>
            <a:r>
              <a:rPr sz="2800" spc="-135" dirty="0">
                <a:solidFill>
                  <a:srgbClr val="0F1141"/>
                </a:solidFill>
                <a:latin typeface="Arial"/>
                <a:cs typeface="Arial"/>
              </a:rPr>
              <a:t>components</a:t>
            </a:r>
            <a:r>
              <a:rPr sz="2800" spc="-8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25" dirty="0">
                <a:solidFill>
                  <a:srgbClr val="0F1141"/>
                </a:solidFill>
                <a:latin typeface="Arial"/>
                <a:cs typeface="Arial"/>
              </a:rPr>
              <a:t>of 	</a:t>
            </a:r>
            <a:r>
              <a:rPr sz="2800" spc="-114" dirty="0">
                <a:solidFill>
                  <a:srgbClr val="0F1141"/>
                </a:solidFill>
                <a:latin typeface="Arial"/>
                <a:cs typeface="Arial"/>
              </a:rPr>
              <a:t>composite</a:t>
            </a:r>
            <a:r>
              <a:rPr sz="2800" spc="-13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65" dirty="0">
                <a:solidFill>
                  <a:srgbClr val="0F1141"/>
                </a:solidFill>
                <a:latin typeface="Arial"/>
                <a:cs typeface="Arial"/>
              </a:rPr>
              <a:t>attributes)</a:t>
            </a:r>
            <a:r>
              <a:rPr sz="2800" spc="-14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270" dirty="0">
                <a:solidFill>
                  <a:srgbClr val="0F1141"/>
                </a:solidFill>
                <a:latin typeface="Arial"/>
                <a:cs typeface="Arial"/>
              </a:rPr>
              <a:t>as</a:t>
            </a:r>
            <a:r>
              <a:rPr sz="2800" spc="-10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55" dirty="0">
                <a:solidFill>
                  <a:srgbClr val="0F1141"/>
                </a:solidFill>
                <a:latin typeface="Arial"/>
                <a:cs typeface="Arial"/>
              </a:rPr>
              <a:t>attributes</a:t>
            </a:r>
            <a:r>
              <a:rPr sz="2800" spc="-13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F1141"/>
                </a:solidFill>
                <a:latin typeface="Arial"/>
                <a:cs typeface="Arial"/>
              </a:rPr>
              <a:t>of</a:t>
            </a:r>
            <a:r>
              <a:rPr sz="2800" spc="-15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350" dirty="0">
                <a:solidFill>
                  <a:srgbClr val="0F1141"/>
                </a:solidFill>
                <a:latin typeface="Arial"/>
                <a:cs typeface="Arial"/>
              </a:rPr>
              <a:t>S.</a:t>
            </a:r>
            <a:endParaRPr sz="28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35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-35" dirty="0"/>
              <a:t> </a:t>
            </a:r>
            <a:r>
              <a:rPr dirty="0"/>
              <a:t>Hyderabad</a:t>
            </a:r>
            <a:r>
              <a:rPr spc="-75" dirty="0"/>
              <a:t> </a:t>
            </a:r>
            <a:r>
              <a:rPr spc="-10" dirty="0"/>
              <a:t>Campus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spc="-1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2742" y="1261694"/>
            <a:ext cx="8341995" cy="502221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09880" indent="-297180">
              <a:lnSpc>
                <a:spcPct val="100000"/>
              </a:lnSpc>
              <a:spcBef>
                <a:spcPts val="110"/>
              </a:spcBef>
              <a:buSzPct val="85714"/>
              <a:buAutoNum type="arabicPeriod" startAt="6"/>
              <a:tabLst>
                <a:tab pos="309880" algn="l"/>
              </a:tabLst>
            </a:pPr>
            <a:r>
              <a:rPr sz="2800" spc="-110" dirty="0">
                <a:solidFill>
                  <a:srgbClr val="943735"/>
                </a:solidFill>
                <a:latin typeface="Arial"/>
                <a:cs typeface="Arial"/>
              </a:rPr>
              <a:t>Mapping</a:t>
            </a:r>
            <a:r>
              <a:rPr sz="2800" spc="-120" dirty="0">
                <a:solidFill>
                  <a:srgbClr val="943735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943735"/>
                </a:solidFill>
                <a:latin typeface="Arial"/>
                <a:cs typeface="Arial"/>
              </a:rPr>
              <a:t>of</a:t>
            </a:r>
            <a:r>
              <a:rPr sz="2800" spc="-155" dirty="0">
                <a:solidFill>
                  <a:srgbClr val="943735"/>
                </a:solidFill>
                <a:latin typeface="Arial"/>
                <a:cs typeface="Arial"/>
              </a:rPr>
              <a:t> </a:t>
            </a:r>
            <a:r>
              <a:rPr sz="2800" spc="-65" dirty="0">
                <a:solidFill>
                  <a:srgbClr val="943735"/>
                </a:solidFill>
                <a:latin typeface="Arial"/>
                <a:cs typeface="Arial"/>
              </a:rPr>
              <a:t>Multivalued</a:t>
            </a:r>
            <a:r>
              <a:rPr sz="2800" spc="-155" dirty="0">
                <a:solidFill>
                  <a:srgbClr val="943735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943735"/>
                </a:solidFill>
                <a:latin typeface="Arial"/>
                <a:cs typeface="Arial"/>
              </a:rPr>
              <a:t>attributes.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00"/>
              </a:spcBef>
              <a:buClr>
                <a:srgbClr val="943735"/>
              </a:buClr>
              <a:buFont typeface="Arial"/>
              <a:buAutoNum type="arabicPeriod" startAt="6"/>
            </a:pPr>
            <a:endParaRPr sz="2800">
              <a:latin typeface="Arial"/>
              <a:cs typeface="Arial"/>
            </a:endParaRPr>
          </a:p>
          <a:p>
            <a:pPr marL="814069" marR="835660" lvl="1" indent="-344805">
              <a:lnSpc>
                <a:spcPts val="3020"/>
              </a:lnSpc>
              <a:buFont typeface="Wingdings"/>
              <a:buChar char=""/>
              <a:tabLst>
                <a:tab pos="814069" algn="l"/>
              </a:tabLst>
            </a:pPr>
            <a:r>
              <a:rPr sz="2800" spc="-180" dirty="0">
                <a:solidFill>
                  <a:srgbClr val="0F1141"/>
                </a:solidFill>
                <a:latin typeface="Arial"/>
                <a:cs typeface="Arial"/>
              </a:rPr>
              <a:t>For</a:t>
            </a:r>
            <a:r>
              <a:rPr sz="2800" spc="-12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195" dirty="0">
                <a:solidFill>
                  <a:srgbClr val="0F1141"/>
                </a:solidFill>
                <a:latin typeface="Arial"/>
                <a:cs typeface="Arial"/>
              </a:rPr>
              <a:t>each</a:t>
            </a:r>
            <a:r>
              <a:rPr sz="2800" spc="-12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80" dirty="0">
                <a:solidFill>
                  <a:srgbClr val="0F1141"/>
                </a:solidFill>
                <a:latin typeface="Arial"/>
                <a:cs typeface="Arial"/>
              </a:rPr>
              <a:t>multivalued</a:t>
            </a:r>
            <a:r>
              <a:rPr sz="2800" spc="-15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25" dirty="0">
                <a:solidFill>
                  <a:srgbClr val="0F1141"/>
                </a:solidFill>
                <a:latin typeface="Arial"/>
                <a:cs typeface="Arial"/>
              </a:rPr>
              <a:t>attribute</a:t>
            </a:r>
            <a:r>
              <a:rPr sz="2800" spc="-12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150" dirty="0">
                <a:solidFill>
                  <a:srgbClr val="0F1141"/>
                </a:solidFill>
                <a:latin typeface="Arial"/>
                <a:cs typeface="Arial"/>
              </a:rPr>
              <a:t>A,</a:t>
            </a:r>
            <a:r>
              <a:rPr sz="2800" spc="-13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125" dirty="0">
                <a:solidFill>
                  <a:srgbClr val="0F1141"/>
                </a:solidFill>
                <a:latin typeface="Arial"/>
                <a:cs typeface="Arial"/>
              </a:rPr>
              <a:t>create</a:t>
            </a:r>
            <a:r>
              <a:rPr sz="2800" spc="-13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225" dirty="0">
                <a:solidFill>
                  <a:srgbClr val="0F1141"/>
                </a:solidFill>
                <a:latin typeface="Arial"/>
                <a:cs typeface="Arial"/>
              </a:rPr>
              <a:t>a</a:t>
            </a:r>
            <a:r>
              <a:rPr sz="2800" spc="-13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25" dirty="0">
                <a:solidFill>
                  <a:srgbClr val="0F1141"/>
                </a:solidFill>
                <a:latin typeface="Arial"/>
                <a:cs typeface="Arial"/>
              </a:rPr>
              <a:t>new </a:t>
            </a:r>
            <a:r>
              <a:rPr sz="2800" spc="-60" dirty="0">
                <a:solidFill>
                  <a:srgbClr val="0F1141"/>
                </a:solidFill>
                <a:latin typeface="Arial"/>
                <a:cs typeface="Arial"/>
              </a:rPr>
              <a:t>relation</a:t>
            </a:r>
            <a:r>
              <a:rPr sz="2800" spc="-14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300" dirty="0">
                <a:solidFill>
                  <a:srgbClr val="0F1141"/>
                </a:solidFill>
                <a:latin typeface="Arial"/>
                <a:cs typeface="Arial"/>
              </a:rPr>
              <a:t>R.</a:t>
            </a:r>
            <a:endParaRPr sz="2800">
              <a:latin typeface="Arial"/>
              <a:cs typeface="Arial"/>
            </a:endParaRPr>
          </a:p>
          <a:p>
            <a:pPr marL="814069" marR="210185" lvl="1" indent="-344805">
              <a:lnSpc>
                <a:spcPct val="90000"/>
              </a:lnSpc>
              <a:spcBef>
                <a:spcPts val="635"/>
              </a:spcBef>
              <a:buFont typeface="Wingdings"/>
              <a:buChar char=""/>
              <a:tabLst>
                <a:tab pos="814069" algn="l"/>
              </a:tabLst>
            </a:pPr>
            <a:r>
              <a:rPr sz="2800" spc="-200" dirty="0">
                <a:solidFill>
                  <a:srgbClr val="0F1141"/>
                </a:solidFill>
                <a:latin typeface="Arial"/>
                <a:cs typeface="Arial"/>
              </a:rPr>
              <a:t>This</a:t>
            </a:r>
            <a:r>
              <a:rPr sz="2800" spc="-12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60" dirty="0">
                <a:solidFill>
                  <a:srgbClr val="0F1141"/>
                </a:solidFill>
                <a:latin typeface="Arial"/>
                <a:cs typeface="Arial"/>
              </a:rPr>
              <a:t>relation</a:t>
            </a:r>
            <a:r>
              <a:rPr sz="2800" spc="-16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509" dirty="0">
                <a:solidFill>
                  <a:srgbClr val="0F1141"/>
                </a:solidFill>
                <a:latin typeface="Arial"/>
                <a:cs typeface="Arial"/>
              </a:rPr>
              <a:t>R</a:t>
            </a:r>
            <a:r>
              <a:rPr sz="2800" spc="-10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F1141"/>
                </a:solidFill>
                <a:latin typeface="Arial"/>
                <a:cs typeface="Arial"/>
              </a:rPr>
              <a:t>will</a:t>
            </a:r>
            <a:r>
              <a:rPr sz="2800" spc="-17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100" dirty="0">
                <a:solidFill>
                  <a:srgbClr val="0F1141"/>
                </a:solidFill>
                <a:latin typeface="Arial"/>
                <a:cs typeface="Arial"/>
              </a:rPr>
              <a:t>include</a:t>
            </a:r>
            <a:r>
              <a:rPr sz="2800" spc="-12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165" dirty="0">
                <a:solidFill>
                  <a:srgbClr val="0F1141"/>
                </a:solidFill>
                <a:latin typeface="Arial"/>
                <a:cs typeface="Arial"/>
              </a:rPr>
              <a:t>an</a:t>
            </a:r>
            <a:r>
              <a:rPr sz="2800" spc="-114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0F1141"/>
                </a:solidFill>
                <a:latin typeface="Arial"/>
                <a:cs typeface="Arial"/>
              </a:rPr>
              <a:t>attribute </a:t>
            </a:r>
            <a:r>
              <a:rPr sz="2800" spc="-130" dirty="0">
                <a:solidFill>
                  <a:srgbClr val="0F1141"/>
                </a:solidFill>
                <a:latin typeface="Arial"/>
                <a:cs typeface="Arial"/>
              </a:rPr>
              <a:t>corresponding</a:t>
            </a:r>
            <a:r>
              <a:rPr sz="2800" spc="-12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F1141"/>
                </a:solidFill>
                <a:latin typeface="Arial"/>
                <a:cs typeface="Arial"/>
              </a:rPr>
              <a:t>to</a:t>
            </a:r>
            <a:r>
              <a:rPr sz="2800" spc="-11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155" dirty="0">
                <a:solidFill>
                  <a:srgbClr val="0F1141"/>
                </a:solidFill>
                <a:latin typeface="Arial"/>
                <a:cs typeface="Arial"/>
              </a:rPr>
              <a:t>A,</a:t>
            </a:r>
            <a:r>
              <a:rPr sz="2800" spc="-10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140" dirty="0">
                <a:solidFill>
                  <a:srgbClr val="0F1141"/>
                </a:solidFill>
                <a:latin typeface="Arial"/>
                <a:cs typeface="Arial"/>
              </a:rPr>
              <a:t>plus</a:t>
            </a:r>
            <a:r>
              <a:rPr sz="2800" spc="-9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50" dirty="0">
                <a:solidFill>
                  <a:srgbClr val="0F1141"/>
                </a:solidFill>
                <a:latin typeface="Arial"/>
                <a:cs typeface="Arial"/>
              </a:rPr>
              <a:t>the</a:t>
            </a:r>
            <a:r>
              <a:rPr sz="2800" spc="-12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70" dirty="0">
                <a:solidFill>
                  <a:srgbClr val="0F1141"/>
                </a:solidFill>
                <a:latin typeface="Arial"/>
                <a:cs typeface="Arial"/>
              </a:rPr>
              <a:t>primary</a:t>
            </a:r>
            <a:r>
              <a:rPr sz="2800" spc="-14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200" dirty="0">
                <a:solidFill>
                  <a:srgbClr val="0F1141"/>
                </a:solidFill>
                <a:latin typeface="Arial"/>
                <a:cs typeface="Arial"/>
              </a:rPr>
              <a:t>key</a:t>
            </a:r>
            <a:r>
              <a:rPr sz="2800" spc="-10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0F1141"/>
                </a:solidFill>
                <a:latin typeface="Arial"/>
                <a:cs typeface="Arial"/>
              </a:rPr>
              <a:t>attribute </a:t>
            </a:r>
            <a:r>
              <a:rPr sz="2800" spc="-254" dirty="0">
                <a:solidFill>
                  <a:srgbClr val="0F1141"/>
                </a:solidFill>
                <a:latin typeface="Arial"/>
                <a:cs typeface="Arial"/>
              </a:rPr>
              <a:t>K-</a:t>
            </a:r>
            <a:r>
              <a:rPr sz="2800" spc="-270" dirty="0">
                <a:solidFill>
                  <a:srgbClr val="0F1141"/>
                </a:solidFill>
                <a:latin typeface="Arial"/>
                <a:cs typeface="Arial"/>
              </a:rPr>
              <a:t>as</a:t>
            </a:r>
            <a:r>
              <a:rPr sz="2800" spc="-16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225" dirty="0">
                <a:solidFill>
                  <a:srgbClr val="0F1141"/>
                </a:solidFill>
                <a:latin typeface="Arial"/>
                <a:cs typeface="Arial"/>
              </a:rPr>
              <a:t>a</a:t>
            </a:r>
            <a:r>
              <a:rPr sz="2800" spc="-114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90" dirty="0">
                <a:solidFill>
                  <a:srgbClr val="0F1141"/>
                </a:solidFill>
                <a:latin typeface="Arial"/>
                <a:cs typeface="Arial"/>
              </a:rPr>
              <a:t>foreign</a:t>
            </a:r>
            <a:r>
              <a:rPr sz="2800" spc="-200" dirty="0">
                <a:solidFill>
                  <a:srgbClr val="0F1141"/>
                </a:solidFill>
                <a:latin typeface="Arial"/>
                <a:cs typeface="Arial"/>
              </a:rPr>
              <a:t> key</a:t>
            </a:r>
            <a:r>
              <a:rPr sz="2800" spc="-114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50" dirty="0">
                <a:solidFill>
                  <a:srgbClr val="0F1141"/>
                </a:solidFill>
                <a:latin typeface="Arial"/>
                <a:cs typeface="Arial"/>
              </a:rPr>
              <a:t>in</a:t>
            </a:r>
            <a:r>
              <a:rPr sz="2800" spc="-12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290" dirty="0">
                <a:solidFill>
                  <a:srgbClr val="0F1141"/>
                </a:solidFill>
                <a:latin typeface="Arial"/>
                <a:cs typeface="Arial"/>
              </a:rPr>
              <a:t>R-</a:t>
            </a:r>
            <a:r>
              <a:rPr sz="2800" spc="-10" dirty="0">
                <a:solidFill>
                  <a:srgbClr val="0F1141"/>
                </a:solidFill>
                <a:latin typeface="Arial"/>
                <a:cs typeface="Arial"/>
              </a:rPr>
              <a:t>of</a:t>
            </a:r>
            <a:r>
              <a:rPr sz="2800" spc="-18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40" dirty="0">
                <a:solidFill>
                  <a:srgbClr val="0F1141"/>
                </a:solidFill>
                <a:latin typeface="Arial"/>
                <a:cs typeface="Arial"/>
              </a:rPr>
              <a:t>the</a:t>
            </a:r>
            <a:r>
              <a:rPr sz="2800" spc="-13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55" dirty="0">
                <a:solidFill>
                  <a:srgbClr val="0F1141"/>
                </a:solidFill>
                <a:latin typeface="Arial"/>
                <a:cs typeface="Arial"/>
              </a:rPr>
              <a:t>relation</a:t>
            </a:r>
            <a:r>
              <a:rPr sz="2800" spc="-14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0F1141"/>
                </a:solidFill>
                <a:latin typeface="Arial"/>
                <a:cs typeface="Arial"/>
              </a:rPr>
              <a:t>that </a:t>
            </a:r>
            <a:r>
              <a:rPr sz="2800" spc="-130" dirty="0">
                <a:solidFill>
                  <a:srgbClr val="0F1141"/>
                </a:solidFill>
                <a:latin typeface="Arial"/>
                <a:cs typeface="Arial"/>
              </a:rPr>
              <a:t>represents</a:t>
            </a:r>
            <a:r>
              <a:rPr sz="2800" spc="-11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45" dirty="0">
                <a:solidFill>
                  <a:srgbClr val="0F1141"/>
                </a:solidFill>
                <a:latin typeface="Arial"/>
                <a:cs typeface="Arial"/>
              </a:rPr>
              <a:t>the</a:t>
            </a:r>
            <a:r>
              <a:rPr sz="2800" spc="-12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0F1141"/>
                </a:solidFill>
                <a:latin typeface="Arial"/>
                <a:cs typeface="Arial"/>
              </a:rPr>
              <a:t>entity</a:t>
            </a:r>
            <a:r>
              <a:rPr sz="2800" spc="-13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70" dirty="0">
                <a:solidFill>
                  <a:srgbClr val="0F1141"/>
                </a:solidFill>
                <a:latin typeface="Arial"/>
                <a:cs typeface="Arial"/>
              </a:rPr>
              <a:t>type</a:t>
            </a:r>
            <a:r>
              <a:rPr sz="2800" spc="-13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F1141"/>
                </a:solidFill>
                <a:latin typeface="Arial"/>
                <a:cs typeface="Arial"/>
              </a:rPr>
              <a:t>of</a:t>
            </a:r>
            <a:r>
              <a:rPr sz="2800" spc="-12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85" dirty="0">
                <a:solidFill>
                  <a:srgbClr val="0F1141"/>
                </a:solidFill>
                <a:latin typeface="Arial"/>
                <a:cs typeface="Arial"/>
              </a:rPr>
              <a:t>relationship</a:t>
            </a:r>
            <a:r>
              <a:rPr sz="2800" spc="-16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75" dirty="0">
                <a:solidFill>
                  <a:srgbClr val="0F1141"/>
                </a:solidFill>
                <a:latin typeface="Arial"/>
                <a:cs typeface="Arial"/>
              </a:rPr>
              <a:t>type</a:t>
            </a:r>
            <a:r>
              <a:rPr sz="2800" spc="-12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0F1141"/>
                </a:solidFill>
                <a:latin typeface="Arial"/>
                <a:cs typeface="Arial"/>
              </a:rPr>
              <a:t>that </a:t>
            </a:r>
            <a:r>
              <a:rPr sz="2800" spc="-225" dirty="0">
                <a:solidFill>
                  <a:srgbClr val="0F1141"/>
                </a:solidFill>
                <a:latin typeface="Arial"/>
                <a:cs typeface="Arial"/>
              </a:rPr>
              <a:t>has</a:t>
            </a:r>
            <a:r>
              <a:rPr sz="2800" spc="-12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250" dirty="0">
                <a:solidFill>
                  <a:srgbClr val="0F1141"/>
                </a:solidFill>
                <a:latin typeface="Arial"/>
                <a:cs typeface="Arial"/>
              </a:rPr>
              <a:t>A</a:t>
            </a:r>
            <a:r>
              <a:rPr sz="2800" spc="-13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270" dirty="0">
                <a:solidFill>
                  <a:srgbClr val="0F1141"/>
                </a:solidFill>
                <a:latin typeface="Arial"/>
                <a:cs typeface="Arial"/>
              </a:rPr>
              <a:t>as</a:t>
            </a:r>
            <a:r>
              <a:rPr sz="2800" spc="-13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165" dirty="0">
                <a:solidFill>
                  <a:srgbClr val="0F1141"/>
                </a:solidFill>
                <a:latin typeface="Arial"/>
                <a:cs typeface="Arial"/>
              </a:rPr>
              <a:t>an</a:t>
            </a:r>
            <a:r>
              <a:rPr sz="2800" spc="-14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0F1141"/>
                </a:solidFill>
                <a:latin typeface="Arial"/>
                <a:cs typeface="Arial"/>
              </a:rPr>
              <a:t>attribute.</a:t>
            </a:r>
            <a:endParaRPr sz="2800">
              <a:latin typeface="Arial"/>
              <a:cs typeface="Arial"/>
            </a:endParaRPr>
          </a:p>
          <a:p>
            <a:pPr marL="814069" marR="5080" lvl="1" indent="-344805">
              <a:lnSpc>
                <a:spcPct val="90000"/>
              </a:lnSpc>
              <a:spcBef>
                <a:spcPts val="675"/>
              </a:spcBef>
              <a:buFont typeface="Wingdings"/>
              <a:buChar char=""/>
              <a:tabLst>
                <a:tab pos="814069" algn="l"/>
              </a:tabLst>
            </a:pPr>
            <a:r>
              <a:rPr sz="2800" spc="-225" dirty="0">
                <a:solidFill>
                  <a:srgbClr val="0F1141"/>
                </a:solidFill>
                <a:latin typeface="Arial"/>
                <a:cs typeface="Arial"/>
              </a:rPr>
              <a:t>The</a:t>
            </a:r>
            <a:r>
              <a:rPr sz="2800" spc="-13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75" dirty="0">
                <a:solidFill>
                  <a:srgbClr val="0F1141"/>
                </a:solidFill>
                <a:latin typeface="Arial"/>
                <a:cs typeface="Arial"/>
              </a:rPr>
              <a:t>primary</a:t>
            </a:r>
            <a:r>
              <a:rPr sz="2800" spc="-16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195" dirty="0">
                <a:solidFill>
                  <a:srgbClr val="0F1141"/>
                </a:solidFill>
                <a:latin typeface="Arial"/>
                <a:cs typeface="Arial"/>
              </a:rPr>
              <a:t>key</a:t>
            </a:r>
            <a:r>
              <a:rPr sz="2800" spc="-14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F1141"/>
                </a:solidFill>
                <a:latin typeface="Arial"/>
                <a:cs typeface="Arial"/>
              </a:rPr>
              <a:t>of</a:t>
            </a:r>
            <a:r>
              <a:rPr sz="2800" spc="-13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509" dirty="0">
                <a:solidFill>
                  <a:srgbClr val="0F1141"/>
                </a:solidFill>
                <a:latin typeface="Arial"/>
                <a:cs typeface="Arial"/>
              </a:rPr>
              <a:t>R</a:t>
            </a:r>
            <a:r>
              <a:rPr sz="2800" spc="-13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150" dirty="0">
                <a:solidFill>
                  <a:srgbClr val="0F1141"/>
                </a:solidFill>
                <a:latin typeface="Arial"/>
                <a:cs typeface="Arial"/>
              </a:rPr>
              <a:t>is</a:t>
            </a:r>
            <a:r>
              <a:rPr sz="2800" spc="-13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45" dirty="0">
                <a:solidFill>
                  <a:srgbClr val="0F1141"/>
                </a:solidFill>
                <a:latin typeface="Arial"/>
                <a:cs typeface="Arial"/>
              </a:rPr>
              <a:t>the</a:t>
            </a:r>
            <a:r>
              <a:rPr sz="2800" spc="-13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85" dirty="0">
                <a:solidFill>
                  <a:srgbClr val="0F1141"/>
                </a:solidFill>
                <a:latin typeface="Arial"/>
                <a:cs typeface="Arial"/>
              </a:rPr>
              <a:t>combination</a:t>
            </a:r>
            <a:r>
              <a:rPr sz="2800" spc="-14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F1141"/>
                </a:solidFill>
                <a:latin typeface="Arial"/>
                <a:cs typeface="Arial"/>
              </a:rPr>
              <a:t>of</a:t>
            </a:r>
            <a:r>
              <a:rPr sz="2800" spc="-15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250" dirty="0">
                <a:solidFill>
                  <a:srgbClr val="0F1141"/>
                </a:solidFill>
                <a:latin typeface="Arial"/>
                <a:cs typeface="Arial"/>
              </a:rPr>
              <a:t>A</a:t>
            </a:r>
            <a:r>
              <a:rPr sz="2800" spc="-114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150" dirty="0">
                <a:solidFill>
                  <a:srgbClr val="0F1141"/>
                </a:solidFill>
                <a:latin typeface="Arial"/>
                <a:cs typeface="Arial"/>
              </a:rPr>
              <a:t>and</a:t>
            </a:r>
            <a:r>
              <a:rPr sz="2800" spc="-13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25" dirty="0">
                <a:solidFill>
                  <a:srgbClr val="0F1141"/>
                </a:solidFill>
                <a:latin typeface="Arial"/>
                <a:cs typeface="Arial"/>
              </a:rPr>
              <a:t>K. </a:t>
            </a:r>
            <a:r>
              <a:rPr sz="2800" dirty="0">
                <a:solidFill>
                  <a:srgbClr val="0F1141"/>
                </a:solidFill>
                <a:latin typeface="Arial"/>
                <a:cs typeface="Arial"/>
              </a:rPr>
              <a:t>If</a:t>
            </a:r>
            <a:r>
              <a:rPr sz="2800" spc="-12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45" dirty="0">
                <a:solidFill>
                  <a:srgbClr val="0F1141"/>
                </a:solidFill>
                <a:latin typeface="Arial"/>
                <a:cs typeface="Arial"/>
              </a:rPr>
              <a:t>the</a:t>
            </a:r>
            <a:r>
              <a:rPr sz="2800" spc="-12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80" dirty="0">
                <a:solidFill>
                  <a:srgbClr val="0F1141"/>
                </a:solidFill>
                <a:latin typeface="Arial"/>
                <a:cs typeface="Arial"/>
              </a:rPr>
              <a:t>multivalued</a:t>
            </a:r>
            <a:r>
              <a:rPr sz="2800" spc="-15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25" dirty="0">
                <a:solidFill>
                  <a:srgbClr val="0F1141"/>
                </a:solidFill>
                <a:latin typeface="Arial"/>
                <a:cs typeface="Arial"/>
              </a:rPr>
              <a:t>attribute</a:t>
            </a:r>
            <a:r>
              <a:rPr sz="2800" spc="-12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150" dirty="0">
                <a:solidFill>
                  <a:srgbClr val="0F1141"/>
                </a:solidFill>
                <a:latin typeface="Arial"/>
                <a:cs typeface="Arial"/>
              </a:rPr>
              <a:t>is</a:t>
            </a:r>
            <a:r>
              <a:rPr sz="2800" spc="-13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110" dirty="0">
                <a:solidFill>
                  <a:srgbClr val="0F1141"/>
                </a:solidFill>
                <a:latin typeface="Arial"/>
                <a:cs typeface="Arial"/>
              </a:rPr>
              <a:t>composite,</a:t>
            </a:r>
            <a:r>
              <a:rPr sz="2800" spc="-15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110" dirty="0">
                <a:solidFill>
                  <a:srgbClr val="0F1141"/>
                </a:solidFill>
                <a:latin typeface="Arial"/>
                <a:cs typeface="Arial"/>
              </a:rPr>
              <a:t>we</a:t>
            </a:r>
            <a:r>
              <a:rPr sz="2800" spc="-16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55" dirty="0">
                <a:solidFill>
                  <a:srgbClr val="0F1141"/>
                </a:solidFill>
                <a:latin typeface="Arial"/>
                <a:cs typeface="Arial"/>
              </a:rPr>
              <a:t>include </a:t>
            </a:r>
            <a:r>
              <a:rPr sz="2800" spc="-50" dirty="0">
                <a:solidFill>
                  <a:srgbClr val="0F1141"/>
                </a:solidFill>
                <a:latin typeface="Arial"/>
                <a:cs typeface="Arial"/>
              </a:rPr>
              <a:t>its</a:t>
            </a:r>
            <a:r>
              <a:rPr sz="2800" spc="-13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114" dirty="0">
                <a:solidFill>
                  <a:srgbClr val="0F1141"/>
                </a:solidFill>
                <a:latin typeface="Arial"/>
                <a:cs typeface="Arial"/>
              </a:rPr>
              <a:t>simple</a:t>
            </a:r>
            <a:r>
              <a:rPr sz="2800" spc="-15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30" dirty="0">
                <a:solidFill>
                  <a:srgbClr val="0F1141"/>
                </a:solidFill>
                <a:latin typeface="Arial"/>
                <a:cs typeface="Arial"/>
              </a:rPr>
              <a:t>components.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35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-35" dirty="0"/>
              <a:t> </a:t>
            </a:r>
            <a:r>
              <a:rPr dirty="0"/>
              <a:t>Hyderabad</a:t>
            </a:r>
            <a:r>
              <a:rPr spc="-75" dirty="0"/>
              <a:t> </a:t>
            </a:r>
            <a:r>
              <a:rPr spc="-10" dirty="0"/>
              <a:t>Campus</a:t>
            </a: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165100" marR="5080">
              <a:lnSpc>
                <a:spcPts val="3600"/>
              </a:lnSpc>
              <a:spcBef>
                <a:spcPts val="819"/>
              </a:spcBef>
            </a:pPr>
            <a:r>
              <a:rPr sz="3600" i="0" spc="-120" dirty="0">
                <a:solidFill>
                  <a:srgbClr val="000000"/>
                </a:solidFill>
                <a:latin typeface="Arial"/>
                <a:cs typeface="Arial"/>
              </a:rPr>
              <a:t>Mapping</a:t>
            </a:r>
            <a:r>
              <a:rPr sz="3600" i="0" spc="-36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600" i="0" spc="-140" dirty="0">
                <a:solidFill>
                  <a:srgbClr val="000000"/>
                </a:solidFill>
                <a:latin typeface="Arial"/>
                <a:cs typeface="Arial"/>
              </a:rPr>
              <a:t>Multivalued </a:t>
            </a:r>
            <a:r>
              <a:rPr sz="3600" i="0" spc="-45" dirty="0">
                <a:solidFill>
                  <a:srgbClr val="000000"/>
                </a:solidFill>
                <a:latin typeface="Arial"/>
                <a:cs typeface="Arial"/>
              </a:rPr>
              <a:t>attributes</a:t>
            </a:r>
            <a:endParaRPr sz="3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8144" y="1449740"/>
            <a:ext cx="7818755" cy="3824604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363855" indent="-351155">
              <a:lnSpc>
                <a:spcPct val="100000"/>
              </a:lnSpc>
              <a:spcBef>
                <a:spcPts val="430"/>
              </a:spcBef>
              <a:buAutoNum type="arabicPeriod" startAt="7"/>
              <a:tabLst>
                <a:tab pos="363855" algn="l"/>
              </a:tabLst>
            </a:pPr>
            <a:r>
              <a:rPr sz="2800" spc="-114" dirty="0">
                <a:solidFill>
                  <a:srgbClr val="943735"/>
                </a:solidFill>
                <a:latin typeface="Arial"/>
                <a:cs typeface="Arial"/>
              </a:rPr>
              <a:t>Mapping</a:t>
            </a:r>
            <a:r>
              <a:rPr sz="2800" spc="-100" dirty="0">
                <a:solidFill>
                  <a:srgbClr val="943735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943735"/>
                </a:solidFill>
                <a:latin typeface="Arial"/>
                <a:cs typeface="Arial"/>
              </a:rPr>
              <a:t>of</a:t>
            </a:r>
            <a:r>
              <a:rPr sz="2800" spc="-120" dirty="0">
                <a:solidFill>
                  <a:srgbClr val="943735"/>
                </a:solidFill>
                <a:latin typeface="Arial"/>
                <a:cs typeface="Arial"/>
              </a:rPr>
              <a:t> </a:t>
            </a:r>
            <a:r>
              <a:rPr sz="2800" spc="-150" dirty="0">
                <a:solidFill>
                  <a:srgbClr val="943735"/>
                </a:solidFill>
                <a:latin typeface="Arial"/>
                <a:cs typeface="Arial"/>
              </a:rPr>
              <a:t>N-</a:t>
            </a:r>
            <a:r>
              <a:rPr sz="2800" spc="-105" dirty="0">
                <a:solidFill>
                  <a:srgbClr val="943735"/>
                </a:solidFill>
                <a:latin typeface="Arial"/>
                <a:cs typeface="Arial"/>
              </a:rPr>
              <a:t>ary</a:t>
            </a:r>
            <a:r>
              <a:rPr sz="2800" spc="-130" dirty="0">
                <a:solidFill>
                  <a:srgbClr val="943735"/>
                </a:solidFill>
                <a:latin typeface="Arial"/>
                <a:cs typeface="Arial"/>
              </a:rPr>
              <a:t> Relationship</a:t>
            </a:r>
            <a:r>
              <a:rPr sz="2800" spc="-170" dirty="0">
                <a:solidFill>
                  <a:srgbClr val="943735"/>
                </a:solidFill>
                <a:latin typeface="Arial"/>
                <a:cs typeface="Arial"/>
              </a:rPr>
              <a:t> </a:t>
            </a:r>
            <a:r>
              <a:rPr sz="2800" spc="-30" dirty="0">
                <a:solidFill>
                  <a:srgbClr val="943735"/>
                </a:solidFill>
                <a:latin typeface="Arial"/>
                <a:cs typeface="Arial"/>
              </a:rPr>
              <a:t>Types.</a:t>
            </a:r>
            <a:endParaRPr sz="2800">
              <a:latin typeface="Arial"/>
              <a:cs typeface="Arial"/>
            </a:endParaRPr>
          </a:p>
          <a:p>
            <a:pPr marL="812800" marR="340360" lvl="1" indent="-343535">
              <a:lnSpc>
                <a:spcPts val="3030"/>
              </a:lnSpc>
              <a:spcBef>
                <a:spcPts val="710"/>
              </a:spcBef>
              <a:buFont typeface="Wingdings"/>
              <a:buChar char=""/>
              <a:tabLst>
                <a:tab pos="814069" algn="l"/>
              </a:tabLst>
            </a:pPr>
            <a:r>
              <a:rPr sz="2800" spc="-185" dirty="0">
                <a:solidFill>
                  <a:srgbClr val="0F1141"/>
                </a:solidFill>
                <a:latin typeface="Arial"/>
                <a:cs typeface="Arial"/>
              </a:rPr>
              <a:t>For</a:t>
            </a:r>
            <a:r>
              <a:rPr sz="2800" spc="-12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195" dirty="0">
                <a:solidFill>
                  <a:srgbClr val="0F1141"/>
                </a:solidFill>
                <a:latin typeface="Arial"/>
                <a:cs typeface="Arial"/>
              </a:rPr>
              <a:t>each</a:t>
            </a:r>
            <a:r>
              <a:rPr sz="2800" spc="-12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110" dirty="0">
                <a:solidFill>
                  <a:srgbClr val="0F1141"/>
                </a:solidFill>
                <a:latin typeface="Arial"/>
                <a:cs typeface="Arial"/>
              </a:rPr>
              <a:t>n-</a:t>
            </a:r>
            <a:r>
              <a:rPr sz="2800" spc="-100" dirty="0">
                <a:solidFill>
                  <a:srgbClr val="0F1141"/>
                </a:solidFill>
                <a:latin typeface="Arial"/>
                <a:cs typeface="Arial"/>
              </a:rPr>
              <a:t>ary</a:t>
            </a:r>
            <a:r>
              <a:rPr sz="2800" spc="-15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85" dirty="0">
                <a:solidFill>
                  <a:srgbClr val="0F1141"/>
                </a:solidFill>
                <a:latin typeface="Arial"/>
                <a:cs typeface="Arial"/>
              </a:rPr>
              <a:t>relationship</a:t>
            </a:r>
            <a:r>
              <a:rPr sz="2800" spc="-14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70" dirty="0">
                <a:solidFill>
                  <a:srgbClr val="0F1141"/>
                </a:solidFill>
                <a:latin typeface="Arial"/>
                <a:cs typeface="Arial"/>
              </a:rPr>
              <a:t>type</a:t>
            </a:r>
            <a:r>
              <a:rPr sz="2800" spc="-14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290" dirty="0">
                <a:solidFill>
                  <a:srgbClr val="0F1141"/>
                </a:solidFill>
                <a:latin typeface="Arial"/>
                <a:cs typeface="Arial"/>
              </a:rPr>
              <a:t>R,</a:t>
            </a:r>
            <a:r>
              <a:rPr sz="2800" spc="-12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95" dirty="0">
                <a:solidFill>
                  <a:srgbClr val="0F1141"/>
                </a:solidFill>
                <a:latin typeface="Arial"/>
                <a:cs typeface="Arial"/>
              </a:rPr>
              <a:t>where</a:t>
            </a:r>
            <a:r>
              <a:rPr sz="2800" spc="-14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70" dirty="0">
                <a:solidFill>
                  <a:srgbClr val="0F1141"/>
                </a:solidFill>
                <a:latin typeface="Arial"/>
                <a:cs typeface="Arial"/>
              </a:rPr>
              <a:t>n&gt;2, 	</a:t>
            </a:r>
            <a:r>
              <a:rPr sz="2800" spc="-120" dirty="0">
                <a:solidFill>
                  <a:srgbClr val="0F1141"/>
                </a:solidFill>
                <a:latin typeface="Arial"/>
                <a:cs typeface="Arial"/>
              </a:rPr>
              <a:t>create</a:t>
            </a:r>
            <a:r>
              <a:rPr sz="2800" spc="-13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225" dirty="0">
                <a:solidFill>
                  <a:srgbClr val="0F1141"/>
                </a:solidFill>
                <a:latin typeface="Arial"/>
                <a:cs typeface="Arial"/>
              </a:rPr>
              <a:t>a</a:t>
            </a:r>
            <a:r>
              <a:rPr sz="2800" spc="-11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120" dirty="0">
                <a:solidFill>
                  <a:srgbClr val="0F1141"/>
                </a:solidFill>
                <a:latin typeface="Arial"/>
                <a:cs typeface="Arial"/>
              </a:rPr>
              <a:t>new</a:t>
            </a:r>
            <a:r>
              <a:rPr sz="2800" spc="-114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85" dirty="0">
                <a:solidFill>
                  <a:srgbClr val="0F1141"/>
                </a:solidFill>
                <a:latin typeface="Arial"/>
                <a:cs typeface="Arial"/>
              </a:rPr>
              <a:t>relationship</a:t>
            </a:r>
            <a:r>
              <a:rPr sz="2800" spc="-14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580" dirty="0">
                <a:solidFill>
                  <a:srgbClr val="0F1141"/>
                </a:solidFill>
                <a:latin typeface="Arial"/>
                <a:cs typeface="Arial"/>
              </a:rPr>
              <a:t>S</a:t>
            </a:r>
            <a:r>
              <a:rPr sz="2800" spc="-12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F1141"/>
                </a:solidFill>
                <a:latin typeface="Arial"/>
                <a:cs typeface="Arial"/>
              </a:rPr>
              <a:t>to</a:t>
            </a:r>
            <a:r>
              <a:rPr sz="2800" spc="-12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105" dirty="0">
                <a:solidFill>
                  <a:srgbClr val="0F1141"/>
                </a:solidFill>
                <a:latin typeface="Arial"/>
                <a:cs typeface="Arial"/>
              </a:rPr>
              <a:t>represent</a:t>
            </a:r>
            <a:r>
              <a:rPr sz="2800" spc="-114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300" dirty="0">
                <a:solidFill>
                  <a:srgbClr val="0F1141"/>
                </a:solidFill>
                <a:latin typeface="Arial"/>
                <a:cs typeface="Arial"/>
              </a:rPr>
              <a:t>R.</a:t>
            </a:r>
            <a:endParaRPr sz="2800">
              <a:latin typeface="Arial"/>
              <a:cs typeface="Arial"/>
            </a:endParaRPr>
          </a:p>
          <a:p>
            <a:pPr marL="812800" marR="5080" lvl="1" indent="-343535">
              <a:lnSpc>
                <a:spcPts val="3030"/>
              </a:lnSpc>
              <a:spcBef>
                <a:spcPts val="665"/>
              </a:spcBef>
              <a:buFont typeface="Wingdings"/>
              <a:buChar char=""/>
              <a:tabLst>
                <a:tab pos="814069" algn="l"/>
              </a:tabLst>
            </a:pPr>
            <a:r>
              <a:rPr sz="2800" spc="-125" dirty="0">
                <a:solidFill>
                  <a:srgbClr val="0F1141"/>
                </a:solidFill>
                <a:latin typeface="Arial"/>
                <a:cs typeface="Arial"/>
              </a:rPr>
              <a:t>Include</a:t>
            </a:r>
            <a:r>
              <a:rPr sz="2800" spc="-9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270" dirty="0">
                <a:solidFill>
                  <a:srgbClr val="0F1141"/>
                </a:solidFill>
                <a:latin typeface="Arial"/>
                <a:cs typeface="Arial"/>
              </a:rPr>
              <a:t>as</a:t>
            </a:r>
            <a:r>
              <a:rPr sz="2800" spc="-12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85" dirty="0">
                <a:solidFill>
                  <a:srgbClr val="0F1141"/>
                </a:solidFill>
                <a:latin typeface="Arial"/>
                <a:cs typeface="Arial"/>
              </a:rPr>
              <a:t>foreign</a:t>
            </a:r>
            <a:r>
              <a:rPr sz="2800" spc="-17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195" dirty="0">
                <a:solidFill>
                  <a:srgbClr val="0F1141"/>
                </a:solidFill>
                <a:latin typeface="Arial"/>
                <a:cs typeface="Arial"/>
              </a:rPr>
              <a:t>key</a:t>
            </a:r>
            <a:r>
              <a:rPr sz="2800" spc="-12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50" dirty="0">
                <a:solidFill>
                  <a:srgbClr val="0F1141"/>
                </a:solidFill>
                <a:latin typeface="Arial"/>
                <a:cs typeface="Arial"/>
              </a:rPr>
              <a:t>attributes</a:t>
            </a:r>
            <a:r>
              <a:rPr sz="2800" spc="-11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50" dirty="0">
                <a:solidFill>
                  <a:srgbClr val="0F1141"/>
                </a:solidFill>
                <a:latin typeface="Arial"/>
                <a:cs typeface="Arial"/>
              </a:rPr>
              <a:t>in</a:t>
            </a:r>
            <a:r>
              <a:rPr sz="2800" spc="-14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580" dirty="0">
                <a:solidFill>
                  <a:srgbClr val="0F1141"/>
                </a:solidFill>
                <a:latin typeface="Arial"/>
                <a:cs typeface="Arial"/>
              </a:rPr>
              <a:t>S</a:t>
            </a:r>
            <a:r>
              <a:rPr sz="2800" spc="-12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45" dirty="0">
                <a:solidFill>
                  <a:srgbClr val="0F1141"/>
                </a:solidFill>
                <a:latin typeface="Arial"/>
                <a:cs typeface="Arial"/>
              </a:rPr>
              <a:t>the</a:t>
            </a:r>
            <a:r>
              <a:rPr sz="2800" spc="-12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0F1141"/>
                </a:solidFill>
                <a:latin typeface="Arial"/>
                <a:cs typeface="Arial"/>
              </a:rPr>
              <a:t>primary 	</a:t>
            </a:r>
            <a:r>
              <a:rPr sz="2800" spc="-235" dirty="0">
                <a:solidFill>
                  <a:srgbClr val="0F1141"/>
                </a:solidFill>
                <a:latin typeface="Arial"/>
                <a:cs typeface="Arial"/>
              </a:rPr>
              <a:t>keys</a:t>
            </a:r>
            <a:r>
              <a:rPr sz="2800" spc="-13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F1141"/>
                </a:solidFill>
                <a:latin typeface="Arial"/>
                <a:cs typeface="Arial"/>
              </a:rPr>
              <a:t>of</a:t>
            </a:r>
            <a:r>
              <a:rPr sz="2800" spc="-13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40" dirty="0">
                <a:solidFill>
                  <a:srgbClr val="0F1141"/>
                </a:solidFill>
                <a:latin typeface="Arial"/>
                <a:cs typeface="Arial"/>
              </a:rPr>
              <a:t>the</a:t>
            </a:r>
            <a:r>
              <a:rPr sz="2800" spc="-12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85" dirty="0">
                <a:solidFill>
                  <a:srgbClr val="0F1141"/>
                </a:solidFill>
                <a:latin typeface="Arial"/>
                <a:cs typeface="Arial"/>
              </a:rPr>
              <a:t>relations</a:t>
            </a:r>
            <a:r>
              <a:rPr sz="2800" spc="-16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F1141"/>
                </a:solidFill>
                <a:latin typeface="Arial"/>
                <a:cs typeface="Arial"/>
              </a:rPr>
              <a:t>that</a:t>
            </a:r>
            <a:r>
              <a:rPr sz="2800" spc="-12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110" dirty="0">
                <a:solidFill>
                  <a:srgbClr val="0F1141"/>
                </a:solidFill>
                <a:latin typeface="Arial"/>
                <a:cs typeface="Arial"/>
              </a:rPr>
              <a:t>represent</a:t>
            </a:r>
            <a:r>
              <a:rPr sz="2800" spc="-14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25" dirty="0">
                <a:solidFill>
                  <a:srgbClr val="0F1141"/>
                </a:solidFill>
                <a:latin typeface="Arial"/>
                <a:cs typeface="Arial"/>
              </a:rPr>
              <a:t>the 	</a:t>
            </a:r>
            <a:r>
              <a:rPr sz="2800" spc="-70" dirty="0">
                <a:solidFill>
                  <a:srgbClr val="0F1141"/>
                </a:solidFill>
                <a:latin typeface="Arial"/>
                <a:cs typeface="Arial"/>
              </a:rPr>
              <a:t>participating</a:t>
            </a:r>
            <a:r>
              <a:rPr sz="2800" spc="-12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0F1141"/>
                </a:solidFill>
                <a:latin typeface="Arial"/>
                <a:cs typeface="Arial"/>
              </a:rPr>
              <a:t>entity</a:t>
            </a:r>
            <a:r>
              <a:rPr sz="2800" spc="-10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0F1141"/>
                </a:solidFill>
                <a:latin typeface="Arial"/>
                <a:cs typeface="Arial"/>
              </a:rPr>
              <a:t>types.</a:t>
            </a:r>
            <a:endParaRPr sz="2800">
              <a:latin typeface="Arial"/>
              <a:cs typeface="Arial"/>
            </a:endParaRPr>
          </a:p>
          <a:p>
            <a:pPr marL="812800" marR="358775" lvl="1" indent="-343535">
              <a:lnSpc>
                <a:spcPct val="90000"/>
              </a:lnSpc>
              <a:spcBef>
                <a:spcPts val="620"/>
              </a:spcBef>
              <a:buFont typeface="Wingdings"/>
              <a:buChar char=""/>
              <a:tabLst>
                <a:tab pos="814069" algn="l"/>
              </a:tabLst>
            </a:pPr>
            <a:r>
              <a:rPr sz="2800" spc="-155" dirty="0">
                <a:solidFill>
                  <a:srgbClr val="0F1141"/>
                </a:solidFill>
                <a:latin typeface="Arial"/>
                <a:cs typeface="Arial"/>
              </a:rPr>
              <a:t>Also </a:t>
            </a:r>
            <a:r>
              <a:rPr sz="2800" spc="-100" dirty="0">
                <a:solidFill>
                  <a:srgbClr val="0F1141"/>
                </a:solidFill>
                <a:latin typeface="Arial"/>
                <a:cs typeface="Arial"/>
              </a:rPr>
              <a:t>include</a:t>
            </a:r>
            <a:r>
              <a:rPr sz="2800" spc="-12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180" dirty="0">
                <a:solidFill>
                  <a:srgbClr val="0F1141"/>
                </a:solidFill>
                <a:latin typeface="Arial"/>
                <a:cs typeface="Arial"/>
              </a:rPr>
              <a:t>any</a:t>
            </a:r>
            <a:r>
              <a:rPr sz="2800" spc="-114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110" dirty="0">
                <a:solidFill>
                  <a:srgbClr val="0F1141"/>
                </a:solidFill>
                <a:latin typeface="Arial"/>
                <a:cs typeface="Arial"/>
              </a:rPr>
              <a:t>simple</a:t>
            </a:r>
            <a:r>
              <a:rPr sz="2800" spc="-14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50" dirty="0">
                <a:solidFill>
                  <a:srgbClr val="0F1141"/>
                </a:solidFill>
                <a:latin typeface="Arial"/>
                <a:cs typeface="Arial"/>
              </a:rPr>
              <a:t>attributes</a:t>
            </a:r>
            <a:r>
              <a:rPr sz="2800" spc="-13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F1141"/>
                </a:solidFill>
                <a:latin typeface="Arial"/>
                <a:cs typeface="Arial"/>
              </a:rPr>
              <a:t>of</a:t>
            </a:r>
            <a:r>
              <a:rPr sz="2800" spc="-15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40" dirty="0">
                <a:solidFill>
                  <a:srgbClr val="0F1141"/>
                </a:solidFill>
                <a:latin typeface="Arial"/>
                <a:cs typeface="Arial"/>
              </a:rPr>
              <a:t>the</a:t>
            </a:r>
            <a:r>
              <a:rPr sz="2800" spc="-12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130" dirty="0">
                <a:solidFill>
                  <a:srgbClr val="0F1141"/>
                </a:solidFill>
                <a:latin typeface="Arial"/>
                <a:cs typeface="Arial"/>
              </a:rPr>
              <a:t>n-</a:t>
            </a:r>
            <a:r>
              <a:rPr sz="2800" spc="-25" dirty="0">
                <a:solidFill>
                  <a:srgbClr val="0F1141"/>
                </a:solidFill>
                <a:latin typeface="Arial"/>
                <a:cs typeface="Arial"/>
              </a:rPr>
              <a:t>ary 	</a:t>
            </a:r>
            <a:r>
              <a:rPr sz="2800" spc="-85" dirty="0">
                <a:solidFill>
                  <a:srgbClr val="0F1141"/>
                </a:solidFill>
                <a:latin typeface="Arial"/>
                <a:cs typeface="Arial"/>
              </a:rPr>
              <a:t>relationship</a:t>
            </a:r>
            <a:r>
              <a:rPr sz="2800" spc="-12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65" dirty="0">
                <a:solidFill>
                  <a:srgbClr val="0F1141"/>
                </a:solidFill>
                <a:latin typeface="Arial"/>
                <a:cs typeface="Arial"/>
              </a:rPr>
              <a:t>type</a:t>
            </a:r>
            <a:r>
              <a:rPr sz="2800" spc="-114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60" dirty="0">
                <a:solidFill>
                  <a:srgbClr val="0F1141"/>
                </a:solidFill>
                <a:latin typeface="Arial"/>
                <a:cs typeface="Arial"/>
              </a:rPr>
              <a:t>(or</a:t>
            </a:r>
            <a:r>
              <a:rPr sz="2800" spc="-10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114" dirty="0">
                <a:solidFill>
                  <a:srgbClr val="0F1141"/>
                </a:solidFill>
                <a:latin typeface="Arial"/>
                <a:cs typeface="Arial"/>
              </a:rPr>
              <a:t>simple</a:t>
            </a:r>
            <a:r>
              <a:rPr sz="2800" spc="-12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130" dirty="0">
                <a:solidFill>
                  <a:srgbClr val="0F1141"/>
                </a:solidFill>
                <a:latin typeface="Arial"/>
                <a:cs typeface="Arial"/>
              </a:rPr>
              <a:t>components</a:t>
            </a:r>
            <a:r>
              <a:rPr sz="2800" spc="-8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25" dirty="0">
                <a:solidFill>
                  <a:srgbClr val="0F1141"/>
                </a:solidFill>
                <a:latin typeface="Arial"/>
                <a:cs typeface="Arial"/>
              </a:rPr>
              <a:t>of 	</a:t>
            </a:r>
            <a:r>
              <a:rPr sz="2800" spc="-110" dirty="0">
                <a:solidFill>
                  <a:srgbClr val="0F1141"/>
                </a:solidFill>
                <a:latin typeface="Arial"/>
                <a:cs typeface="Arial"/>
              </a:rPr>
              <a:t>composite</a:t>
            </a:r>
            <a:r>
              <a:rPr sz="2800" spc="-13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60" dirty="0">
                <a:solidFill>
                  <a:srgbClr val="0F1141"/>
                </a:solidFill>
                <a:latin typeface="Arial"/>
                <a:cs typeface="Arial"/>
              </a:rPr>
              <a:t>attributes)</a:t>
            </a:r>
            <a:r>
              <a:rPr sz="2800" spc="-14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270" dirty="0">
                <a:solidFill>
                  <a:srgbClr val="0F1141"/>
                </a:solidFill>
                <a:latin typeface="Arial"/>
                <a:cs typeface="Arial"/>
              </a:rPr>
              <a:t>as</a:t>
            </a:r>
            <a:r>
              <a:rPr sz="2800" spc="-10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50" dirty="0">
                <a:solidFill>
                  <a:srgbClr val="0F1141"/>
                </a:solidFill>
                <a:latin typeface="Arial"/>
                <a:cs typeface="Arial"/>
              </a:rPr>
              <a:t>attributes</a:t>
            </a:r>
            <a:r>
              <a:rPr sz="2800" spc="-12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F1141"/>
                </a:solidFill>
                <a:latin typeface="Arial"/>
                <a:cs typeface="Arial"/>
              </a:rPr>
              <a:t>of</a:t>
            </a:r>
            <a:r>
              <a:rPr sz="2800" spc="-14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360" dirty="0">
                <a:solidFill>
                  <a:srgbClr val="0F1141"/>
                </a:solidFill>
                <a:latin typeface="Arial"/>
                <a:cs typeface="Arial"/>
              </a:rPr>
              <a:t>S.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35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-35" dirty="0"/>
              <a:t> </a:t>
            </a:r>
            <a:r>
              <a:rPr dirty="0"/>
              <a:t>Hyderabad</a:t>
            </a:r>
            <a:r>
              <a:rPr spc="-75" dirty="0"/>
              <a:t> </a:t>
            </a:r>
            <a:r>
              <a:rPr spc="-10" dirty="0"/>
              <a:t>Campus</a:t>
            </a: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1300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100"/>
              </a:spcBef>
            </a:pPr>
            <a:r>
              <a:rPr sz="3600" i="0" spc="-120" dirty="0">
                <a:solidFill>
                  <a:srgbClr val="000000"/>
                </a:solidFill>
                <a:latin typeface="Arial"/>
                <a:cs typeface="Arial"/>
              </a:rPr>
              <a:t>Mapping</a:t>
            </a:r>
            <a:r>
              <a:rPr sz="3600" i="0" spc="-3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600" i="0" spc="-165" dirty="0">
                <a:solidFill>
                  <a:srgbClr val="000000"/>
                </a:solidFill>
                <a:latin typeface="Arial"/>
                <a:cs typeface="Arial"/>
              </a:rPr>
              <a:t>n-</a:t>
            </a:r>
            <a:r>
              <a:rPr sz="3600" i="0" spc="-114" dirty="0">
                <a:solidFill>
                  <a:srgbClr val="000000"/>
                </a:solidFill>
                <a:latin typeface="Arial"/>
                <a:cs typeface="Arial"/>
              </a:rPr>
              <a:t>ary</a:t>
            </a:r>
            <a:r>
              <a:rPr sz="3600" i="0" spc="-29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600" i="0" spc="-130" dirty="0">
                <a:solidFill>
                  <a:srgbClr val="000000"/>
                </a:solidFill>
                <a:latin typeface="Arial"/>
                <a:cs typeface="Arial"/>
              </a:rPr>
              <a:t>relationships</a:t>
            </a:r>
            <a:endParaRPr sz="3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8144" y="1490852"/>
            <a:ext cx="8066405" cy="2459990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12700" marR="310515" indent="914400">
              <a:lnSpc>
                <a:spcPts val="3020"/>
              </a:lnSpc>
              <a:spcBef>
                <a:spcPts val="490"/>
              </a:spcBef>
            </a:pPr>
            <a:r>
              <a:rPr sz="2800" spc="-175" dirty="0">
                <a:solidFill>
                  <a:srgbClr val="943735"/>
                </a:solidFill>
                <a:latin typeface="Arial"/>
                <a:cs typeface="Arial"/>
              </a:rPr>
              <a:t>Example:</a:t>
            </a:r>
            <a:r>
              <a:rPr sz="2800" spc="-145" dirty="0">
                <a:solidFill>
                  <a:srgbClr val="943735"/>
                </a:solidFill>
                <a:latin typeface="Arial"/>
                <a:cs typeface="Arial"/>
              </a:rPr>
              <a:t> </a:t>
            </a:r>
            <a:r>
              <a:rPr sz="2800" spc="-225" dirty="0">
                <a:solidFill>
                  <a:srgbClr val="0F1141"/>
                </a:solidFill>
                <a:latin typeface="Arial"/>
                <a:cs typeface="Arial"/>
              </a:rPr>
              <a:t>The</a:t>
            </a:r>
            <a:r>
              <a:rPr sz="2800" spc="-14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80" dirty="0">
                <a:solidFill>
                  <a:srgbClr val="0F1141"/>
                </a:solidFill>
                <a:latin typeface="Arial"/>
                <a:cs typeface="Arial"/>
              </a:rPr>
              <a:t>relationship</a:t>
            </a:r>
            <a:r>
              <a:rPr sz="2800" spc="-14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70" dirty="0">
                <a:solidFill>
                  <a:srgbClr val="0F1141"/>
                </a:solidFill>
                <a:latin typeface="Arial"/>
                <a:cs typeface="Arial"/>
              </a:rPr>
              <a:t>type</a:t>
            </a:r>
            <a:r>
              <a:rPr sz="2800" spc="-14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445" dirty="0">
                <a:solidFill>
                  <a:srgbClr val="0F1141"/>
                </a:solidFill>
                <a:latin typeface="Arial"/>
                <a:cs typeface="Arial"/>
              </a:rPr>
              <a:t>SUPPY</a:t>
            </a:r>
            <a:r>
              <a:rPr sz="2800" spc="-9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55" dirty="0">
                <a:solidFill>
                  <a:srgbClr val="0F1141"/>
                </a:solidFill>
                <a:latin typeface="Arial"/>
                <a:cs typeface="Arial"/>
              </a:rPr>
              <a:t>in</a:t>
            </a:r>
            <a:r>
              <a:rPr sz="2800" spc="-14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45" dirty="0">
                <a:solidFill>
                  <a:srgbClr val="0F1141"/>
                </a:solidFill>
                <a:latin typeface="Arial"/>
                <a:cs typeface="Arial"/>
              </a:rPr>
              <a:t>the</a:t>
            </a:r>
            <a:r>
              <a:rPr sz="2800" spc="-12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535" dirty="0">
                <a:solidFill>
                  <a:srgbClr val="0F1141"/>
                </a:solidFill>
                <a:latin typeface="Arial"/>
                <a:cs typeface="Arial"/>
              </a:rPr>
              <a:t>ER </a:t>
            </a:r>
            <a:r>
              <a:rPr sz="2800" spc="-105" dirty="0">
                <a:solidFill>
                  <a:srgbClr val="0F1141"/>
                </a:solidFill>
                <a:latin typeface="Arial"/>
                <a:cs typeface="Arial"/>
              </a:rPr>
              <a:t>on</a:t>
            </a:r>
            <a:r>
              <a:rPr sz="2800" spc="-15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45" dirty="0">
                <a:solidFill>
                  <a:srgbClr val="0F1141"/>
                </a:solidFill>
                <a:latin typeface="Arial"/>
                <a:cs typeface="Arial"/>
              </a:rPr>
              <a:t>the</a:t>
            </a:r>
            <a:r>
              <a:rPr sz="2800" spc="-12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100" dirty="0">
                <a:solidFill>
                  <a:srgbClr val="0F1141"/>
                </a:solidFill>
                <a:latin typeface="Arial"/>
                <a:cs typeface="Arial"/>
              </a:rPr>
              <a:t>next</a:t>
            </a:r>
            <a:r>
              <a:rPr sz="2800" spc="-114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0F1141"/>
                </a:solidFill>
                <a:latin typeface="Arial"/>
                <a:cs typeface="Arial"/>
              </a:rPr>
              <a:t>slide.</a:t>
            </a:r>
            <a:endParaRPr sz="2800">
              <a:latin typeface="Arial"/>
              <a:cs typeface="Arial"/>
            </a:endParaRPr>
          </a:p>
          <a:p>
            <a:pPr marL="812800" marR="5080" indent="-343535">
              <a:lnSpc>
                <a:spcPct val="90000"/>
              </a:lnSpc>
              <a:spcBef>
                <a:spcPts val="635"/>
              </a:spcBef>
              <a:buFont typeface="Wingdings"/>
              <a:buChar char=""/>
              <a:tabLst>
                <a:tab pos="814069" algn="l"/>
              </a:tabLst>
            </a:pPr>
            <a:r>
              <a:rPr sz="2800" spc="-195" dirty="0">
                <a:solidFill>
                  <a:srgbClr val="0F1141"/>
                </a:solidFill>
                <a:latin typeface="Arial"/>
                <a:cs typeface="Arial"/>
              </a:rPr>
              <a:t>This</a:t>
            </a:r>
            <a:r>
              <a:rPr sz="2800" spc="-12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200" dirty="0">
                <a:solidFill>
                  <a:srgbClr val="0F1141"/>
                </a:solidFill>
                <a:latin typeface="Arial"/>
                <a:cs typeface="Arial"/>
              </a:rPr>
              <a:t>can</a:t>
            </a:r>
            <a:r>
              <a:rPr sz="2800" spc="-11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150" dirty="0">
                <a:solidFill>
                  <a:srgbClr val="0F1141"/>
                </a:solidFill>
                <a:latin typeface="Arial"/>
                <a:cs typeface="Arial"/>
              </a:rPr>
              <a:t>be</a:t>
            </a:r>
            <a:r>
              <a:rPr sz="2800" spc="-11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150" dirty="0">
                <a:solidFill>
                  <a:srgbClr val="0F1141"/>
                </a:solidFill>
                <a:latin typeface="Arial"/>
                <a:cs typeface="Arial"/>
              </a:rPr>
              <a:t>mapped</a:t>
            </a:r>
            <a:r>
              <a:rPr sz="2800" spc="-9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F1141"/>
                </a:solidFill>
                <a:latin typeface="Arial"/>
                <a:cs typeface="Arial"/>
              </a:rPr>
              <a:t>to</a:t>
            </a:r>
            <a:r>
              <a:rPr sz="2800" spc="-11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45" dirty="0">
                <a:solidFill>
                  <a:srgbClr val="0F1141"/>
                </a:solidFill>
                <a:latin typeface="Arial"/>
                <a:cs typeface="Arial"/>
              </a:rPr>
              <a:t>the</a:t>
            </a:r>
            <a:r>
              <a:rPr sz="2800" spc="-11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60" dirty="0">
                <a:solidFill>
                  <a:srgbClr val="0F1141"/>
                </a:solidFill>
                <a:latin typeface="Arial"/>
                <a:cs typeface="Arial"/>
              </a:rPr>
              <a:t>relation</a:t>
            </a:r>
            <a:r>
              <a:rPr sz="2800" spc="-16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475" dirty="0">
                <a:solidFill>
                  <a:srgbClr val="0F1141"/>
                </a:solidFill>
                <a:latin typeface="Arial"/>
                <a:cs typeface="Arial"/>
              </a:rPr>
              <a:t>SUPPLY</a:t>
            </a:r>
            <a:r>
              <a:rPr sz="2800" spc="-10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0F1141"/>
                </a:solidFill>
                <a:latin typeface="Arial"/>
                <a:cs typeface="Arial"/>
              </a:rPr>
              <a:t>shown 	</a:t>
            </a:r>
            <a:r>
              <a:rPr sz="2800" spc="-45" dirty="0">
                <a:solidFill>
                  <a:srgbClr val="0F1141"/>
                </a:solidFill>
                <a:latin typeface="Arial"/>
                <a:cs typeface="Arial"/>
              </a:rPr>
              <a:t>in</a:t>
            </a:r>
            <a:r>
              <a:rPr sz="2800" spc="-11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45" dirty="0">
                <a:solidFill>
                  <a:srgbClr val="0F1141"/>
                </a:solidFill>
                <a:latin typeface="Arial"/>
                <a:cs typeface="Arial"/>
              </a:rPr>
              <a:t>the</a:t>
            </a:r>
            <a:r>
              <a:rPr sz="2800" spc="-13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70" dirty="0">
                <a:solidFill>
                  <a:srgbClr val="0F1141"/>
                </a:solidFill>
                <a:latin typeface="Arial"/>
                <a:cs typeface="Arial"/>
              </a:rPr>
              <a:t>relational</a:t>
            </a:r>
            <a:r>
              <a:rPr sz="2800" spc="-14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185" dirty="0">
                <a:solidFill>
                  <a:srgbClr val="0F1141"/>
                </a:solidFill>
                <a:latin typeface="Arial"/>
                <a:cs typeface="Arial"/>
              </a:rPr>
              <a:t>schema,</a:t>
            </a:r>
            <a:r>
              <a:rPr sz="2800" spc="-10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145" dirty="0">
                <a:solidFill>
                  <a:srgbClr val="0F1141"/>
                </a:solidFill>
                <a:latin typeface="Arial"/>
                <a:cs typeface="Arial"/>
              </a:rPr>
              <a:t>whose</a:t>
            </a:r>
            <a:r>
              <a:rPr sz="2800" spc="-114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70" dirty="0">
                <a:solidFill>
                  <a:srgbClr val="0F1141"/>
                </a:solidFill>
                <a:latin typeface="Arial"/>
                <a:cs typeface="Arial"/>
              </a:rPr>
              <a:t>primary</a:t>
            </a:r>
            <a:r>
              <a:rPr sz="2800" spc="-15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195" dirty="0">
                <a:solidFill>
                  <a:srgbClr val="0F1141"/>
                </a:solidFill>
                <a:latin typeface="Arial"/>
                <a:cs typeface="Arial"/>
              </a:rPr>
              <a:t>key</a:t>
            </a:r>
            <a:r>
              <a:rPr sz="2800" spc="-11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150" dirty="0">
                <a:solidFill>
                  <a:srgbClr val="0F1141"/>
                </a:solidFill>
                <a:latin typeface="Arial"/>
                <a:cs typeface="Arial"/>
              </a:rPr>
              <a:t>is</a:t>
            </a:r>
            <a:r>
              <a:rPr sz="2800" spc="-114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25" dirty="0">
                <a:solidFill>
                  <a:srgbClr val="0F1141"/>
                </a:solidFill>
                <a:latin typeface="Arial"/>
                <a:cs typeface="Arial"/>
              </a:rPr>
              <a:t>the 	</a:t>
            </a:r>
            <a:r>
              <a:rPr sz="2800" spc="-85" dirty="0">
                <a:solidFill>
                  <a:srgbClr val="0F1141"/>
                </a:solidFill>
                <a:latin typeface="Arial"/>
                <a:cs typeface="Arial"/>
              </a:rPr>
              <a:t>combination</a:t>
            </a:r>
            <a:r>
              <a:rPr sz="2800" spc="-14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F1141"/>
                </a:solidFill>
                <a:latin typeface="Arial"/>
                <a:cs typeface="Arial"/>
              </a:rPr>
              <a:t>of</a:t>
            </a:r>
            <a:r>
              <a:rPr sz="2800" spc="-12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40" dirty="0">
                <a:solidFill>
                  <a:srgbClr val="0F1141"/>
                </a:solidFill>
                <a:latin typeface="Arial"/>
                <a:cs typeface="Arial"/>
              </a:rPr>
              <a:t>the</a:t>
            </a:r>
            <a:r>
              <a:rPr sz="2800" spc="-114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70" dirty="0">
                <a:solidFill>
                  <a:srgbClr val="0F1141"/>
                </a:solidFill>
                <a:latin typeface="Arial"/>
                <a:cs typeface="Arial"/>
              </a:rPr>
              <a:t>three</a:t>
            </a:r>
            <a:r>
              <a:rPr sz="2800" spc="-12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85" dirty="0">
                <a:solidFill>
                  <a:srgbClr val="0F1141"/>
                </a:solidFill>
                <a:latin typeface="Arial"/>
                <a:cs typeface="Arial"/>
              </a:rPr>
              <a:t>foreign</a:t>
            </a:r>
            <a:r>
              <a:rPr sz="2800" spc="-19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235" dirty="0">
                <a:solidFill>
                  <a:srgbClr val="0F1141"/>
                </a:solidFill>
                <a:latin typeface="Arial"/>
                <a:cs typeface="Arial"/>
              </a:rPr>
              <a:t>keys</a:t>
            </a:r>
            <a:r>
              <a:rPr sz="2800" spc="-10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65" dirty="0">
                <a:solidFill>
                  <a:srgbClr val="0F1141"/>
                </a:solidFill>
                <a:latin typeface="Arial"/>
                <a:cs typeface="Arial"/>
              </a:rPr>
              <a:t>{SNAME, 	</a:t>
            </a:r>
            <a:r>
              <a:rPr sz="2800" spc="-355" dirty="0">
                <a:solidFill>
                  <a:srgbClr val="0F1141"/>
                </a:solidFill>
                <a:latin typeface="Arial"/>
                <a:cs typeface="Arial"/>
              </a:rPr>
              <a:t>PARTNO,</a:t>
            </a:r>
            <a:r>
              <a:rPr sz="2800" spc="-12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800" spc="-330" dirty="0">
                <a:solidFill>
                  <a:srgbClr val="0F1141"/>
                </a:solidFill>
                <a:latin typeface="Arial"/>
                <a:cs typeface="Arial"/>
              </a:rPr>
              <a:t>PROJNAME}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35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-35" dirty="0"/>
              <a:t> </a:t>
            </a:r>
            <a:r>
              <a:rPr dirty="0"/>
              <a:t>Hyderabad</a:t>
            </a:r>
            <a:r>
              <a:rPr spc="-75" dirty="0"/>
              <a:t> </a:t>
            </a:r>
            <a:r>
              <a:rPr spc="-10" dirty="0"/>
              <a:t>Campus</a:t>
            </a: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1300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100"/>
              </a:spcBef>
            </a:pPr>
            <a:r>
              <a:rPr sz="3600" i="0" spc="-120" dirty="0">
                <a:solidFill>
                  <a:srgbClr val="000000"/>
                </a:solidFill>
                <a:latin typeface="Arial"/>
                <a:cs typeface="Arial"/>
              </a:rPr>
              <a:t>Mapping</a:t>
            </a:r>
            <a:r>
              <a:rPr sz="3600" i="0" spc="-3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600" i="0" spc="-165" dirty="0">
                <a:solidFill>
                  <a:srgbClr val="000000"/>
                </a:solidFill>
                <a:latin typeface="Arial"/>
                <a:cs typeface="Arial"/>
              </a:rPr>
              <a:t>n-</a:t>
            </a:r>
            <a:r>
              <a:rPr sz="3600" i="0" spc="-114" dirty="0">
                <a:solidFill>
                  <a:srgbClr val="000000"/>
                </a:solidFill>
                <a:latin typeface="Arial"/>
                <a:cs typeface="Arial"/>
              </a:rPr>
              <a:t>ary</a:t>
            </a:r>
            <a:r>
              <a:rPr sz="3600" i="0" spc="-29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600" i="0" spc="-130" dirty="0">
                <a:solidFill>
                  <a:srgbClr val="000000"/>
                </a:solidFill>
                <a:latin typeface="Arial"/>
                <a:cs typeface="Arial"/>
              </a:rPr>
              <a:t>relationships</a:t>
            </a:r>
            <a:endParaRPr sz="3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9834" y="1507303"/>
            <a:ext cx="6927970" cy="473494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spc="-10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35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-35" dirty="0"/>
              <a:t> </a:t>
            </a:r>
            <a:r>
              <a:rPr dirty="0"/>
              <a:t>Hyderabad</a:t>
            </a:r>
            <a:r>
              <a:rPr spc="-75" dirty="0"/>
              <a:t> </a:t>
            </a:r>
            <a:r>
              <a:rPr spc="-10" dirty="0"/>
              <a:t>Campus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2469" y="1447815"/>
            <a:ext cx="8058249" cy="480058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35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-35" dirty="0"/>
              <a:t> </a:t>
            </a:r>
            <a:r>
              <a:rPr dirty="0"/>
              <a:t>Hyderabad</a:t>
            </a:r>
            <a:r>
              <a:rPr spc="-75" dirty="0"/>
              <a:t> </a:t>
            </a:r>
            <a:r>
              <a:rPr spc="-10" dirty="0"/>
              <a:t>Campus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370C6B-393D-FE58-B566-6583597B81CF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>
              <a:lnSpc>
                <a:spcPct val="100000"/>
              </a:lnSpc>
            </a:pPr>
            <a:endParaRPr lang="en-US" spc="-1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3700" rIns="0" bIns="0" rtlCol="0">
            <a:spAutoFit/>
          </a:bodyPr>
          <a:lstStyle/>
          <a:p>
            <a:pPr marL="317500">
              <a:lnSpc>
                <a:spcPct val="100000"/>
              </a:lnSpc>
              <a:spcBef>
                <a:spcPts val="100"/>
              </a:spcBef>
            </a:pPr>
            <a:r>
              <a:rPr sz="3600" i="0" spc="-130" dirty="0">
                <a:solidFill>
                  <a:srgbClr val="000000"/>
                </a:solidFill>
                <a:latin typeface="Arial"/>
                <a:cs typeface="Arial"/>
              </a:rPr>
              <a:t>Mapping</a:t>
            </a:r>
            <a:r>
              <a:rPr sz="3600" i="0" spc="-3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600" i="0" spc="-130" dirty="0">
                <a:solidFill>
                  <a:srgbClr val="000000"/>
                </a:solidFill>
                <a:latin typeface="Arial"/>
                <a:cs typeface="Arial"/>
              </a:rPr>
              <a:t>class</a:t>
            </a:r>
            <a:r>
              <a:rPr sz="3600" i="0" spc="-254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600" i="0" spc="-130" dirty="0">
                <a:solidFill>
                  <a:srgbClr val="000000"/>
                </a:solidFill>
                <a:latin typeface="Arial"/>
                <a:cs typeface="Arial"/>
              </a:rPr>
              <a:t>hierarchies</a:t>
            </a:r>
            <a:endParaRPr sz="36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35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-35" dirty="0"/>
              <a:t> </a:t>
            </a:r>
            <a:r>
              <a:rPr dirty="0"/>
              <a:t>Hyderabad</a:t>
            </a:r>
            <a:r>
              <a:rPr spc="-75" dirty="0"/>
              <a:t> </a:t>
            </a:r>
            <a:r>
              <a:rPr spc="-10" dirty="0"/>
              <a:t>Campus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We</a:t>
            </a:r>
            <a:r>
              <a:rPr spc="-65" dirty="0"/>
              <a:t> </a:t>
            </a:r>
            <a:r>
              <a:rPr dirty="0"/>
              <a:t>have</a:t>
            </a:r>
            <a:r>
              <a:rPr spc="-70" dirty="0"/>
              <a:t> </a:t>
            </a:r>
            <a:r>
              <a:rPr dirty="0"/>
              <a:t>4</a:t>
            </a:r>
            <a:r>
              <a:rPr spc="-60" dirty="0"/>
              <a:t> </a:t>
            </a:r>
            <a:r>
              <a:rPr dirty="0"/>
              <a:t>different</a:t>
            </a:r>
            <a:r>
              <a:rPr spc="-70" dirty="0"/>
              <a:t> </a:t>
            </a:r>
            <a:r>
              <a:rPr spc="-10" dirty="0"/>
              <a:t>approaches:</a:t>
            </a:r>
          </a:p>
          <a:p>
            <a:pPr>
              <a:lnSpc>
                <a:spcPct val="100000"/>
              </a:lnSpc>
              <a:spcBef>
                <a:spcPts val="1060"/>
              </a:spcBef>
            </a:pPr>
            <a:endParaRPr spc="-10" dirty="0"/>
          </a:p>
          <a:p>
            <a:pPr marL="12700">
              <a:lnSpc>
                <a:spcPct val="100000"/>
              </a:lnSpc>
            </a:pPr>
            <a:r>
              <a:rPr dirty="0">
                <a:solidFill>
                  <a:srgbClr val="0F1141"/>
                </a:solidFill>
              </a:rPr>
              <a:t>A:</a:t>
            </a:r>
            <a:r>
              <a:rPr spc="-55" dirty="0">
                <a:solidFill>
                  <a:srgbClr val="0F1141"/>
                </a:solidFill>
              </a:rPr>
              <a:t> </a:t>
            </a:r>
            <a:r>
              <a:rPr dirty="0">
                <a:solidFill>
                  <a:srgbClr val="0F1141"/>
                </a:solidFill>
              </a:rPr>
              <a:t>Multiple</a:t>
            </a:r>
            <a:r>
              <a:rPr spc="-25" dirty="0">
                <a:solidFill>
                  <a:srgbClr val="0F1141"/>
                </a:solidFill>
              </a:rPr>
              <a:t> </a:t>
            </a:r>
            <a:r>
              <a:rPr dirty="0">
                <a:solidFill>
                  <a:srgbClr val="0F1141"/>
                </a:solidFill>
              </a:rPr>
              <a:t>relations</a:t>
            </a:r>
            <a:r>
              <a:rPr spc="-45" dirty="0">
                <a:solidFill>
                  <a:srgbClr val="0F1141"/>
                </a:solidFill>
              </a:rPr>
              <a:t> </a:t>
            </a:r>
            <a:r>
              <a:rPr dirty="0">
                <a:solidFill>
                  <a:srgbClr val="0F1141"/>
                </a:solidFill>
              </a:rPr>
              <a:t>:</a:t>
            </a:r>
            <a:r>
              <a:rPr spc="-75" dirty="0">
                <a:solidFill>
                  <a:srgbClr val="0F1141"/>
                </a:solidFill>
              </a:rPr>
              <a:t> </a:t>
            </a:r>
            <a:r>
              <a:rPr dirty="0">
                <a:solidFill>
                  <a:srgbClr val="0F1141"/>
                </a:solidFill>
              </a:rPr>
              <a:t>super</a:t>
            </a:r>
            <a:r>
              <a:rPr spc="-45" dirty="0">
                <a:solidFill>
                  <a:srgbClr val="0F1141"/>
                </a:solidFill>
              </a:rPr>
              <a:t> </a:t>
            </a:r>
            <a:r>
              <a:rPr dirty="0">
                <a:solidFill>
                  <a:srgbClr val="0F1141"/>
                </a:solidFill>
              </a:rPr>
              <a:t>class</a:t>
            </a:r>
            <a:r>
              <a:rPr spc="-45" dirty="0">
                <a:solidFill>
                  <a:srgbClr val="0F1141"/>
                </a:solidFill>
              </a:rPr>
              <a:t> </a:t>
            </a:r>
            <a:r>
              <a:rPr dirty="0">
                <a:solidFill>
                  <a:srgbClr val="0F1141"/>
                </a:solidFill>
              </a:rPr>
              <a:t>and</a:t>
            </a:r>
            <a:r>
              <a:rPr spc="-35" dirty="0">
                <a:solidFill>
                  <a:srgbClr val="0F1141"/>
                </a:solidFill>
              </a:rPr>
              <a:t> </a:t>
            </a:r>
            <a:r>
              <a:rPr dirty="0">
                <a:solidFill>
                  <a:srgbClr val="0F1141"/>
                </a:solidFill>
              </a:rPr>
              <a:t>sub</a:t>
            </a:r>
            <a:r>
              <a:rPr spc="-55" dirty="0">
                <a:solidFill>
                  <a:srgbClr val="0F1141"/>
                </a:solidFill>
              </a:rPr>
              <a:t> </a:t>
            </a:r>
            <a:r>
              <a:rPr spc="-10" dirty="0">
                <a:solidFill>
                  <a:srgbClr val="0F1141"/>
                </a:solidFill>
              </a:rPr>
              <a:t>classes</a:t>
            </a: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>
                <a:solidFill>
                  <a:srgbClr val="00AF50"/>
                </a:solidFill>
              </a:rPr>
              <a:t>(used</a:t>
            </a:r>
            <a:r>
              <a:rPr spc="-35" dirty="0">
                <a:solidFill>
                  <a:srgbClr val="00AF50"/>
                </a:solidFill>
              </a:rPr>
              <a:t> </a:t>
            </a:r>
            <a:r>
              <a:rPr dirty="0">
                <a:solidFill>
                  <a:srgbClr val="00AF50"/>
                </a:solidFill>
              </a:rPr>
              <a:t>for</a:t>
            </a:r>
            <a:r>
              <a:rPr spc="-40" dirty="0">
                <a:solidFill>
                  <a:srgbClr val="00AF50"/>
                </a:solidFill>
              </a:rPr>
              <a:t> </a:t>
            </a:r>
            <a:r>
              <a:rPr dirty="0">
                <a:solidFill>
                  <a:srgbClr val="00AF50"/>
                </a:solidFill>
              </a:rPr>
              <a:t>all</a:t>
            </a:r>
            <a:r>
              <a:rPr spc="-40" dirty="0">
                <a:solidFill>
                  <a:srgbClr val="00AF50"/>
                </a:solidFill>
              </a:rPr>
              <a:t> </a:t>
            </a:r>
            <a:r>
              <a:rPr spc="-10" dirty="0">
                <a:solidFill>
                  <a:srgbClr val="00AF50"/>
                </a:solidFill>
              </a:rPr>
              <a:t>specializations)</a:t>
            </a:r>
          </a:p>
          <a:p>
            <a:pPr marL="12700" marR="1336040">
              <a:lnSpc>
                <a:spcPct val="120000"/>
              </a:lnSpc>
            </a:pPr>
            <a:r>
              <a:rPr dirty="0">
                <a:solidFill>
                  <a:srgbClr val="0F1141"/>
                </a:solidFill>
              </a:rPr>
              <a:t>B.</a:t>
            </a:r>
            <a:r>
              <a:rPr spc="-90" dirty="0">
                <a:solidFill>
                  <a:srgbClr val="0F1141"/>
                </a:solidFill>
              </a:rPr>
              <a:t> </a:t>
            </a:r>
            <a:r>
              <a:rPr dirty="0">
                <a:solidFill>
                  <a:srgbClr val="0F1141"/>
                </a:solidFill>
              </a:rPr>
              <a:t>Multiple</a:t>
            </a:r>
            <a:r>
              <a:rPr spc="-50" dirty="0">
                <a:solidFill>
                  <a:srgbClr val="0F1141"/>
                </a:solidFill>
              </a:rPr>
              <a:t> </a:t>
            </a:r>
            <a:r>
              <a:rPr dirty="0">
                <a:solidFill>
                  <a:srgbClr val="0F1141"/>
                </a:solidFill>
              </a:rPr>
              <a:t>relations:</a:t>
            </a:r>
            <a:r>
              <a:rPr spc="-65" dirty="0">
                <a:solidFill>
                  <a:srgbClr val="0F1141"/>
                </a:solidFill>
              </a:rPr>
              <a:t> </a:t>
            </a:r>
            <a:r>
              <a:rPr dirty="0">
                <a:solidFill>
                  <a:srgbClr val="0F1141"/>
                </a:solidFill>
              </a:rPr>
              <a:t>subclass</a:t>
            </a:r>
            <a:r>
              <a:rPr spc="-80" dirty="0">
                <a:solidFill>
                  <a:srgbClr val="0F1141"/>
                </a:solidFill>
              </a:rPr>
              <a:t> </a:t>
            </a:r>
            <a:r>
              <a:rPr dirty="0">
                <a:solidFill>
                  <a:srgbClr val="0F1141"/>
                </a:solidFill>
              </a:rPr>
              <a:t>relations</a:t>
            </a:r>
            <a:r>
              <a:rPr spc="-75" dirty="0">
                <a:solidFill>
                  <a:srgbClr val="0F1141"/>
                </a:solidFill>
              </a:rPr>
              <a:t> </a:t>
            </a:r>
            <a:r>
              <a:rPr spc="-20" dirty="0">
                <a:solidFill>
                  <a:srgbClr val="0F1141"/>
                </a:solidFill>
              </a:rPr>
              <a:t>only </a:t>
            </a:r>
            <a:r>
              <a:rPr dirty="0">
                <a:solidFill>
                  <a:srgbClr val="00AF50"/>
                </a:solidFill>
              </a:rPr>
              <a:t>(best</a:t>
            </a:r>
            <a:r>
              <a:rPr spc="-60" dirty="0">
                <a:solidFill>
                  <a:srgbClr val="00AF50"/>
                </a:solidFill>
              </a:rPr>
              <a:t> </a:t>
            </a:r>
            <a:r>
              <a:rPr dirty="0">
                <a:solidFill>
                  <a:srgbClr val="00AF50"/>
                </a:solidFill>
              </a:rPr>
              <a:t>suited</a:t>
            </a:r>
            <a:r>
              <a:rPr spc="-60" dirty="0">
                <a:solidFill>
                  <a:srgbClr val="00AF50"/>
                </a:solidFill>
              </a:rPr>
              <a:t> </a:t>
            </a:r>
            <a:r>
              <a:rPr dirty="0">
                <a:solidFill>
                  <a:srgbClr val="00AF50"/>
                </a:solidFill>
              </a:rPr>
              <a:t>for</a:t>
            </a:r>
            <a:r>
              <a:rPr spc="-65" dirty="0">
                <a:solidFill>
                  <a:srgbClr val="00AF50"/>
                </a:solidFill>
              </a:rPr>
              <a:t> </a:t>
            </a:r>
            <a:r>
              <a:rPr dirty="0">
                <a:solidFill>
                  <a:srgbClr val="00AF50"/>
                </a:solidFill>
              </a:rPr>
              <a:t>disjoint</a:t>
            </a:r>
            <a:r>
              <a:rPr spc="-55" dirty="0">
                <a:solidFill>
                  <a:srgbClr val="00AF50"/>
                </a:solidFill>
              </a:rPr>
              <a:t> </a:t>
            </a:r>
            <a:r>
              <a:rPr dirty="0">
                <a:solidFill>
                  <a:srgbClr val="00AF50"/>
                </a:solidFill>
              </a:rPr>
              <a:t>specialization</a:t>
            </a:r>
            <a:r>
              <a:rPr spc="-55" dirty="0">
                <a:solidFill>
                  <a:srgbClr val="00AF50"/>
                </a:solidFill>
              </a:rPr>
              <a:t> </a:t>
            </a:r>
            <a:r>
              <a:rPr spc="-50" dirty="0">
                <a:solidFill>
                  <a:srgbClr val="00AF50"/>
                </a:solidFill>
              </a:rPr>
              <a:t>)</a:t>
            </a: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>
                <a:solidFill>
                  <a:srgbClr val="0F1141"/>
                </a:solidFill>
              </a:rPr>
              <a:t>C.</a:t>
            </a:r>
            <a:r>
              <a:rPr spc="-65" dirty="0">
                <a:solidFill>
                  <a:srgbClr val="0F1141"/>
                </a:solidFill>
              </a:rPr>
              <a:t> </a:t>
            </a:r>
            <a:r>
              <a:rPr dirty="0">
                <a:solidFill>
                  <a:srgbClr val="0F1141"/>
                </a:solidFill>
              </a:rPr>
              <a:t>Single</a:t>
            </a:r>
            <a:r>
              <a:rPr spc="-35" dirty="0">
                <a:solidFill>
                  <a:srgbClr val="0F1141"/>
                </a:solidFill>
              </a:rPr>
              <a:t> </a:t>
            </a:r>
            <a:r>
              <a:rPr dirty="0">
                <a:solidFill>
                  <a:srgbClr val="0F1141"/>
                </a:solidFill>
              </a:rPr>
              <a:t>relation</a:t>
            </a:r>
            <a:r>
              <a:rPr spc="-25" dirty="0">
                <a:solidFill>
                  <a:srgbClr val="0F1141"/>
                </a:solidFill>
              </a:rPr>
              <a:t> </a:t>
            </a:r>
            <a:r>
              <a:rPr dirty="0">
                <a:solidFill>
                  <a:srgbClr val="0F1141"/>
                </a:solidFill>
              </a:rPr>
              <a:t>with</a:t>
            </a:r>
            <a:r>
              <a:rPr spc="-65" dirty="0">
                <a:solidFill>
                  <a:srgbClr val="0F1141"/>
                </a:solidFill>
              </a:rPr>
              <a:t> </a:t>
            </a:r>
            <a:r>
              <a:rPr dirty="0">
                <a:solidFill>
                  <a:srgbClr val="0F1141"/>
                </a:solidFill>
              </a:rPr>
              <a:t>type</a:t>
            </a:r>
            <a:r>
              <a:rPr spc="-50" dirty="0">
                <a:solidFill>
                  <a:srgbClr val="0F1141"/>
                </a:solidFill>
              </a:rPr>
              <a:t> </a:t>
            </a:r>
            <a:r>
              <a:rPr spc="-10" dirty="0">
                <a:solidFill>
                  <a:srgbClr val="0F1141"/>
                </a:solidFill>
              </a:rPr>
              <a:t>attribute</a:t>
            </a: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dirty="0">
                <a:solidFill>
                  <a:srgbClr val="00AF50"/>
                </a:solidFill>
              </a:rPr>
              <a:t>(best</a:t>
            </a:r>
            <a:r>
              <a:rPr spc="-45" dirty="0">
                <a:solidFill>
                  <a:srgbClr val="00AF50"/>
                </a:solidFill>
              </a:rPr>
              <a:t> </a:t>
            </a:r>
            <a:r>
              <a:rPr dirty="0">
                <a:solidFill>
                  <a:srgbClr val="00AF50"/>
                </a:solidFill>
              </a:rPr>
              <a:t>for</a:t>
            </a:r>
            <a:r>
              <a:rPr spc="-55" dirty="0">
                <a:solidFill>
                  <a:srgbClr val="00AF50"/>
                </a:solidFill>
              </a:rPr>
              <a:t> </a:t>
            </a:r>
            <a:r>
              <a:rPr dirty="0">
                <a:solidFill>
                  <a:srgbClr val="00AF50"/>
                </a:solidFill>
              </a:rPr>
              <a:t>disjoint</a:t>
            </a:r>
            <a:r>
              <a:rPr spc="-65" dirty="0">
                <a:solidFill>
                  <a:srgbClr val="00AF50"/>
                </a:solidFill>
              </a:rPr>
              <a:t> </a:t>
            </a:r>
            <a:r>
              <a:rPr dirty="0">
                <a:solidFill>
                  <a:srgbClr val="00AF50"/>
                </a:solidFill>
              </a:rPr>
              <a:t>and</a:t>
            </a:r>
            <a:r>
              <a:rPr spc="-25" dirty="0">
                <a:solidFill>
                  <a:srgbClr val="00AF50"/>
                </a:solidFill>
              </a:rPr>
              <a:t> </a:t>
            </a:r>
            <a:r>
              <a:rPr dirty="0">
                <a:solidFill>
                  <a:srgbClr val="00AF50"/>
                </a:solidFill>
              </a:rPr>
              <a:t>with</a:t>
            </a:r>
            <a:r>
              <a:rPr spc="-65" dirty="0">
                <a:solidFill>
                  <a:srgbClr val="00AF50"/>
                </a:solidFill>
              </a:rPr>
              <a:t> </a:t>
            </a:r>
            <a:r>
              <a:rPr dirty="0">
                <a:solidFill>
                  <a:srgbClr val="00AF50"/>
                </a:solidFill>
              </a:rPr>
              <a:t>few</a:t>
            </a:r>
            <a:r>
              <a:rPr spc="-70" dirty="0">
                <a:solidFill>
                  <a:srgbClr val="00AF50"/>
                </a:solidFill>
              </a:rPr>
              <a:t> </a:t>
            </a:r>
            <a:r>
              <a:rPr dirty="0">
                <a:solidFill>
                  <a:srgbClr val="00AF50"/>
                </a:solidFill>
              </a:rPr>
              <a:t>specific</a:t>
            </a:r>
            <a:r>
              <a:rPr spc="-30" dirty="0">
                <a:solidFill>
                  <a:srgbClr val="00AF50"/>
                </a:solidFill>
              </a:rPr>
              <a:t> </a:t>
            </a:r>
            <a:r>
              <a:rPr spc="-10" dirty="0">
                <a:solidFill>
                  <a:srgbClr val="00AF50"/>
                </a:solidFill>
              </a:rPr>
              <a:t>attributes)</a:t>
            </a: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dirty="0">
                <a:solidFill>
                  <a:srgbClr val="0F1141"/>
                </a:solidFill>
              </a:rPr>
              <a:t>D.</a:t>
            </a:r>
            <a:r>
              <a:rPr spc="-60" dirty="0">
                <a:solidFill>
                  <a:srgbClr val="0F1141"/>
                </a:solidFill>
              </a:rPr>
              <a:t> </a:t>
            </a:r>
            <a:r>
              <a:rPr dirty="0">
                <a:solidFill>
                  <a:srgbClr val="0F1141"/>
                </a:solidFill>
              </a:rPr>
              <a:t>Single</a:t>
            </a:r>
            <a:r>
              <a:rPr spc="-40" dirty="0">
                <a:solidFill>
                  <a:srgbClr val="0F1141"/>
                </a:solidFill>
              </a:rPr>
              <a:t> </a:t>
            </a:r>
            <a:r>
              <a:rPr dirty="0">
                <a:solidFill>
                  <a:srgbClr val="0F1141"/>
                </a:solidFill>
              </a:rPr>
              <a:t>relation</a:t>
            </a:r>
            <a:r>
              <a:rPr spc="-30" dirty="0">
                <a:solidFill>
                  <a:srgbClr val="0F1141"/>
                </a:solidFill>
              </a:rPr>
              <a:t> </a:t>
            </a:r>
            <a:r>
              <a:rPr dirty="0">
                <a:solidFill>
                  <a:srgbClr val="0F1141"/>
                </a:solidFill>
              </a:rPr>
              <a:t>with</a:t>
            </a:r>
            <a:r>
              <a:rPr spc="-70" dirty="0">
                <a:solidFill>
                  <a:srgbClr val="0F1141"/>
                </a:solidFill>
              </a:rPr>
              <a:t> </a:t>
            </a:r>
            <a:r>
              <a:rPr dirty="0">
                <a:solidFill>
                  <a:srgbClr val="0F1141"/>
                </a:solidFill>
              </a:rPr>
              <a:t>multiple</a:t>
            </a:r>
            <a:r>
              <a:rPr spc="-80" dirty="0">
                <a:solidFill>
                  <a:srgbClr val="0F1141"/>
                </a:solidFill>
              </a:rPr>
              <a:t> </a:t>
            </a:r>
            <a:r>
              <a:rPr dirty="0">
                <a:solidFill>
                  <a:srgbClr val="0F1141"/>
                </a:solidFill>
              </a:rPr>
              <a:t>type</a:t>
            </a:r>
            <a:r>
              <a:rPr spc="-35" dirty="0">
                <a:solidFill>
                  <a:srgbClr val="0F1141"/>
                </a:solidFill>
              </a:rPr>
              <a:t> </a:t>
            </a:r>
            <a:r>
              <a:rPr spc="-10" dirty="0">
                <a:solidFill>
                  <a:srgbClr val="0F1141"/>
                </a:solidFill>
              </a:rPr>
              <a:t>attributes</a:t>
            </a: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dirty="0">
                <a:solidFill>
                  <a:srgbClr val="00AF50"/>
                </a:solidFill>
              </a:rPr>
              <a:t>(best</a:t>
            </a:r>
            <a:r>
              <a:rPr spc="-55" dirty="0">
                <a:solidFill>
                  <a:srgbClr val="00AF50"/>
                </a:solidFill>
              </a:rPr>
              <a:t> </a:t>
            </a:r>
            <a:r>
              <a:rPr dirty="0">
                <a:solidFill>
                  <a:srgbClr val="00AF50"/>
                </a:solidFill>
              </a:rPr>
              <a:t>for</a:t>
            </a:r>
            <a:r>
              <a:rPr spc="-50" dirty="0">
                <a:solidFill>
                  <a:srgbClr val="00AF50"/>
                </a:solidFill>
              </a:rPr>
              <a:t> </a:t>
            </a:r>
            <a:r>
              <a:rPr dirty="0">
                <a:solidFill>
                  <a:srgbClr val="00AF50"/>
                </a:solidFill>
              </a:rPr>
              <a:t>overlapping</a:t>
            </a:r>
            <a:r>
              <a:rPr spc="-25" dirty="0">
                <a:solidFill>
                  <a:srgbClr val="00AF50"/>
                </a:solidFill>
              </a:rPr>
              <a:t> </a:t>
            </a:r>
            <a:r>
              <a:rPr spc="-10" dirty="0">
                <a:solidFill>
                  <a:srgbClr val="00AF50"/>
                </a:solidFill>
              </a:rPr>
              <a:t>sub-</a:t>
            </a:r>
            <a:r>
              <a:rPr dirty="0">
                <a:solidFill>
                  <a:srgbClr val="00AF50"/>
                </a:solidFill>
              </a:rPr>
              <a:t>classing</a:t>
            </a:r>
            <a:r>
              <a:rPr spc="-25" dirty="0">
                <a:solidFill>
                  <a:srgbClr val="00AF50"/>
                </a:solidFill>
              </a:rPr>
              <a:t> </a:t>
            </a:r>
            <a:r>
              <a:rPr dirty="0">
                <a:solidFill>
                  <a:srgbClr val="00AF50"/>
                </a:solidFill>
              </a:rPr>
              <a:t>and</a:t>
            </a:r>
            <a:r>
              <a:rPr spc="-25" dirty="0">
                <a:solidFill>
                  <a:srgbClr val="00AF50"/>
                </a:solidFill>
              </a:rPr>
              <a:t> </a:t>
            </a:r>
            <a:r>
              <a:rPr dirty="0">
                <a:solidFill>
                  <a:srgbClr val="00AF50"/>
                </a:solidFill>
              </a:rPr>
              <a:t>can</a:t>
            </a:r>
            <a:r>
              <a:rPr spc="-50" dirty="0">
                <a:solidFill>
                  <a:srgbClr val="00AF50"/>
                </a:solidFill>
              </a:rPr>
              <a:t> </a:t>
            </a:r>
            <a:r>
              <a:rPr dirty="0">
                <a:solidFill>
                  <a:srgbClr val="00AF50"/>
                </a:solidFill>
              </a:rPr>
              <a:t>work</a:t>
            </a:r>
            <a:r>
              <a:rPr spc="-35" dirty="0">
                <a:solidFill>
                  <a:srgbClr val="00AF50"/>
                </a:solidFill>
              </a:rPr>
              <a:t> </a:t>
            </a:r>
            <a:r>
              <a:rPr dirty="0">
                <a:solidFill>
                  <a:srgbClr val="00AF50"/>
                </a:solidFill>
              </a:rPr>
              <a:t>for</a:t>
            </a:r>
            <a:r>
              <a:rPr spc="-75" dirty="0">
                <a:solidFill>
                  <a:srgbClr val="00AF50"/>
                </a:solidFill>
              </a:rPr>
              <a:t> </a:t>
            </a:r>
            <a:r>
              <a:rPr spc="-25" dirty="0">
                <a:solidFill>
                  <a:srgbClr val="00AF50"/>
                </a:solidFill>
              </a:rPr>
              <a:t>the</a:t>
            </a: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>
                <a:solidFill>
                  <a:srgbClr val="00AF50"/>
                </a:solidFill>
              </a:rPr>
              <a:t>other</a:t>
            </a:r>
            <a:r>
              <a:rPr spc="-60" dirty="0">
                <a:solidFill>
                  <a:srgbClr val="00AF50"/>
                </a:solidFill>
              </a:rPr>
              <a:t> </a:t>
            </a:r>
            <a:r>
              <a:rPr dirty="0">
                <a:solidFill>
                  <a:srgbClr val="00AF50"/>
                </a:solidFill>
              </a:rPr>
              <a:t>case</a:t>
            </a:r>
            <a:r>
              <a:rPr spc="-20" dirty="0">
                <a:solidFill>
                  <a:srgbClr val="00AF50"/>
                </a:solidFill>
              </a:rPr>
              <a:t> </a:t>
            </a:r>
            <a:r>
              <a:rPr dirty="0">
                <a:solidFill>
                  <a:srgbClr val="00AF50"/>
                </a:solidFill>
              </a:rPr>
              <a:t>as</a:t>
            </a:r>
            <a:r>
              <a:rPr spc="-60" dirty="0">
                <a:solidFill>
                  <a:srgbClr val="00AF50"/>
                </a:solidFill>
              </a:rPr>
              <a:t> </a:t>
            </a:r>
            <a:r>
              <a:rPr spc="-10" dirty="0">
                <a:solidFill>
                  <a:srgbClr val="00AF50"/>
                </a:solidFill>
              </a:rPr>
              <a:t>well).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D9EBA9-85D7-A87F-761B-0D1E59D66009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>
              <a:lnSpc>
                <a:spcPct val="100000"/>
              </a:lnSpc>
            </a:pPr>
            <a:endParaRPr lang="en-US" spc="-1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19200" y="1452276"/>
            <a:ext cx="6858000" cy="5100955"/>
            <a:chOff x="1219200" y="1452276"/>
            <a:chExt cx="6858000" cy="5100955"/>
          </a:xfrm>
        </p:grpSpPr>
        <p:pic>
          <p:nvPicPr>
            <p:cNvPr id="3" name="object 3" descr="fig04_0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4000" y="1452276"/>
              <a:ext cx="5938671" cy="342452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19200" y="4876889"/>
              <a:ext cx="6857914" cy="167629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234443" y="1612391"/>
              <a:ext cx="5139055" cy="3191510"/>
            </a:xfrm>
            <a:custGeom>
              <a:avLst/>
              <a:gdLst/>
              <a:ahLst/>
              <a:cxnLst/>
              <a:rect l="l" t="t" r="r" b="b"/>
              <a:pathLst>
                <a:path w="5139055" h="3191510">
                  <a:moveTo>
                    <a:pt x="552446" y="449707"/>
                  </a:moveTo>
                  <a:lnTo>
                    <a:pt x="534382" y="478702"/>
                  </a:lnTo>
                  <a:lnTo>
                    <a:pt x="516330" y="507746"/>
                  </a:lnTo>
                  <a:lnTo>
                    <a:pt x="498207" y="536789"/>
                  </a:lnTo>
                  <a:lnTo>
                    <a:pt x="472956" y="576822"/>
                  </a:lnTo>
                  <a:lnTo>
                    <a:pt x="450846" y="609219"/>
                  </a:lnTo>
                  <a:lnTo>
                    <a:pt x="392807" y="681736"/>
                  </a:lnTo>
                  <a:lnTo>
                    <a:pt x="382849" y="721695"/>
                  </a:lnTo>
                  <a:lnTo>
                    <a:pt x="363724" y="783336"/>
                  </a:lnTo>
                  <a:lnTo>
                    <a:pt x="350865" y="834834"/>
                  </a:lnTo>
                  <a:lnTo>
                    <a:pt x="344078" y="859452"/>
                  </a:lnTo>
                  <a:lnTo>
                    <a:pt x="334768" y="884809"/>
                  </a:lnTo>
                  <a:lnTo>
                    <a:pt x="327759" y="899467"/>
                  </a:lnTo>
                  <a:lnTo>
                    <a:pt x="320036" y="913780"/>
                  </a:lnTo>
                  <a:lnTo>
                    <a:pt x="312408" y="928117"/>
                  </a:lnTo>
                  <a:lnTo>
                    <a:pt x="305685" y="942848"/>
                  </a:lnTo>
                  <a:lnTo>
                    <a:pt x="297749" y="964370"/>
                  </a:lnTo>
                  <a:lnTo>
                    <a:pt x="290587" y="986154"/>
                  </a:lnTo>
                  <a:lnTo>
                    <a:pt x="283735" y="1008034"/>
                  </a:lnTo>
                  <a:lnTo>
                    <a:pt x="276729" y="1029843"/>
                  </a:lnTo>
                  <a:lnTo>
                    <a:pt x="273607" y="1041024"/>
                  </a:lnTo>
                  <a:lnTo>
                    <a:pt x="270807" y="1052337"/>
                  </a:lnTo>
                  <a:lnTo>
                    <a:pt x="267317" y="1063293"/>
                  </a:lnTo>
                  <a:lnTo>
                    <a:pt x="262124" y="1073404"/>
                  </a:lnTo>
                  <a:lnTo>
                    <a:pt x="254527" y="1084068"/>
                  </a:lnTo>
                  <a:lnTo>
                    <a:pt x="246693" y="1094613"/>
                  </a:lnTo>
                  <a:lnTo>
                    <a:pt x="239335" y="1105443"/>
                  </a:lnTo>
                  <a:lnTo>
                    <a:pt x="233168" y="1116965"/>
                  </a:lnTo>
                  <a:lnTo>
                    <a:pt x="224730" y="1138273"/>
                  </a:lnTo>
                  <a:lnTo>
                    <a:pt x="217578" y="1160081"/>
                  </a:lnTo>
                  <a:lnTo>
                    <a:pt x="210951" y="1182080"/>
                  </a:lnTo>
                  <a:lnTo>
                    <a:pt x="204085" y="1203960"/>
                  </a:lnTo>
                  <a:lnTo>
                    <a:pt x="175129" y="1290955"/>
                  </a:lnTo>
                  <a:lnTo>
                    <a:pt x="160524" y="1334516"/>
                  </a:lnTo>
                  <a:lnTo>
                    <a:pt x="146046" y="1378077"/>
                  </a:lnTo>
                  <a:lnTo>
                    <a:pt x="138649" y="1430589"/>
                  </a:lnTo>
                  <a:lnTo>
                    <a:pt x="131252" y="1486660"/>
                  </a:lnTo>
                  <a:lnTo>
                    <a:pt x="117090" y="1523111"/>
                  </a:lnTo>
                  <a:lnTo>
                    <a:pt x="109930" y="1559417"/>
                  </a:lnTo>
                  <a:lnTo>
                    <a:pt x="106642" y="1577635"/>
                  </a:lnTo>
                  <a:lnTo>
                    <a:pt x="83466" y="1652714"/>
                  </a:lnTo>
                  <a:lnTo>
                    <a:pt x="68838" y="1696569"/>
                  </a:lnTo>
                  <a:lnTo>
                    <a:pt x="54983" y="1736973"/>
                  </a:lnTo>
                  <a:lnTo>
                    <a:pt x="50827" y="1747726"/>
                  </a:lnTo>
                  <a:lnTo>
                    <a:pt x="47101" y="1758598"/>
                  </a:lnTo>
                  <a:lnTo>
                    <a:pt x="44446" y="1769745"/>
                  </a:lnTo>
                  <a:lnTo>
                    <a:pt x="36604" y="1816531"/>
                  </a:lnTo>
                  <a:lnTo>
                    <a:pt x="32127" y="1843216"/>
                  </a:lnTo>
                  <a:lnTo>
                    <a:pt x="29393" y="1860264"/>
                  </a:lnTo>
                  <a:lnTo>
                    <a:pt x="26779" y="1878137"/>
                  </a:lnTo>
                  <a:lnTo>
                    <a:pt x="22665" y="1907298"/>
                  </a:lnTo>
                  <a:lnTo>
                    <a:pt x="15426" y="1958213"/>
                  </a:lnTo>
                  <a:lnTo>
                    <a:pt x="11562" y="2018150"/>
                  </a:lnTo>
                  <a:lnTo>
                    <a:pt x="8175" y="2068396"/>
                  </a:lnTo>
                  <a:lnTo>
                    <a:pt x="5312" y="2110847"/>
                  </a:lnTo>
                  <a:lnTo>
                    <a:pt x="3018" y="2147402"/>
                  </a:lnTo>
                  <a:lnTo>
                    <a:pt x="1338" y="2179956"/>
                  </a:lnTo>
                  <a:lnTo>
                    <a:pt x="316" y="2210407"/>
                  </a:lnTo>
                  <a:lnTo>
                    <a:pt x="0" y="2240651"/>
                  </a:lnTo>
                  <a:lnTo>
                    <a:pt x="432" y="2272585"/>
                  </a:lnTo>
                  <a:lnTo>
                    <a:pt x="3728" y="2349111"/>
                  </a:lnTo>
                  <a:lnTo>
                    <a:pt x="6682" y="2397497"/>
                  </a:lnTo>
                  <a:lnTo>
                    <a:pt x="10566" y="2455160"/>
                  </a:lnTo>
                  <a:lnTo>
                    <a:pt x="15426" y="2523998"/>
                  </a:lnTo>
                  <a:lnTo>
                    <a:pt x="19506" y="2563012"/>
                  </a:lnTo>
                  <a:lnTo>
                    <a:pt x="38749" y="2611419"/>
                  </a:lnTo>
                  <a:lnTo>
                    <a:pt x="58924" y="2640076"/>
                  </a:lnTo>
                  <a:lnTo>
                    <a:pt x="69284" y="2655038"/>
                  </a:lnTo>
                  <a:lnTo>
                    <a:pt x="102485" y="2698115"/>
                  </a:lnTo>
                  <a:lnTo>
                    <a:pt x="134864" y="2720207"/>
                  </a:lnTo>
                  <a:lnTo>
                    <a:pt x="146046" y="2727071"/>
                  </a:lnTo>
                  <a:lnTo>
                    <a:pt x="167060" y="2759435"/>
                  </a:lnTo>
                  <a:lnTo>
                    <a:pt x="173675" y="2769641"/>
                  </a:lnTo>
                  <a:lnTo>
                    <a:pt x="177035" y="2770916"/>
                  </a:lnTo>
                  <a:lnTo>
                    <a:pt x="188283" y="2776489"/>
                  </a:lnTo>
                  <a:lnTo>
                    <a:pt x="218563" y="2799588"/>
                  </a:lnTo>
                  <a:lnTo>
                    <a:pt x="248130" y="2826338"/>
                  </a:lnTo>
                  <a:lnTo>
                    <a:pt x="258538" y="2838726"/>
                  </a:lnTo>
                  <a:lnTo>
                    <a:pt x="262874" y="2843543"/>
                  </a:lnTo>
                  <a:lnTo>
                    <a:pt x="274227" y="2847579"/>
                  </a:lnTo>
                  <a:lnTo>
                    <a:pt x="305685" y="2857627"/>
                  </a:lnTo>
                  <a:lnTo>
                    <a:pt x="316759" y="2868326"/>
                  </a:lnTo>
                  <a:lnTo>
                    <a:pt x="349246" y="2901188"/>
                  </a:lnTo>
                  <a:lnTo>
                    <a:pt x="362835" y="2923857"/>
                  </a:lnTo>
                  <a:lnTo>
                    <a:pt x="369570" y="2935156"/>
                  </a:lnTo>
                  <a:lnTo>
                    <a:pt x="378329" y="2944622"/>
                  </a:lnTo>
                  <a:lnTo>
                    <a:pt x="388116" y="2950225"/>
                  </a:lnTo>
                  <a:lnTo>
                    <a:pt x="399093" y="2953639"/>
                  </a:lnTo>
                  <a:lnTo>
                    <a:pt x="410547" y="2956194"/>
                  </a:lnTo>
                  <a:lnTo>
                    <a:pt x="421763" y="2959227"/>
                  </a:lnTo>
                  <a:lnTo>
                    <a:pt x="449800" y="2978194"/>
                  </a:lnTo>
                  <a:lnTo>
                    <a:pt x="461984" y="2986576"/>
                  </a:lnTo>
                  <a:lnTo>
                    <a:pt x="465540" y="2988171"/>
                  </a:lnTo>
                  <a:lnTo>
                    <a:pt x="467691" y="2986778"/>
                  </a:lnTo>
                  <a:lnTo>
                    <a:pt x="475664" y="2986196"/>
                  </a:lnTo>
                  <a:lnTo>
                    <a:pt x="496681" y="2990224"/>
                  </a:lnTo>
                  <a:lnTo>
                    <a:pt x="537968" y="3002661"/>
                  </a:lnTo>
                  <a:lnTo>
                    <a:pt x="552805" y="3009026"/>
                  </a:lnTo>
                  <a:lnTo>
                    <a:pt x="567035" y="3016916"/>
                  </a:lnTo>
                  <a:lnTo>
                    <a:pt x="581241" y="3024949"/>
                  </a:lnTo>
                  <a:lnTo>
                    <a:pt x="596007" y="3031744"/>
                  </a:lnTo>
                  <a:lnTo>
                    <a:pt x="610272" y="3036149"/>
                  </a:lnTo>
                  <a:lnTo>
                    <a:pt x="624883" y="3039459"/>
                  </a:lnTo>
                  <a:lnTo>
                    <a:pt x="639566" y="3042531"/>
                  </a:lnTo>
                  <a:lnTo>
                    <a:pt x="654046" y="3046222"/>
                  </a:lnTo>
                  <a:lnTo>
                    <a:pt x="671447" y="3051990"/>
                  </a:lnTo>
                  <a:lnTo>
                    <a:pt x="711243" y="3065224"/>
                  </a:lnTo>
                  <a:lnTo>
                    <a:pt x="755112" y="3079815"/>
                  </a:lnTo>
                  <a:lnTo>
                    <a:pt x="784729" y="3089656"/>
                  </a:lnTo>
                  <a:lnTo>
                    <a:pt x="795551" y="3093491"/>
                  </a:lnTo>
                  <a:lnTo>
                    <a:pt x="806350" y="3097387"/>
                  </a:lnTo>
                  <a:lnTo>
                    <a:pt x="817197" y="3101068"/>
                  </a:lnTo>
                  <a:lnTo>
                    <a:pt x="828163" y="3104261"/>
                  </a:lnTo>
                  <a:lnTo>
                    <a:pt x="842698" y="3107951"/>
                  </a:lnTo>
                  <a:lnTo>
                    <a:pt x="857198" y="3111690"/>
                  </a:lnTo>
                  <a:lnTo>
                    <a:pt x="871722" y="3115333"/>
                  </a:lnTo>
                  <a:lnTo>
                    <a:pt x="886329" y="3118739"/>
                  </a:lnTo>
                  <a:lnTo>
                    <a:pt x="904410" y="3122412"/>
                  </a:lnTo>
                  <a:lnTo>
                    <a:pt x="922587" y="3125739"/>
                  </a:lnTo>
                  <a:lnTo>
                    <a:pt x="940764" y="3129186"/>
                  </a:lnTo>
                  <a:lnTo>
                    <a:pt x="958846" y="3133217"/>
                  </a:lnTo>
                  <a:lnTo>
                    <a:pt x="969795" y="3136657"/>
                  </a:lnTo>
                  <a:lnTo>
                    <a:pt x="980531" y="3140837"/>
                  </a:lnTo>
                  <a:lnTo>
                    <a:pt x="991314" y="3144825"/>
                  </a:lnTo>
                  <a:lnTo>
                    <a:pt x="1002407" y="3147695"/>
                  </a:lnTo>
                  <a:lnTo>
                    <a:pt x="1031313" y="3152013"/>
                  </a:lnTo>
                  <a:lnTo>
                    <a:pt x="1060398" y="3155188"/>
                  </a:lnTo>
                  <a:lnTo>
                    <a:pt x="1089507" y="3158267"/>
                  </a:lnTo>
                  <a:lnTo>
                    <a:pt x="1118485" y="3162300"/>
                  </a:lnTo>
                  <a:lnTo>
                    <a:pt x="1133107" y="3165401"/>
                  </a:lnTo>
                  <a:lnTo>
                    <a:pt x="1147552" y="3169396"/>
                  </a:lnTo>
                  <a:lnTo>
                    <a:pt x="1161972" y="3173462"/>
                  </a:lnTo>
                  <a:lnTo>
                    <a:pt x="1176524" y="3176778"/>
                  </a:lnTo>
                  <a:lnTo>
                    <a:pt x="1201828" y="3180933"/>
                  </a:lnTo>
                  <a:lnTo>
                    <a:pt x="1227228" y="3184493"/>
                  </a:lnTo>
                  <a:lnTo>
                    <a:pt x="1252676" y="3187815"/>
                  </a:lnTo>
                  <a:lnTo>
                    <a:pt x="1278124" y="3191256"/>
                  </a:lnTo>
                  <a:lnTo>
                    <a:pt x="2148963" y="3176778"/>
                  </a:lnTo>
                  <a:lnTo>
                    <a:pt x="2160145" y="3174712"/>
                  </a:lnTo>
                  <a:lnTo>
                    <a:pt x="2170886" y="3170443"/>
                  </a:lnTo>
                  <a:lnTo>
                    <a:pt x="2181556" y="3165723"/>
                  </a:lnTo>
                  <a:lnTo>
                    <a:pt x="2192524" y="3162300"/>
                  </a:lnTo>
                  <a:lnTo>
                    <a:pt x="2217793" y="3157982"/>
                  </a:lnTo>
                  <a:lnTo>
                    <a:pt x="2243228" y="3154616"/>
                  </a:lnTo>
                  <a:lnTo>
                    <a:pt x="2268712" y="3151441"/>
                  </a:lnTo>
                  <a:lnTo>
                    <a:pt x="2294124" y="3147695"/>
                  </a:lnTo>
                  <a:lnTo>
                    <a:pt x="2312348" y="3144396"/>
                  </a:lnTo>
                  <a:lnTo>
                    <a:pt x="2330477" y="3140741"/>
                  </a:lnTo>
                  <a:lnTo>
                    <a:pt x="2348559" y="3136943"/>
                  </a:lnTo>
                  <a:lnTo>
                    <a:pt x="2366641" y="3133217"/>
                  </a:lnTo>
                  <a:lnTo>
                    <a:pt x="2398553" y="3111791"/>
                  </a:lnTo>
                  <a:lnTo>
                    <a:pt x="2453763" y="3089656"/>
                  </a:lnTo>
                  <a:lnTo>
                    <a:pt x="2486338" y="3067778"/>
                  </a:lnTo>
                  <a:lnTo>
                    <a:pt x="2497324" y="3060700"/>
                  </a:lnTo>
                  <a:lnTo>
                    <a:pt x="2511714" y="3053228"/>
                  </a:lnTo>
                  <a:lnTo>
                    <a:pt x="2526438" y="3046364"/>
                  </a:lnTo>
                  <a:lnTo>
                    <a:pt x="2541115" y="3039429"/>
                  </a:lnTo>
                  <a:lnTo>
                    <a:pt x="2555363" y="3031744"/>
                  </a:lnTo>
                  <a:lnTo>
                    <a:pt x="2578673" y="3018978"/>
                  </a:lnTo>
                  <a:lnTo>
                    <a:pt x="2602305" y="3006391"/>
                  </a:lnTo>
                  <a:lnTo>
                    <a:pt x="2624246" y="2991971"/>
                  </a:lnTo>
                  <a:lnTo>
                    <a:pt x="2642485" y="2973705"/>
                  </a:lnTo>
                  <a:lnTo>
                    <a:pt x="2668972" y="2935853"/>
                  </a:lnTo>
                  <a:lnTo>
                    <a:pt x="2680839" y="2919396"/>
                  </a:lnTo>
                  <a:lnTo>
                    <a:pt x="2695277" y="2911965"/>
                  </a:lnTo>
                  <a:lnTo>
                    <a:pt x="2729480" y="2901188"/>
                  </a:lnTo>
                  <a:lnTo>
                    <a:pt x="2787646" y="2814066"/>
                  </a:lnTo>
                  <a:lnTo>
                    <a:pt x="2794777" y="2803118"/>
                  </a:lnTo>
                  <a:lnTo>
                    <a:pt x="2801838" y="2792110"/>
                  </a:lnTo>
                  <a:lnTo>
                    <a:pt x="2809041" y="2781222"/>
                  </a:lnTo>
                  <a:lnTo>
                    <a:pt x="2816602" y="2770632"/>
                  </a:lnTo>
                  <a:lnTo>
                    <a:pt x="2827534" y="2756134"/>
                  </a:lnTo>
                  <a:lnTo>
                    <a:pt x="2838525" y="2741707"/>
                  </a:lnTo>
                  <a:lnTo>
                    <a:pt x="2849445" y="2727233"/>
                  </a:lnTo>
                  <a:lnTo>
                    <a:pt x="2860163" y="2712593"/>
                  </a:lnTo>
                  <a:lnTo>
                    <a:pt x="2867564" y="2701786"/>
                  </a:lnTo>
                  <a:lnTo>
                    <a:pt x="2874704" y="2690812"/>
                  </a:lnTo>
                  <a:lnTo>
                    <a:pt x="2881844" y="2679838"/>
                  </a:lnTo>
                  <a:lnTo>
                    <a:pt x="2889246" y="2669032"/>
                  </a:lnTo>
                  <a:lnTo>
                    <a:pt x="2900122" y="2654552"/>
                  </a:lnTo>
                  <a:lnTo>
                    <a:pt x="2911391" y="2640345"/>
                  </a:lnTo>
                  <a:lnTo>
                    <a:pt x="2922446" y="2625973"/>
                  </a:lnTo>
                  <a:lnTo>
                    <a:pt x="2932680" y="2610993"/>
                  </a:lnTo>
                  <a:lnTo>
                    <a:pt x="2940581" y="2596852"/>
                  </a:lnTo>
                  <a:lnTo>
                    <a:pt x="2947507" y="2582164"/>
                  </a:lnTo>
                  <a:lnTo>
                    <a:pt x="2954289" y="2567380"/>
                  </a:lnTo>
                  <a:lnTo>
                    <a:pt x="2961763" y="2552954"/>
                  </a:lnTo>
                  <a:lnTo>
                    <a:pt x="2968843" y="2541988"/>
                  </a:lnTo>
                  <a:lnTo>
                    <a:pt x="2976590" y="2531427"/>
                  </a:lnTo>
                  <a:lnTo>
                    <a:pt x="2984194" y="2520771"/>
                  </a:lnTo>
                  <a:lnTo>
                    <a:pt x="2990846" y="2509520"/>
                  </a:lnTo>
                  <a:lnTo>
                    <a:pt x="2998460" y="2491527"/>
                  </a:lnTo>
                  <a:lnTo>
                    <a:pt x="3004895" y="2473023"/>
                  </a:lnTo>
                  <a:lnTo>
                    <a:pt x="3011545" y="2454638"/>
                  </a:lnTo>
                  <a:lnTo>
                    <a:pt x="3019802" y="2437003"/>
                  </a:lnTo>
                  <a:lnTo>
                    <a:pt x="3029555" y="2421701"/>
                  </a:lnTo>
                  <a:lnTo>
                    <a:pt x="3040582" y="2407269"/>
                  </a:lnTo>
                  <a:lnTo>
                    <a:pt x="3052109" y="2393193"/>
                  </a:lnTo>
                  <a:lnTo>
                    <a:pt x="3063363" y="2378964"/>
                  </a:lnTo>
                  <a:lnTo>
                    <a:pt x="3066696" y="2367978"/>
                  </a:lnTo>
                  <a:lnTo>
                    <a:pt x="3069840" y="2356897"/>
                  </a:lnTo>
                  <a:lnTo>
                    <a:pt x="3073364" y="2345959"/>
                  </a:lnTo>
                  <a:lnTo>
                    <a:pt x="3077841" y="2335403"/>
                  </a:lnTo>
                  <a:lnTo>
                    <a:pt x="3094370" y="2303843"/>
                  </a:lnTo>
                  <a:lnTo>
                    <a:pt x="3103256" y="2289716"/>
                  </a:lnTo>
                  <a:lnTo>
                    <a:pt x="3106737" y="2287260"/>
                  </a:lnTo>
                  <a:lnTo>
                    <a:pt x="3107051" y="2290714"/>
                  </a:lnTo>
                  <a:lnTo>
                    <a:pt x="3106435" y="2294317"/>
                  </a:lnTo>
                  <a:lnTo>
                    <a:pt x="3107130" y="2292308"/>
                  </a:lnTo>
                  <a:lnTo>
                    <a:pt x="3111373" y="2278925"/>
                  </a:lnTo>
                  <a:lnTo>
                    <a:pt x="3121402" y="2248408"/>
                  </a:lnTo>
                  <a:lnTo>
                    <a:pt x="3119394" y="2195829"/>
                  </a:lnTo>
                  <a:lnTo>
                    <a:pt x="3117103" y="2143250"/>
                  </a:lnTo>
                  <a:lnTo>
                    <a:pt x="3114700" y="2090667"/>
                  </a:lnTo>
                  <a:lnTo>
                    <a:pt x="3112353" y="2038080"/>
                  </a:lnTo>
                  <a:lnTo>
                    <a:pt x="3110232" y="1985486"/>
                  </a:lnTo>
                  <a:lnTo>
                    <a:pt x="3108507" y="1932886"/>
                  </a:lnTo>
                  <a:lnTo>
                    <a:pt x="3107348" y="1880276"/>
                  </a:lnTo>
                  <a:lnTo>
                    <a:pt x="3106924" y="1827657"/>
                  </a:lnTo>
                  <a:lnTo>
                    <a:pt x="3107191" y="1778693"/>
                  </a:lnTo>
                  <a:lnTo>
                    <a:pt x="3107971" y="1729724"/>
                  </a:lnTo>
                  <a:lnTo>
                    <a:pt x="3109227" y="1680754"/>
                  </a:lnTo>
                  <a:lnTo>
                    <a:pt x="3110924" y="1631791"/>
                  </a:lnTo>
                  <a:lnTo>
                    <a:pt x="3113026" y="1582839"/>
                  </a:lnTo>
                  <a:lnTo>
                    <a:pt x="3115496" y="1533905"/>
                  </a:lnTo>
                  <a:lnTo>
                    <a:pt x="3118300" y="1484996"/>
                  </a:lnTo>
                  <a:lnTo>
                    <a:pt x="3121402" y="1436116"/>
                  </a:lnTo>
                  <a:lnTo>
                    <a:pt x="3140277" y="1386506"/>
                  </a:lnTo>
                  <a:lnTo>
                    <a:pt x="3179441" y="1348994"/>
                  </a:lnTo>
                  <a:lnTo>
                    <a:pt x="3228955" y="1316688"/>
                  </a:lnTo>
                  <a:lnTo>
                    <a:pt x="3281041" y="1290955"/>
                  </a:lnTo>
                  <a:lnTo>
                    <a:pt x="3324602" y="1276477"/>
                  </a:lnTo>
                  <a:lnTo>
                    <a:pt x="3374897" y="1274759"/>
                  </a:lnTo>
                  <a:lnTo>
                    <a:pt x="3425198" y="1273249"/>
                  </a:lnTo>
                  <a:lnTo>
                    <a:pt x="3475505" y="1271923"/>
                  </a:lnTo>
                  <a:lnTo>
                    <a:pt x="3525817" y="1270758"/>
                  </a:lnTo>
                  <a:lnTo>
                    <a:pt x="3576132" y="1269731"/>
                  </a:lnTo>
                  <a:lnTo>
                    <a:pt x="3626451" y="1268820"/>
                  </a:lnTo>
                  <a:lnTo>
                    <a:pt x="3676773" y="1268001"/>
                  </a:lnTo>
                  <a:lnTo>
                    <a:pt x="3727097" y="1267250"/>
                  </a:lnTo>
                  <a:lnTo>
                    <a:pt x="3777422" y="1266546"/>
                  </a:lnTo>
                  <a:lnTo>
                    <a:pt x="3827747" y="1265865"/>
                  </a:lnTo>
                  <a:lnTo>
                    <a:pt x="3878073" y="1265184"/>
                  </a:lnTo>
                  <a:lnTo>
                    <a:pt x="3928398" y="1264480"/>
                  </a:lnTo>
                  <a:lnTo>
                    <a:pt x="3978722" y="1263729"/>
                  </a:lnTo>
                  <a:lnTo>
                    <a:pt x="4029044" y="1262910"/>
                  </a:lnTo>
                  <a:lnTo>
                    <a:pt x="4079363" y="1261999"/>
                  </a:lnTo>
                  <a:lnTo>
                    <a:pt x="4107525" y="1238837"/>
                  </a:lnTo>
                  <a:lnTo>
                    <a:pt x="4121939" y="1227762"/>
                  </a:lnTo>
                  <a:lnTo>
                    <a:pt x="4162534" y="1208180"/>
                  </a:lnTo>
                  <a:lnTo>
                    <a:pt x="4214751" y="1192095"/>
                  </a:lnTo>
                  <a:lnTo>
                    <a:pt x="4224524" y="1189482"/>
                  </a:lnTo>
                  <a:lnTo>
                    <a:pt x="4238682" y="1178085"/>
                  </a:lnTo>
                  <a:lnTo>
                    <a:pt x="4282563" y="1145921"/>
                  </a:lnTo>
                  <a:lnTo>
                    <a:pt x="4325943" y="1134758"/>
                  </a:lnTo>
                  <a:lnTo>
                    <a:pt x="4340602" y="1131443"/>
                  </a:lnTo>
                  <a:lnTo>
                    <a:pt x="4351569" y="1128091"/>
                  </a:lnTo>
                  <a:lnTo>
                    <a:pt x="4362430" y="1124442"/>
                  </a:lnTo>
                  <a:lnTo>
                    <a:pt x="4373266" y="1120673"/>
                  </a:lnTo>
                  <a:lnTo>
                    <a:pt x="4384163" y="1116965"/>
                  </a:lnTo>
                  <a:lnTo>
                    <a:pt x="4398321" y="1102092"/>
                  </a:lnTo>
                  <a:lnTo>
                    <a:pt x="4412277" y="1086945"/>
                  </a:lnTo>
                  <a:lnTo>
                    <a:pt x="4426686" y="1072298"/>
                  </a:lnTo>
                  <a:lnTo>
                    <a:pt x="4442202" y="1058926"/>
                  </a:lnTo>
                  <a:lnTo>
                    <a:pt x="4474245" y="1036367"/>
                  </a:lnTo>
                  <a:lnTo>
                    <a:pt x="4507480" y="1015428"/>
                  </a:lnTo>
                  <a:lnTo>
                    <a:pt x="4540714" y="994489"/>
                  </a:lnTo>
                  <a:lnTo>
                    <a:pt x="4572758" y="971931"/>
                  </a:lnTo>
                  <a:lnTo>
                    <a:pt x="4609502" y="941082"/>
                  </a:lnTo>
                  <a:lnTo>
                    <a:pt x="4645186" y="908416"/>
                  </a:lnTo>
                  <a:lnTo>
                    <a:pt x="4681370" y="876659"/>
                  </a:lnTo>
                  <a:lnTo>
                    <a:pt x="4719614" y="848535"/>
                  </a:lnTo>
                  <a:lnTo>
                    <a:pt x="4761480" y="826770"/>
                  </a:lnTo>
                  <a:lnTo>
                    <a:pt x="4801315" y="810991"/>
                  </a:lnTo>
                  <a:lnTo>
                    <a:pt x="4824006" y="802014"/>
                  </a:lnTo>
                  <a:lnTo>
                    <a:pt x="4838442" y="795845"/>
                  </a:lnTo>
                  <a:lnTo>
                    <a:pt x="4853512" y="788491"/>
                  </a:lnTo>
                  <a:lnTo>
                    <a:pt x="4878108" y="775958"/>
                  </a:lnTo>
                  <a:lnTo>
                    <a:pt x="4921119" y="754253"/>
                  </a:lnTo>
                  <a:lnTo>
                    <a:pt x="4954255" y="704040"/>
                  </a:lnTo>
                  <a:lnTo>
                    <a:pt x="4993763" y="681736"/>
                  </a:lnTo>
                  <a:lnTo>
                    <a:pt x="5030593" y="631475"/>
                  </a:lnTo>
                  <a:lnTo>
                    <a:pt x="5047841" y="605405"/>
                  </a:lnTo>
                  <a:lnTo>
                    <a:pt x="5066280" y="580263"/>
                  </a:lnTo>
                  <a:lnTo>
                    <a:pt x="5076461" y="568741"/>
                  </a:lnTo>
                  <a:lnTo>
                    <a:pt x="5087441" y="557911"/>
                  </a:lnTo>
                  <a:lnTo>
                    <a:pt x="5098730" y="547366"/>
                  </a:lnTo>
                  <a:lnTo>
                    <a:pt x="5109841" y="536702"/>
                  </a:lnTo>
                  <a:lnTo>
                    <a:pt x="5113335" y="514947"/>
                  </a:lnTo>
                  <a:lnTo>
                    <a:pt x="5116746" y="493156"/>
                  </a:lnTo>
                  <a:lnTo>
                    <a:pt x="5120324" y="471390"/>
                  </a:lnTo>
                  <a:lnTo>
                    <a:pt x="5124319" y="449707"/>
                  </a:lnTo>
                  <a:lnTo>
                    <a:pt x="5128402" y="435191"/>
                  </a:lnTo>
                  <a:lnTo>
                    <a:pt x="5133463" y="420830"/>
                  </a:lnTo>
                  <a:lnTo>
                    <a:pt x="5137570" y="406398"/>
                  </a:lnTo>
                  <a:lnTo>
                    <a:pt x="5134915" y="340471"/>
                  </a:lnTo>
                  <a:lnTo>
                    <a:pt x="5128795" y="289464"/>
                  </a:lnTo>
                  <a:lnTo>
                    <a:pt x="5120437" y="238791"/>
                  </a:lnTo>
                  <a:lnTo>
                    <a:pt x="5109841" y="188595"/>
                  </a:lnTo>
                  <a:lnTo>
                    <a:pt x="5090999" y="153358"/>
                  </a:lnTo>
                  <a:lnTo>
                    <a:pt x="5056235" y="133705"/>
                  </a:lnTo>
                  <a:lnTo>
                    <a:pt x="5003712" y="118334"/>
                  </a:lnTo>
                  <a:lnTo>
                    <a:pt x="4993763" y="116078"/>
                  </a:lnTo>
                  <a:lnTo>
                    <a:pt x="4962787" y="94942"/>
                  </a:lnTo>
                  <a:lnTo>
                    <a:pt x="4951909" y="87686"/>
                  </a:lnTo>
                  <a:lnTo>
                    <a:pt x="4946360" y="86643"/>
                  </a:lnTo>
                  <a:lnTo>
                    <a:pt x="4931368" y="84143"/>
                  </a:lnTo>
                  <a:lnTo>
                    <a:pt x="4892163" y="72517"/>
                  </a:lnTo>
                  <a:lnTo>
                    <a:pt x="4841862" y="54679"/>
                  </a:lnTo>
                  <a:lnTo>
                    <a:pt x="4807093" y="40961"/>
                  </a:lnTo>
                  <a:lnTo>
                    <a:pt x="4781132" y="30799"/>
                  </a:lnTo>
                  <a:lnTo>
                    <a:pt x="4728745" y="18897"/>
                  </a:lnTo>
                  <a:lnTo>
                    <a:pt x="4688875" y="16033"/>
                  </a:lnTo>
                  <a:lnTo>
                    <a:pt x="4630924" y="14478"/>
                  </a:lnTo>
                  <a:lnTo>
                    <a:pt x="2889246" y="0"/>
                  </a:lnTo>
                  <a:lnTo>
                    <a:pt x="973324" y="14478"/>
                  </a:lnTo>
                  <a:lnTo>
                    <a:pt x="958540" y="16132"/>
                  </a:lnTo>
                  <a:lnTo>
                    <a:pt x="944018" y="19812"/>
                  </a:lnTo>
                  <a:lnTo>
                    <a:pt x="929640" y="24443"/>
                  </a:lnTo>
                  <a:lnTo>
                    <a:pt x="915285" y="28956"/>
                  </a:lnTo>
                  <a:lnTo>
                    <a:pt x="904317" y="32381"/>
                  </a:lnTo>
                  <a:lnTo>
                    <a:pt x="893456" y="36067"/>
                  </a:lnTo>
                  <a:lnTo>
                    <a:pt x="882620" y="39850"/>
                  </a:lnTo>
                  <a:lnTo>
                    <a:pt x="871724" y="43561"/>
                  </a:lnTo>
                  <a:lnTo>
                    <a:pt x="861131" y="54723"/>
                  </a:lnTo>
                  <a:lnTo>
                    <a:pt x="850705" y="66087"/>
                  </a:lnTo>
                  <a:lnTo>
                    <a:pt x="839898" y="77047"/>
                  </a:lnTo>
                  <a:lnTo>
                    <a:pt x="828163" y="86995"/>
                  </a:lnTo>
                  <a:lnTo>
                    <a:pt x="806007" y="101004"/>
                  </a:lnTo>
                  <a:lnTo>
                    <a:pt x="772457" y="120586"/>
                  </a:lnTo>
                  <a:lnTo>
                    <a:pt x="737741" y="141501"/>
                  </a:lnTo>
                  <a:lnTo>
                    <a:pt x="681445" y="185952"/>
                  </a:lnTo>
                  <a:lnTo>
                    <a:pt x="649930" y="214379"/>
                  </a:lnTo>
                  <a:lnTo>
                    <a:pt x="645383" y="219505"/>
                  </a:lnTo>
                  <a:lnTo>
                    <a:pt x="645864" y="220666"/>
                  </a:lnTo>
                  <a:lnTo>
                    <a:pt x="649537" y="219432"/>
                  </a:lnTo>
                  <a:lnTo>
                    <a:pt x="654568" y="217373"/>
                  </a:lnTo>
                  <a:lnTo>
                    <a:pt x="659120" y="216058"/>
                  </a:lnTo>
                  <a:lnTo>
                    <a:pt x="661360" y="217057"/>
                  </a:lnTo>
                  <a:lnTo>
                    <a:pt x="659451" y="221940"/>
                  </a:lnTo>
                  <a:lnTo>
                    <a:pt x="651559" y="232276"/>
                  </a:lnTo>
                  <a:lnTo>
                    <a:pt x="610485" y="275590"/>
                  </a:lnTo>
                  <a:lnTo>
                    <a:pt x="578159" y="297735"/>
                  </a:lnTo>
                  <a:lnTo>
                    <a:pt x="566924" y="304673"/>
                  </a:lnTo>
                  <a:lnTo>
                    <a:pt x="563590" y="315656"/>
                  </a:lnTo>
                  <a:lnTo>
                    <a:pt x="560447" y="326723"/>
                  </a:lnTo>
                  <a:lnTo>
                    <a:pt x="556922" y="337623"/>
                  </a:lnTo>
                  <a:lnTo>
                    <a:pt x="552446" y="348107"/>
                  </a:lnTo>
                  <a:lnTo>
                    <a:pt x="536370" y="375185"/>
                  </a:lnTo>
                  <a:lnTo>
                    <a:pt x="524712" y="389953"/>
                  </a:lnTo>
                  <a:lnTo>
                    <a:pt x="516030" y="405578"/>
                  </a:lnTo>
                  <a:lnTo>
                    <a:pt x="508885" y="435229"/>
                  </a:lnTo>
                  <a:lnTo>
                    <a:pt x="507867" y="445980"/>
                  </a:lnTo>
                  <a:lnTo>
                    <a:pt x="507980" y="456850"/>
                  </a:lnTo>
                  <a:lnTo>
                    <a:pt x="508545" y="467768"/>
                  </a:lnTo>
                  <a:lnTo>
                    <a:pt x="508885" y="478663"/>
                  </a:lnTo>
                </a:path>
              </a:pathLst>
            </a:custGeom>
            <a:ln w="2438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231140" y="397256"/>
            <a:ext cx="3359150" cy="6343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0"/>
              </a:spcBef>
            </a:pPr>
            <a:r>
              <a:rPr dirty="0"/>
              <a:t>A:</a:t>
            </a:r>
            <a:r>
              <a:rPr spc="-55" dirty="0"/>
              <a:t> </a:t>
            </a:r>
            <a:r>
              <a:rPr dirty="0"/>
              <a:t>Multiple</a:t>
            </a:r>
            <a:r>
              <a:rPr spc="-20" dirty="0"/>
              <a:t> </a:t>
            </a:r>
            <a:r>
              <a:rPr dirty="0"/>
              <a:t>relations</a:t>
            </a:r>
            <a:r>
              <a:rPr spc="-50" dirty="0"/>
              <a:t> </a:t>
            </a:r>
            <a:r>
              <a:rPr dirty="0"/>
              <a:t>:</a:t>
            </a:r>
            <a:r>
              <a:rPr spc="-80" dirty="0"/>
              <a:t> </a:t>
            </a:r>
            <a:r>
              <a:rPr spc="-10" dirty="0"/>
              <a:t>super </a:t>
            </a:r>
            <a:r>
              <a:rPr dirty="0"/>
              <a:t>class</a:t>
            </a:r>
            <a:r>
              <a:rPr spc="-45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dirty="0"/>
              <a:t>sub</a:t>
            </a:r>
            <a:r>
              <a:rPr spc="-45" dirty="0"/>
              <a:t> </a:t>
            </a:r>
            <a:r>
              <a:rPr spc="-10" dirty="0"/>
              <a:t>classes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35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-35" dirty="0"/>
              <a:t> </a:t>
            </a:r>
            <a:r>
              <a:rPr dirty="0"/>
              <a:t>Hyderabad</a:t>
            </a:r>
            <a:r>
              <a:rPr spc="-75" dirty="0"/>
              <a:t> </a:t>
            </a:r>
            <a:r>
              <a:rPr spc="-10" dirty="0"/>
              <a:t>Campus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02619C2-5814-D2AB-1CF8-BD76DA397CB2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>
              <a:lnSpc>
                <a:spcPct val="100000"/>
              </a:lnSpc>
            </a:pPr>
            <a:endParaRPr lang="en-US" spc="-1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6991" y="4334284"/>
            <a:ext cx="7050018" cy="163979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9600" y="1809782"/>
            <a:ext cx="6296395" cy="2067249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4244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90"/>
              </a:spcBef>
            </a:pPr>
            <a:r>
              <a:rPr dirty="0"/>
              <a:t>B.</a:t>
            </a:r>
            <a:r>
              <a:rPr spc="-85" dirty="0"/>
              <a:t> </a:t>
            </a:r>
            <a:r>
              <a:rPr dirty="0"/>
              <a:t>Multiple</a:t>
            </a:r>
            <a:r>
              <a:rPr spc="-50" dirty="0"/>
              <a:t> </a:t>
            </a:r>
            <a:r>
              <a:rPr dirty="0"/>
              <a:t>relations:</a:t>
            </a:r>
            <a:r>
              <a:rPr spc="-60" dirty="0"/>
              <a:t> </a:t>
            </a:r>
            <a:r>
              <a:rPr dirty="0"/>
              <a:t>subclass</a:t>
            </a:r>
            <a:r>
              <a:rPr spc="-75" dirty="0"/>
              <a:t> </a:t>
            </a:r>
            <a:r>
              <a:rPr dirty="0"/>
              <a:t>relations</a:t>
            </a:r>
            <a:r>
              <a:rPr spc="-70" dirty="0"/>
              <a:t> </a:t>
            </a:r>
            <a:r>
              <a:rPr spc="-20" dirty="0"/>
              <a:t>only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35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-35" dirty="0"/>
              <a:t> </a:t>
            </a:r>
            <a:r>
              <a:rPr dirty="0"/>
              <a:t>Hyderabad</a:t>
            </a:r>
            <a:r>
              <a:rPr spc="-75" dirty="0"/>
              <a:t> </a:t>
            </a:r>
            <a:r>
              <a:rPr spc="-10" dirty="0"/>
              <a:t>Campus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377211E3-718B-C599-3BAC-C0BE6B1F6770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>
              <a:lnSpc>
                <a:spcPct val="100000"/>
              </a:lnSpc>
            </a:pPr>
            <a:endParaRPr lang="en-US" spc="-1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9623" y="1447800"/>
            <a:ext cx="8585200" cy="4572000"/>
            <a:chOff x="39623" y="1447800"/>
            <a:chExt cx="8585200" cy="4572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623" y="4724400"/>
              <a:ext cx="8585080" cy="1295158"/>
            </a:xfrm>
            <a:prstGeom prst="rect">
              <a:avLst/>
            </a:prstGeom>
          </p:spPr>
        </p:pic>
        <p:pic>
          <p:nvPicPr>
            <p:cNvPr id="4" name="object 4" descr="fig04_0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23999" y="1447800"/>
              <a:ext cx="5943600" cy="34290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234443" y="1612392"/>
              <a:ext cx="5139055" cy="3191510"/>
            </a:xfrm>
            <a:custGeom>
              <a:avLst/>
              <a:gdLst/>
              <a:ahLst/>
              <a:cxnLst/>
              <a:rect l="l" t="t" r="r" b="b"/>
              <a:pathLst>
                <a:path w="5139055" h="3191510">
                  <a:moveTo>
                    <a:pt x="552446" y="449707"/>
                  </a:moveTo>
                  <a:lnTo>
                    <a:pt x="534382" y="478702"/>
                  </a:lnTo>
                  <a:lnTo>
                    <a:pt x="516330" y="507746"/>
                  </a:lnTo>
                  <a:lnTo>
                    <a:pt x="498207" y="536789"/>
                  </a:lnTo>
                  <a:lnTo>
                    <a:pt x="472956" y="576822"/>
                  </a:lnTo>
                  <a:lnTo>
                    <a:pt x="450846" y="609219"/>
                  </a:lnTo>
                  <a:lnTo>
                    <a:pt x="392807" y="681736"/>
                  </a:lnTo>
                  <a:lnTo>
                    <a:pt x="382849" y="721695"/>
                  </a:lnTo>
                  <a:lnTo>
                    <a:pt x="363724" y="783336"/>
                  </a:lnTo>
                  <a:lnTo>
                    <a:pt x="350865" y="834834"/>
                  </a:lnTo>
                  <a:lnTo>
                    <a:pt x="344078" y="859452"/>
                  </a:lnTo>
                  <a:lnTo>
                    <a:pt x="334768" y="884809"/>
                  </a:lnTo>
                  <a:lnTo>
                    <a:pt x="327759" y="899467"/>
                  </a:lnTo>
                  <a:lnTo>
                    <a:pt x="320036" y="913780"/>
                  </a:lnTo>
                  <a:lnTo>
                    <a:pt x="312408" y="928117"/>
                  </a:lnTo>
                  <a:lnTo>
                    <a:pt x="305685" y="942848"/>
                  </a:lnTo>
                  <a:lnTo>
                    <a:pt x="297749" y="964370"/>
                  </a:lnTo>
                  <a:lnTo>
                    <a:pt x="290587" y="986154"/>
                  </a:lnTo>
                  <a:lnTo>
                    <a:pt x="283735" y="1008034"/>
                  </a:lnTo>
                  <a:lnTo>
                    <a:pt x="276729" y="1029843"/>
                  </a:lnTo>
                  <a:lnTo>
                    <a:pt x="273607" y="1041024"/>
                  </a:lnTo>
                  <a:lnTo>
                    <a:pt x="270807" y="1052337"/>
                  </a:lnTo>
                  <a:lnTo>
                    <a:pt x="267317" y="1063293"/>
                  </a:lnTo>
                  <a:lnTo>
                    <a:pt x="262124" y="1073404"/>
                  </a:lnTo>
                  <a:lnTo>
                    <a:pt x="254527" y="1084068"/>
                  </a:lnTo>
                  <a:lnTo>
                    <a:pt x="246693" y="1094613"/>
                  </a:lnTo>
                  <a:lnTo>
                    <a:pt x="239335" y="1105443"/>
                  </a:lnTo>
                  <a:lnTo>
                    <a:pt x="233168" y="1116965"/>
                  </a:lnTo>
                  <a:lnTo>
                    <a:pt x="224730" y="1138273"/>
                  </a:lnTo>
                  <a:lnTo>
                    <a:pt x="217578" y="1160081"/>
                  </a:lnTo>
                  <a:lnTo>
                    <a:pt x="210951" y="1182080"/>
                  </a:lnTo>
                  <a:lnTo>
                    <a:pt x="204085" y="1203960"/>
                  </a:lnTo>
                  <a:lnTo>
                    <a:pt x="175129" y="1290955"/>
                  </a:lnTo>
                  <a:lnTo>
                    <a:pt x="160524" y="1334516"/>
                  </a:lnTo>
                  <a:lnTo>
                    <a:pt x="146046" y="1378077"/>
                  </a:lnTo>
                  <a:lnTo>
                    <a:pt x="138649" y="1430589"/>
                  </a:lnTo>
                  <a:lnTo>
                    <a:pt x="131252" y="1486660"/>
                  </a:lnTo>
                  <a:lnTo>
                    <a:pt x="117090" y="1523111"/>
                  </a:lnTo>
                  <a:lnTo>
                    <a:pt x="109930" y="1559417"/>
                  </a:lnTo>
                  <a:lnTo>
                    <a:pt x="106642" y="1577635"/>
                  </a:lnTo>
                  <a:lnTo>
                    <a:pt x="83466" y="1652714"/>
                  </a:lnTo>
                  <a:lnTo>
                    <a:pt x="68838" y="1696569"/>
                  </a:lnTo>
                  <a:lnTo>
                    <a:pt x="54983" y="1736973"/>
                  </a:lnTo>
                  <a:lnTo>
                    <a:pt x="50827" y="1747726"/>
                  </a:lnTo>
                  <a:lnTo>
                    <a:pt x="47101" y="1758598"/>
                  </a:lnTo>
                  <a:lnTo>
                    <a:pt x="44446" y="1769745"/>
                  </a:lnTo>
                  <a:lnTo>
                    <a:pt x="36604" y="1816531"/>
                  </a:lnTo>
                  <a:lnTo>
                    <a:pt x="32127" y="1843216"/>
                  </a:lnTo>
                  <a:lnTo>
                    <a:pt x="29393" y="1860264"/>
                  </a:lnTo>
                  <a:lnTo>
                    <a:pt x="26779" y="1878137"/>
                  </a:lnTo>
                  <a:lnTo>
                    <a:pt x="22665" y="1907298"/>
                  </a:lnTo>
                  <a:lnTo>
                    <a:pt x="15426" y="1958213"/>
                  </a:lnTo>
                  <a:lnTo>
                    <a:pt x="11562" y="2018150"/>
                  </a:lnTo>
                  <a:lnTo>
                    <a:pt x="8175" y="2068396"/>
                  </a:lnTo>
                  <a:lnTo>
                    <a:pt x="5312" y="2110847"/>
                  </a:lnTo>
                  <a:lnTo>
                    <a:pt x="3018" y="2147402"/>
                  </a:lnTo>
                  <a:lnTo>
                    <a:pt x="1338" y="2179956"/>
                  </a:lnTo>
                  <a:lnTo>
                    <a:pt x="316" y="2210407"/>
                  </a:lnTo>
                  <a:lnTo>
                    <a:pt x="0" y="2240651"/>
                  </a:lnTo>
                  <a:lnTo>
                    <a:pt x="432" y="2272585"/>
                  </a:lnTo>
                  <a:lnTo>
                    <a:pt x="3728" y="2349111"/>
                  </a:lnTo>
                  <a:lnTo>
                    <a:pt x="6682" y="2397497"/>
                  </a:lnTo>
                  <a:lnTo>
                    <a:pt x="10566" y="2455160"/>
                  </a:lnTo>
                  <a:lnTo>
                    <a:pt x="15426" y="2523998"/>
                  </a:lnTo>
                  <a:lnTo>
                    <a:pt x="19506" y="2563012"/>
                  </a:lnTo>
                  <a:lnTo>
                    <a:pt x="38749" y="2611419"/>
                  </a:lnTo>
                  <a:lnTo>
                    <a:pt x="58924" y="2640076"/>
                  </a:lnTo>
                  <a:lnTo>
                    <a:pt x="69284" y="2655038"/>
                  </a:lnTo>
                  <a:lnTo>
                    <a:pt x="102485" y="2698115"/>
                  </a:lnTo>
                  <a:lnTo>
                    <a:pt x="134864" y="2720207"/>
                  </a:lnTo>
                  <a:lnTo>
                    <a:pt x="146046" y="2727071"/>
                  </a:lnTo>
                  <a:lnTo>
                    <a:pt x="167060" y="2759435"/>
                  </a:lnTo>
                  <a:lnTo>
                    <a:pt x="173675" y="2769641"/>
                  </a:lnTo>
                  <a:lnTo>
                    <a:pt x="177035" y="2770916"/>
                  </a:lnTo>
                  <a:lnTo>
                    <a:pt x="188283" y="2776489"/>
                  </a:lnTo>
                  <a:lnTo>
                    <a:pt x="218563" y="2799588"/>
                  </a:lnTo>
                  <a:lnTo>
                    <a:pt x="248130" y="2826338"/>
                  </a:lnTo>
                  <a:lnTo>
                    <a:pt x="258538" y="2838726"/>
                  </a:lnTo>
                  <a:lnTo>
                    <a:pt x="262874" y="2843543"/>
                  </a:lnTo>
                  <a:lnTo>
                    <a:pt x="274227" y="2847579"/>
                  </a:lnTo>
                  <a:lnTo>
                    <a:pt x="305685" y="2857627"/>
                  </a:lnTo>
                  <a:lnTo>
                    <a:pt x="316759" y="2868326"/>
                  </a:lnTo>
                  <a:lnTo>
                    <a:pt x="349246" y="2901188"/>
                  </a:lnTo>
                  <a:lnTo>
                    <a:pt x="362835" y="2923857"/>
                  </a:lnTo>
                  <a:lnTo>
                    <a:pt x="369570" y="2935156"/>
                  </a:lnTo>
                  <a:lnTo>
                    <a:pt x="378329" y="2944622"/>
                  </a:lnTo>
                  <a:lnTo>
                    <a:pt x="388116" y="2950225"/>
                  </a:lnTo>
                  <a:lnTo>
                    <a:pt x="399093" y="2953639"/>
                  </a:lnTo>
                  <a:lnTo>
                    <a:pt x="410547" y="2956194"/>
                  </a:lnTo>
                  <a:lnTo>
                    <a:pt x="421763" y="2959227"/>
                  </a:lnTo>
                  <a:lnTo>
                    <a:pt x="449800" y="2978194"/>
                  </a:lnTo>
                  <a:lnTo>
                    <a:pt x="461984" y="2986576"/>
                  </a:lnTo>
                  <a:lnTo>
                    <a:pt x="465540" y="2988171"/>
                  </a:lnTo>
                  <a:lnTo>
                    <a:pt x="467691" y="2986778"/>
                  </a:lnTo>
                  <a:lnTo>
                    <a:pt x="475664" y="2986196"/>
                  </a:lnTo>
                  <a:lnTo>
                    <a:pt x="496681" y="2990224"/>
                  </a:lnTo>
                  <a:lnTo>
                    <a:pt x="537968" y="3002661"/>
                  </a:lnTo>
                  <a:lnTo>
                    <a:pt x="552805" y="3009026"/>
                  </a:lnTo>
                  <a:lnTo>
                    <a:pt x="567035" y="3016916"/>
                  </a:lnTo>
                  <a:lnTo>
                    <a:pt x="581241" y="3024949"/>
                  </a:lnTo>
                  <a:lnTo>
                    <a:pt x="596007" y="3031744"/>
                  </a:lnTo>
                  <a:lnTo>
                    <a:pt x="610272" y="3036149"/>
                  </a:lnTo>
                  <a:lnTo>
                    <a:pt x="624883" y="3039459"/>
                  </a:lnTo>
                  <a:lnTo>
                    <a:pt x="639566" y="3042531"/>
                  </a:lnTo>
                  <a:lnTo>
                    <a:pt x="654046" y="3046222"/>
                  </a:lnTo>
                  <a:lnTo>
                    <a:pt x="671447" y="3051990"/>
                  </a:lnTo>
                  <a:lnTo>
                    <a:pt x="711243" y="3065224"/>
                  </a:lnTo>
                  <a:lnTo>
                    <a:pt x="755112" y="3079815"/>
                  </a:lnTo>
                  <a:lnTo>
                    <a:pt x="784729" y="3089656"/>
                  </a:lnTo>
                  <a:lnTo>
                    <a:pt x="795551" y="3093491"/>
                  </a:lnTo>
                  <a:lnTo>
                    <a:pt x="806350" y="3097387"/>
                  </a:lnTo>
                  <a:lnTo>
                    <a:pt x="817197" y="3101068"/>
                  </a:lnTo>
                  <a:lnTo>
                    <a:pt x="828163" y="3104261"/>
                  </a:lnTo>
                  <a:lnTo>
                    <a:pt x="842698" y="3107951"/>
                  </a:lnTo>
                  <a:lnTo>
                    <a:pt x="857198" y="3111690"/>
                  </a:lnTo>
                  <a:lnTo>
                    <a:pt x="871722" y="3115333"/>
                  </a:lnTo>
                  <a:lnTo>
                    <a:pt x="886329" y="3118739"/>
                  </a:lnTo>
                  <a:lnTo>
                    <a:pt x="904410" y="3122412"/>
                  </a:lnTo>
                  <a:lnTo>
                    <a:pt x="922587" y="3125739"/>
                  </a:lnTo>
                  <a:lnTo>
                    <a:pt x="940764" y="3129186"/>
                  </a:lnTo>
                  <a:lnTo>
                    <a:pt x="958846" y="3133217"/>
                  </a:lnTo>
                  <a:lnTo>
                    <a:pt x="969795" y="3136657"/>
                  </a:lnTo>
                  <a:lnTo>
                    <a:pt x="980531" y="3140837"/>
                  </a:lnTo>
                  <a:lnTo>
                    <a:pt x="991314" y="3144825"/>
                  </a:lnTo>
                  <a:lnTo>
                    <a:pt x="1002407" y="3147695"/>
                  </a:lnTo>
                  <a:lnTo>
                    <a:pt x="1031313" y="3152013"/>
                  </a:lnTo>
                  <a:lnTo>
                    <a:pt x="1060398" y="3155188"/>
                  </a:lnTo>
                  <a:lnTo>
                    <a:pt x="1089507" y="3158267"/>
                  </a:lnTo>
                  <a:lnTo>
                    <a:pt x="1118485" y="3162300"/>
                  </a:lnTo>
                  <a:lnTo>
                    <a:pt x="1133107" y="3165401"/>
                  </a:lnTo>
                  <a:lnTo>
                    <a:pt x="1147552" y="3169396"/>
                  </a:lnTo>
                  <a:lnTo>
                    <a:pt x="1161972" y="3173462"/>
                  </a:lnTo>
                  <a:lnTo>
                    <a:pt x="1176524" y="3176778"/>
                  </a:lnTo>
                  <a:lnTo>
                    <a:pt x="1201828" y="3180933"/>
                  </a:lnTo>
                  <a:lnTo>
                    <a:pt x="1227228" y="3184493"/>
                  </a:lnTo>
                  <a:lnTo>
                    <a:pt x="1252676" y="3187815"/>
                  </a:lnTo>
                  <a:lnTo>
                    <a:pt x="1278124" y="3191256"/>
                  </a:lnTo>
                  <a:lnTo>
                    <a:pt x="2148963" y="3176778"/>
                  </a:lnTo>
                  <a:lnTo>
                    <a:pt x="2160145" y="3174712"/>
                  </a:lnTo>
                  <a:lnTo>
                    <a:pt x="2170886" y="3170443"/>
                  </a:lnTo>
                  <a:lnTo>
                    <a:pt x="2181556" y="3165723"/>
                  </a:lnTo>
                  <a:lnTo>
                    <a:pt x="2192524" y="3162300"/>
                  </a:lnTo>
                  <a:lnTo>
                    <a:pt x="2217793" y="3157982"/>
                  </a:lnTo>
                  <a:lnTo>
                    <a:pt x="2243228" y="3154616"/>
                  </a:lnTo>
                  <a:lnTo>
                    <a:pt x="2268712" y="3151441"/>
                  </a:lnTo>
                  <a:lnTo>
                    <a:pt x="2294124" y="3147695"/>
                  </a:lnTo>
                  <a:lnTo>
                    <a:pt x="2312348" y="3144396"/>
                  </a:lnTo>
                  <a:lnTo>
                    <a:pt x="2330477" y="3140741"/>
                  </a:lnTo>
                  <a:lnTo>
                    <a:pt x="2348559" y="3136943"/>
                  </a:lnTo>
                  <a:lnTo>
                    <a:pt x="2366641" y="3133217"/>
                  </a:lnTo>
                  <a:lnTo>
                    <a:pt x="2398553" y="3111791"/>
                  </a:lnTo>
                  <a:lnTo>
                    <a:pt x="2453763" y="3089656"/>
                  </a:lnTo>
                  <a:lnTo>
                    <a:pt x="2486338" y="3067778"/>
                  </a:lnTo>
                  <a:lnTo>
                    <a:pt x="2497324" y="3060700"/>
                  </a:lnTo>
                  <a:lnTo>
                    <a:pt x="2511714" y="3053228"/>
                  </a:lnTo>
                  <a:lnTo>
                    <a:pt x="2526438" y="3046364"/>
                  </a:lnTo>
                  <a:lnTo>
                    <a:pt x="2541115" y="3039429"/>
                  </a:lnTo>
                  <a:lnTo>
                    <a:pt x="2555363" y="3031744"/>
                  </a:lnTo>
                  <a:lnTo>
                    <a:pt x="2578673" y="3018978"/>
                  </a:lnTo>
                  <a:lnTo>
                    <a:pt x="2602305" y="3006391"/>
                  </a:lnTo>
                  <a:lnTo>
                    <a:pt x="2624246" y="2991971"/>
                  </a:lnTo>
                  <a:lnTo>
                    <a:pt x="2642485" y="2973705"/>
                  </a:lnTo>
                  <a:lnTo>
                    <a:pt x="2668972" y="2935853"/>
                  </a:lnTo>
                  <a:lnTo>
                    <a:pt x="2680839" y="2919396"/>
                  </a:lnTo>
                  <a:lnTo>
                    <a:pt x="2695277" y="2911965"/>
                  </a:lnTo>
                  <a:lnTo>
                    <a:pt x="2729480" y="2901188"/>
                  </a:lnTo>
                  <a:lnTo>
                    <a:pt x="2787646" y="2814066"/>
                  </a:lnTo>
                  <a:lnTo>
                    <a:pt x="2794777" y="2803118"/>
                  </a:lnTo>
                  <a:lnTo>
                    <a:pt x="2801838" y="2792110"/>
                  </a:lnTo>
                  <a:lnTo>
                    <a:pt x="2809041" y="2781222"/>
                  </a:lnTo>
                  <a:lnTo>
                    <a:pt x="2816602" y="2770632"/>
                  </a:lnTo>
                  <a:lnTo>
                    <a:pt x="2827534" y="2756134"/>
                  </a:lnTo>
                  <a:lnTo>
                    <a:pt x="2838525" y="2741707"/>
                  </a:lnTo>
                  <a:lnTo>
                    <a:pt x="2849445" y="2727233"/>
                  </a:lnTo>
                  <a:lnTo>
                    <a:pt x="2860163" y="2712593"/>
                  </a:lnTo>
                  <a:lnTo>
                    <a:pt x="2867564" y="2701786"/>
                  </a:lnTo>
                  <a:lnTo>
                    <a:pt x="2874704" y="2690812"/>
                  </a:lnTo>
                  <a:lnTo>
                    <a:pt x="2881844" y="2679838"/>
                  </a:lnTo>
                  <a:lnTo>
                    <a:pt x="2889246" y="2669032"/>
                  </a:lnTo>
                  <a:lnTo>
                    <a:pt x="2900122" y="2654552"/>
                  </a:lnTo>
                  <a:lnTo>
                    <a:pt x="2911391" y="2640345"/>
                  </a:lnTo>
                  <a:lnTo>
                    <a:pt x="2922446" y="2625973"/>
                  </a:lnTo>
                  <a:lnTo>
                    <a:pt x="2932680" y="2610993"/>
                  </a:lnTo>
                  <a:lnTo>
                    <a:pt x="2940581" y="2596852"/>
                  </a:lnTo>
                  <a:lnTo>
                    <a:pt x="2947507" y="2582164"/>
                  </a:lnTo>
                  <a:lnTo>
                    <a:pt x="2954289" y="2567380"/>
                  </a:lnTo>
                  <a:lnTo>
                    <a:pt x="2961763" y="2552954"/>
                  </a:lnTo>
                  <a:lnTo>
                    <a:pt x="2968843" y="2541988"/>
                  </a:lnTo>
                  <a:lnTo>
                    <a:pt x="2976590" y="2531427"/>
                  </a:lnTo>
                  <a:lnTo>
                    <a:pt x="2984194" y="2520771"/>
                  </a:lnTo>
                  <a:lnTo>
                    <a:pt x="2990846" y="2509520"/>
                  </a:lnTo>
                  <a:lnTo>
                    <a:pt x="2998460" y="2491527"/>
                  </a:lnTo>
                  <a:lnTo>
                    <a:pt x="3004895" y="2473023"/>
                  </a:lnTo>
                  <a:lnTo>
                    <a:pt x="3011545" y="2454638"/>
                  </a:lnTo>
                  <a:lnTo>
                    <a:pt x="3019802" y="2437003"/>
                  </a:lnTo>
                  <a:lnTo>
                    <a:pt x="3029555" y="2421701"/>
                  </a:lnTo>
                  <a:lnTo>
                    <a:pt x="3040582" y="2407269"/>
                  </a:lnTo>
                  <a:lnTo>
                    <a:pt x="3052109" y="2393193"/>
                  </a:lnTo>
                  <a:lnTo>
                    <a:pt x="3063363" y="2378964"/>
                  </a:lnTo>
                  <a:lnTo>
                    <a:pt x="3066696" y="2367978"/>
                  </a:lnTo>
                  <a:lnTo>
                    <a:pt x="3069840" y="2356897"/>
                  </a:lnTo>
                  <a:lnTo>
                    <a:pt x="3073364" y="2345959"/>
                  </a:lnTo>
                  <a:lnTo>
                    <a:pt x="3077841" y="2335403"/>
                  </a:lnTo>
                  <a:lnTo>
                    <a:pt x="3094370" y="2303843"/>
                  </a:lnTo>
                  <a:lnTo>
                    <a:pt x="3103256" y="2289716"/>
                  </a:lnTo>
                  <a:lnTo>
                    <a:pt x="3106737" y="2287260"/>
                  </a:lnTo>
                  <a:lnTo>
                    <a:pt x="3107051" y="2290714"/>
                  </a:lnTo>
                  <a:lnTo>
                    <a:pt x="3106435" y="2294317"/>
                  </a:lnTo>
                  <a:lnTo>
                    <a:pt x="3107130" y="2292308"/>
                  </a:lnTo>
                  <a:lnTo>
                    <a:pt x="3111373" y="2278925"/>
                  </a:lnTo>
                  <a:lnTo>
                    <a:pt x="3121402" y="2248408"/>
                  </a:lnTo>
                  <a:lnTo>
                    <a:pt x="3119394" y="2195829"/>
                  </a:lnTo>
                  <a:lnTo>
                    <a:pt x="3117103" y="2143250"/>
                  </a:lnTo>
                  <a:lnTo>
                    <a:pt x="3114700" y="2090667"/>
                  </a:lnTo>
                  <a:lnTo>
                    <a:pt x="3112353" y="2038080"/>
                  </a:lnTo>
                  <a:lnTo>
                    <a:pt x="3110232" y="1985486"/>
                  </a:lnTo>
                  <a:lnTo>
                    <a:pt x="3108507" y="1932886"/>
                  </a:lnTo>
                  <a:lnTo>
                    <a:pt x="3107348" y="1880276"/>
                  </a:lnTo>
                  <a:lnTo>
                    <a:pt x="3106924" y="1827657"/>
                  </a:lnTo>
                  <a:lnTo>
                    <a:pt x="3107191" y="1778693"/>
                  </a:lnTo>
                  <a:lnTo>
                    <a:pt x="3107971" y="1729724"/>
                  </a:lnTo>
                  <a:lnTo>
                    <a:pt x="3109227" y="1680754"/>
                  </a:lnTo>
                  <a:lnTo>
                    <a:pt x="3110924" y="1631791"/>
                  </a:lnTo>
                  <a:lnTo>
                    <a:pt x="3113026" y="1582839"/>
                  </a:lnTo>
                  <a:lnTo>
                    <a:pt x="3115496" y="1533905"/>
                  </a:lnTo>
                  <a:lnTo>
                    <a:pt x="3118300" y="1484996"/>
                  </a:lnTo>
                  <a:lnTo>
                    <a:pt x="3121402" y="1436116"/>
                  </a:lnTo>
                  <a:lnTo>
                    <a:pt x="3140277" y="1386506"/>
                  </a:lnTo>
                  <a:lnTo>
                    <a:pt x="3179441" y="1348994"/>
                  </a:lnTo>
                  <a:lnTo>
                    <a:pt x="3228955" y="1316688"/>
                  </a:lnTo>
                  <a:lnTo>
                    <a:pt x="3281041" y="1290955"/>
                  </a:lnTo>
                  <a:lnTo>
                    <a:pt x="3324602" y="1276477"/>
                  </a:lnTo>
                  <a:lnTo>
                    <a:pt x="3374897" y="1274759"/>
                  </a:lnTo>
                  <a:lnTo>
                    <a:pt x="3425198" y="1273249"/>
                  </a:lnTo>
                  <a:lnTo>
                    <a:pt x="3475505" y="1271923"/>
                  </a:lnTo>
                  <a:lnTo>
                    <a:pt x="3525817" y="1270758"/>
                  </a:lnTo>
                  <a:lnTo>
                    <a:pt x="3576132" y="1269731"/>
                  </a:lnTo>
                  <a:lnTo>
                    <a:pt x="3626451" y="1268820"/>
                  </a:lnTo>
                  <a:lnTo>
                    <a:pt x="3676773" y="1268001"/>
                  </a:lnTo>
                  <a:lnTo>
                    <a:pt x="3727097" y="1267250"/>
                  </a:lnTo>
                  <a:lnTo>
                    <a:pt x="3777422" y="1266546"/>
                  </a:lnTo>
                  <a:lnTo>
                    <a:pt x="3827747" y="1265865"/>
                  </a:lnTo>
                  <a:lnTo>
                    <a:pt x="3878073" y="1265184"/>
                  </a:lnTo>
                  <a:lnTo>
                    <a:pt x="3928398" y="1264480"/>
                  </a:lnTo>
                  <a:lnTo>
                    <a:pt x="3978722" y="1263729"/>
                  </a:lnTo>
                  <a:lnTo>
                    <a:pt x="4029044" y="1262910"/>
                  </a:lnTo>
                  <a:lnTo>
                    <a:pt x="4079363" y="1261999"/>
                  </a:lnTo>
                  <a:lnTo>
                    <a:pt x="4107525" y="1238837"/>
                  </a:lnTo>
                  <a:lnTo>
                    <a:pt x="4121939" y="1227762"/>
                  </a:lnTo>
                  <a:lnTo>
                    <a:pt x="4162534" y="1208180"/>
                  </a:lnTo>
                  <a:lnTo>
                    <a:pt x="4214751" y="1192095"/>
                  </a:lnTo>
                  <a:lnTo>
                    <a:pt x="4224524" y="1189482"/>
                  </a:lnTo>
                  <a:lnTo>
                    <a:pt x="4238682" y="1178085"/>
                  </a:lnTo>
                  <a:lnTo>
                    <a:pt x="4282563" y="1145921"/>
                  </a:lnTo>
                  <a:lnTo>
                    <a:pt x="4325943" y="1134758"/>
                  </a:lnTo>
                  <a:lnTo>
                    <a:pt x="4340602" y="1131443"/>
                  </a:lnTo>
                  <a:lnTo>
                    <a:pt x="4351569" y="1128091"/>
                  </a:lnTo>
                  <a:lnTo>
                    <a:pt x="4362430" y="1124442"/>
                  </a:lnTo>
                  <a:lnTo>
                    <a:pt x="4373266" y="1120673"/>
                  </a:lnTo>
                  <a:lnTo>
                    <a:pt x="4384163" y="1116965"/>
                  </a:lnTo>
                  <a:lnTo>
                    <a:pt x="4398321" y="1102092"/>
                  </a:lnTo>
                  <a:lnTo>
                    <a:pt x="4412277" y="1086945"/>
                  </a:lnTo>
                  <a:lnTo>
                    <a:pt x="4426686" y="1072298"/>
                  </a:lnTo>
                  <a:lnTo>
                    <a:pt x="4442202" y="1058926"/>
                  </a:lnTo>
                  <a:lnTo>
                    <a:pt x="4474245" y="1036367"/>
                  </a:lnTo>
                  <a:lnTo>
                    <a:pt x="4507480" y="1015428"/>
                  </a:lnTo>
                  <a:lnTo>
                    <a:pt x="4540714" y="994489"/>
                  </a:lnTo>
                  <a:lnTo>
                    <a:pt x="4572758" y="971931"/>
                  </a:lnTo>
                  <a:lnTo>
                    <a:pt x="4609502" y="941082"/>
                  </a:lnTo>
                  <a:lnTo>
                    <a:pt x="4645186" y="908416"/>
                  </a:lnTo>
                  <a:lnTo>
                    <a:pt x="4681370" y="876659"/>
                  </a:lnTo>
                  <a:lnTo>
                    <a:pt x="4719614" y="848535"/>
                  </a:lnTo>
                  <a:lnTo>
                    <a:pt x="4761480" y="826770"/>
                  </a:lnTo>
                  <a:lnTo>
                    <a:pt x="4801315" y="810991"/>
                  </a:lnTo>
                  <a:lnTo>
                    <a:pt x="4824006" y="802014"/>
                  </a:lnTo>
                  <a:lnTo>
                    <a:pt x="4838442" y="795845"/>
                  </a:lnTo>
                  <a:lnTo>
                    <a:pt x="4853512" y="788491"/>
                  </a:lnTo>
                  <a:lnTo>
                    <a:pt x="4878108" y="775958"/>
                  </a:lnTo>
                  <a:lnTo>
                    <a:pt x="4921119" y="754253"/>
                  </a:lnTo>
                  <a:lnTo>
                    <a:pt x="4954255" y="704040"/>
                  </a:lnTo>
                  <a:lnTo>
                    <a:pt x="4993763" y="681736"/>
                  </a:lnTo>
                  <a:lnTo>
                    <a:pt x="5030593" y="631475"/>
                  </a:lnTo>
                  <a:lnTo>
                    <a:pt x="5047841" y="605405"/>
                  </a:lnTo>
                  <a:lnTo>
                    <a:pt x="5066280" y="580263"/>
                  </a:lnTo>
                  <a:lnTo>
                    <a:pt x="5076461" y="568741"/>
                  </a:lnTo>
                  <a:lnTo>
                    <a:pt x="5087441" y="557911"/>
                  </a:lnTo>
                  <a:lnTo>
                    <a:pt x="5098730" y="547366"/>
                  </a:lnTo>
                  <a:lnTo>
                    <a:pt x="5109841" y="536702"/>
                  </a:lnTo>
                  <a:lnTo>
                    <a:pt x="5113335" y="514947"/>
                  </a:lnTo>
                  <a:lnTo>
                    <a:pt x="5116746" y="493156"/>
                  </a:lnTo>
                  <a:lnTo>
                    <a:pt x="5120324" y="471390"/>
                  </a:lnTo>
                  <a:lnTo>
                    <a:pt x="5124319" y="449707"/>
                  </a:lnTo>
                  <a:lnTo>
                    <a:pt x="5128402" y="435191"/>
                  </a:lnTo>
                  <a:lnTo>
                    <a:pt x="5133463" y="420830"/>
                  </a:lnTo>
                  <a:lnTo>
                    <a:pt x="5137570" y="406398"/>
                  </a:lnTo>
                  <a:lnTo>
                    <a:pt x="5134915" y="340471"/>
                  </a:lnTo>
                  <a:lnTo>
                    <a:pt x="5128795" y="289464"/>
                  </a:lnTo>
                  <a:lnTo>
                    <a:pt x="5120437" y="238791"/>
                  </a:lnTo>
                  <a:lnTo>
                    <a:pt x="5109841" y="188595"/>
                  </a:lnTo>
                  <a:lnTo>
                    <a:pt x="5090999" y="153358"/>
                  </a:lnTo>
                  <a:lnTo>
                    <a:pt x="5056235" y="133705"/>
                  </a:lnTo>
                  <a:lnTo>
                    <a:pt x="5003712" y="118334"/>
                  </a:lnTo>
                  <a:lnTo>
                    <a:pt x="4993763" y="116078"/>
                  </a:lnTo>
                  <a:lnTo>
                    <a:pt x="4962787" y="94942"/>
                  </a:lnTo>
                  <a:lnTo>
                    <a:pt x="4951909" y="87686"/>
                  </a:lnTo>
                  <a:lnTo>
                    <a:pt x="4946360" y="86643"/>
                  </a:lnTo>
                  <a:lnTo>
                    <a:pt x="4931368" y="84143"/>
                  </a:lnTo>
                  <a:lnTo>
                    <a:pt x="4892163" y="72517"/>
                  </a:lnTo>
                  <a:lnTo>
                    <a:pt x="4841862" y="54679"/>
                  </a:lnTo>
                  <a:lnTo>
                    <a:pt x="4807093" y="40961"/>
                  </a:lnTo>
                  <a:lnTo>
                    <a:pt x="4781132" y="30799"/>
                  </a:lnTo>
                  <a:lnTo>
                    <a:pt x="4728745" y="18897"/>
                  </a:lnTo>
                  <a:lnTo>
                    <a:pt x="4688875" y="16033"/>
                  </a:lnTo>
                  <a:lnTo>
                    <a:pt x="4630924" y="14478"/>
                  </a:lnTo>
                  <a:lnTo>
                    <a:pt x="2889246" y="0"/>
                  </a:lnTo>
                  <a:lnTo>
                    <a:pt x="973324" y="14478"/>
                  </a:lnTo>
                  <a:lnTo>
                    <a:pt x="958540" y="16132"/>
                  </a:lnTo>
                  <a:lnTo>
                    <a:pt x="944018" y="19812"/>
                  </a:lnTo>
                  <a:lnTo>
                    <a:pt x="929640" y="24443"/>
                  </a:lnTo>
                  <a:lnTo>
                    <a:pt x="915285" y="28956"/>
                  </a:lnTo>
                  <a:lnTo>
                    <a:pt x="904317" y="32381"/>
                  </a:lnTo>
                  <a:lnTo>
                    <a:pt x="893456" y="36067"/>
                  </a:lnTo>
                  <a:lnTo>
                    <a:pt x="882620" y="39850"/>
                  </a:lnTo>
                  <a:lnTo>
                    <a:pt x="871724" y="43561"/>
                  </a:lnTo>
                  <a:lnTo>
                    <a:pt x="861131" y="54723"/>
                  </a:lnTo>
                  <a:lnTo>
                    <a:pt x="850705" y="66087"/>
                  </a:lnTo>
                  <a:lnTo>
                    <a:pt x="839898" y="77047"/>
                  </a:lnTo>
                  <a:lnTo>
                    <a:pt x="828163" y="86995"/>
                  </a:lnTo>
                  <a:lnTo>
                    <a:pt x="806007" y="101004"/>
                  </a:lnTo>
                  <a:lnTo>
                    <a:pt x="772457" y="120586"/>
                  </a:lnTo>
                  <a:lnTo>
                    <a:pt x="737741" y="141501"/>
                  </a:lnTo>
                  <a:lnTo>
                    <a:pt x="681445" y="185952"/>
                  </a:lnTo>
                  <a:lnTo>
                    <a:pt x="649930" y="214379"/>
                  </a:lnTo>
                  <a:lnTo>
                    <a:pt x="645383" y="219505"/>
                  </a:lnTo>
                  <a:lnTo>
                    <a:pt x="645864" y="220666"/>
                  </a:lnTo>
                  <a:lnTo>
                    <a:pt x="649537" y="219432"/>
                  </a:lnTo>
                  <a:lnTo>
                    <a:pt x="654568" y="217373"/>
                  </a:lnTo>
                  <a:lnTo>
                    <a:pt x="659120" y="216058"/>
                  </a:lnTo>
                  <a:lnTo>
                    <a:pt x="661360" y="217057"/>
                  </a:lnTo>
                  <a:lnTo>
                    <a:pt x="659451" y="221940"/>
                  </a:lnTo>
                  <a:lnTo>
                    <a:pt x="651559" y="232276"/>
                  </a:lnTo>
                  <a:lnTo>
                    <a:pt x="610485" y="275590"/>
                  </a:lnTo>
                  <a:lnTo>
                    <a:pt x="578159" y="297735"/>
                  </a:lnTo>
                  <a:lnTo>
                    <a:pt x="566924" y="304673"/>
                  </a:lnTo>
                  <a:lnTo>
                    <a:pt x="563590" y="315656"/>
                  </a:lnTo>
                  <a:lnTo>
                    <a:pt x="560447" y="326723"/>
                  </a:lnTo>
                  <a:lnTo>
                    <a:pt x="556922" y="337623"/>
                  </a:lnTo>
                  <a:lnTo>
                    <a:pt x="552446" y="348107"/>
                  </a:lnTo>
                  <a:lnTo>
                    <a:pt x="536370" y="375185"/>
                  </a:lnTo>
                  <a:lnTo>
                    <a:pt x="524712" y="389953"/>
                  </a:lnTo>
                  <a:lnTo>
                    <a:pt x="516030" y="405578"/>
                  </a:lnTo>
                  <a:lnTo>
                    <a:pt x="508885" y="435229"/>
                  </a:lnTo>
                  <a:lnTo>
                    <a:pt x="507867" y="445980"/>
                  </a:lnTo>
                  <a:lnTo>
                    <a:pt x="507980" y="456850"/>
                  </a:lnTo>
                  <a:lnTo>
                    <a:pt x="508545" y="467768"/>
                  </a:lnTo>
                  <a:lnTo>
                    <a:pt x="508885" y="478663"/>
                  </a:lnTo>
                </a:path>
              </a:pathLst>
            </a:custGeom>
            <a:ln w="2438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3090" rIns="0" bIns="0" rtlCol="0">
            <a:spAutoFit/>
          </a:bodyPr>
          <a:lstStyle/>
          <a:p>
            <a:pPr marL="393700">
              <a:lnSpc>
                <a:spcPct val="100000"/>
              </a:lnSpc>
              <a:spcBef>
                <a:spcPts val="90"/>
              </a:spcBef>
            </a:pPr>
            <a:r>
              <a:rPr dirty="0"/>
              <a:t>C.</a:t>
            </a:r>
            <a:r>
              <a:rPr spc="-65" dirty="0"/>
              <a:t> </a:t>
            </a:r>
            <a:r>
              <a:rPr dirty="0"/>
              <a:t>Single</a:t>
            </a:r>
            <a:r>
              <a:rPr spc="-35" dirty="0"/>
              <a:t> </a:t>
            </a:r>
            <a:r>
              <a:rPr dirty="0"/>
              <a:t>relation</a:t>
            </a:r>
            <a:r>
              <a:rPr spc="-25" dirty="0"/>
              <a:t> </a:t>
            </a:r>
            <a:r>
              <a:rPr dirty="0"/>
              <a:t>with</a:t>
            </a:r>
            <a:r>
              <a:rPr spc="-65" dirty="0"/>
              <a:t> </a:t>
            </a:r>
            <a:r>
              <a:rPr dirty="0"/>
              <a:t>type</a:t>
            </a:r>
            <a:r>
              <a:rPr spc="-50" dirty="0"/>
              <a:t> </a:t>
            </a:r>
            <a:r>
              <a:rPr spc="-10" dirty="0"/>
              <a:t>attribute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35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-35" dirty="0"/>
              <a:t> </a:t>
            </a:r>
            <a:r>
              <a:rPr dirty="0"/>
              <a:t>Hyderabad</a:t>
            </a:r>
            <a:r>
              <a:rPr spc="-75" dirty="0"/>
              <a:t> </a:t>
            </a:r>
            <a:r>
              <a:rPr spc="-10" dirty="0"/>
              <a:t>Campus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44CA0065-5F5C-813F-1883-0C5E65127F57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>
              <a:lnSpc>
                <a:spcPct val="100000"/>
              </a:lnSpc>
            </a:pPr>
            <a:endParaRPr lang="en-US" spc="-1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5071" y="4404359"/>
            <a:ext cx="8472085" cy="1295399"/>
          </a:xfrm>
          <a:prstGeom prst="rect">
            <a:avLst/>
          </a:prstGeom>
        </p:spPr>
      </p:pic>
      <p:pic>
        <p:nvPicPr>
          <p:cNvPr id="3" name="object 3" descr="fig04_0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7571" y="1539437"/>
            <a:ext cx="8509608" cy="2354283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001369" y="679831"/>
            <a:ext cx="5529580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D.</a:t>
            </a:r>
            <a:r>
              <a:rPr spc="-55" dirty="0"/>
              <a:t> </a:t>
            </a:r>
            <a:r>
              <a:rPr dirty="0"/>
              <a:t>Single</a:t>
            </a:r>
            <a:r>
              <a:rPr spc="-45" dirty="0"/>
              <a:t> </a:t>
            </a:r>
            <a:r>
              <a:rPr dirty="0"/>
              <a:t>relation</a:t>
            </a:r>
            <a:r>
              <a:rPr spc="-25" dirty="0"/>
              <a:t> </a:t>
            </a:r>
            <a:r>
              <a:rPr dirty="0"/>
              <a:t>with</a:t>
            </a:r>
            <a:r>
              <a:rPr spc="-75" dirty="0"/>
              <a:t> </a:t>
            </a:r>
            <a:r>
              <a:rPr dirty="0"/>
              <a:t>multiple</a:t>
            </a:r>
            <a:r>
              <a:rPr spc="-75" dirty="0"/>
              <a:t> </a:t>
            </a:r>
            <a:r>
              <a:rPr dirty="0"/>
              <a:t>type</a:t>
            </a:r>
            <a:r>
              <a:rPr spc="-35" dirty="0"/>
              <a:t> </a:t>
            </a:r>
            <a:r>
              <a:rPr spc="-10" dirty="0"/>
              <a:t>attributes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35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-35" dirty="0"/>
              <a:t> </a:t>
            </a:r>
            <a:r>
              <a:rPr dirty="0"/>
              <a:t>Hyderabad</a:t>
            </a:r>
            <a:r>
              <a:rPr spc="-75" dirty="0"/>
              <a:t> </a:t>
            </a:r>
            <a:r>
              <a:rPr spc="-10" dirty="0"/>
              <a:t>Campus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C70A84E-7939-C984-4181-8B8CDDA40451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>
              <a:lnSpc>
                <a:spcPct val="100000"/>
              </a:lnSpc>
            </a:pPr>
            <a:endParaRPr lang="en-US" spc="-1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5844" y="1459968"/>
            <a:ext cx="3794125" cy="2143760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60"/>
              </a:spcBef>
            </a:pPr>
            <a:r>
              <a:rPr sz="2000" b="1" i="1" spc="-10" dirty="0">
                <a:latin typeface="Arial"/>
                <a:cs typeface="Arial"/>
              </a:rPr>
              <a:t>Summary</a:t>
            </a:r>
            <a:endParaRPr sz="2000">
              <a:latin typeface="Arial"/>
              <a:cs typeface="Arial"/>
            </a:endParaRPr>
          </a:p>
          <a:p>
            <a:pPr marL="253365" indent="-243204">
              <a:lnSpc>
                <a:spcPct val="100000"/>
              </a:lnSpc>
              <a:spcBef>
                <a:spcPts val="565"/>
              </a:spcBef>
              <a:buSzPct val="95833"/>
              <a:buFont typeface="Wingdings"/>
              <a:buChar char=""/>
              <a:tabLst>
                <a:tab pos="253365" algn="l"/>
              </a:tabLst>
            </a:pPr>
            <a:r>
              <a:rPr sz="2400" i="1" dirty="0">
                <a:solidFill>
                  <a:srgbClr val="0F1141"/>
                </a:solidFill>
                <a:latin typeface="Arial"/>
                <a:cs typeface="Arial"/>
              </a:rPr>
              <a:t>ER</a:t>
            </a:r>
            <a:r>
              <a:rPr sz="2400" i="1" spc="-5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0F1141"/>
                </a:solidFill>
                <a:latin typeface="Arial"/>
                <a:cs typeface="Arial"/>
              </a:rPr>
              <a:t>to</a:t>
            </a:r>
            <a:r>
              <a:rPr sz="2400" i="1" spc="-5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0F1141"/>
                </a:solidFill>
                <a:latin typeface="Arial"/>
                <a:cs typeface="Arial"/>
              </a:rPr>
              <a:t>Relational</a:t>
            </a:r>
            <a:r>
              <a:rPr sz="2400" i="1" spc="-6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400" i="1" spc="-10" dirty="0">
                <a:solidFill>
                  <a:srgbClr val="0F1141"/>
                </a:solidFill>
                <a:latin typeface="Arial"/>
                <a:cs typeface="Arial"/>
              </a:rPr>
              <a:t>Mapping</a:t>
            </a:r>
            <a:endParaRPr sz="2400">
              <a:latin typeface="Arial"/>
              <a:cs typeface="Arial"/>
            </a:endParaRPr>
          </a:p>
          <a:p>
            <a:pPr marL="253365" indent="-243204">
              <a:lnSpc>
                <a:spcPct val="100000"/>
              </a:lnSpc>
              <a:spcBef>
                <a:spcPts val="580"/>
              </a:spcBef>
              <a:buSzPct val="95833"/>
              <a:buFont typeface="Wingdings"/>
              <a:buChar char=""/>
              <a:tabLst>
                <a:tab pos="253365" algn="l"/>
              </a:tabLst>
            </a:pPr>
            <a:r>
              <a:rPr sz="2400" i="1" dirty="0">
                <a:solidFill>
                  <a:srgbClr val="0F1141"/>
                </a:solidFill>
                <a:latin typeface="Arial"/>
                <a:cs typeface="Arial"/>
              </a:rPr>
              <a:t>Mapping</a:t>
            </a:r>
            <a:r>
              <a:rPr sz="2400" i="1" spc="-6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0F1141"/>
                </a:solidFill>
                <a:latin typeface="Arial"/>
                <a:cs typeface="Arial"/>
              </a:rPr>
              <a:t>Entity</a:t>
            </a:r>
            <a:r>
              <a:rPr sz="2400" i="1" spc="-7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400" i="1" spc="-20" dirty="0">
                <a:solidFill>
                  <a:srgbClr val="0F1141"/>
                </a:solidFill>
                <a:latin typeface="Arial"/>
                <a:cs typeface="Arial"/>
              </a:rPr>
              <a:t>types</a:t>
            </a:r>
            <a:endParaRPr sz="2400">
              <a:latin typeface="Arial"/>
              <a:cs typeface="Arial"/>
            </a:endParaRPr>
          </a:p>
          <a:p>
            <a:pPr marL="253365" indent="-243204">
              <a:lnSpc>
                <a:spcPct val="100000"/>
              </a:lnSpc>
              <a:spcBef>
                <a:spcPts val="575"/>
              </a:spcBef>
              <a:buSzPct val="95833"/>
              <a:buFont typeface="Wingdings"/>
              <a:buChar char=""/>
              <a:tabLst>
                <a:tab pos="253365" algn="l"/>
              </a:tabLst>
            </a:pPr>
            <a:r>
              <a:rPr sz="2400" i="1" dirty="0">
                <a:solidFill>
                  <a:srgbClr val="0F1141"/>
                </a:solidFill>
                <a:latin typeface="Arial"/>
                <a:cs typeface="Arial"/>
              </a:rPr>
              <a:t>Mapping</a:t>
            </a:r>
            <a:r>
              <a:rPr sz="2400" i="1" spc="-10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400" i="1" spc="-10" dirty="0">
                <a:solidFill>
                  <a:srgbClr val="0F1141"/>
                </a:solidFill>
                <a:latin typeface="Arial"/>
                <a:cs typeface="Arial"/>
              </a:rPr>
              <a:t>Relationships</a:t>
            </a:r>
            <a:endParaRPr sz="2400">
              <a:latin typeface="Arial"/>
              <a:cs typeface="Arial"/>
            </a:endParaRPr>
          </a:p>
          <a:p>
            <a:pPr marL="253365" indent="-243204">
              <a:lnSpc>
                <a:spcPct val="100000"/>
              </a:lnSpc>
              <a:spcBef>
                <a:spcPts val="575"/>
              </a:spcBef>
              <a:buSzPct val="95833"/>
              <a:buFont typeface="Wingdings"/>
              <a:buChar char=""/>
              <a:tabLst>
                <a:tab pos="253365" algn="l"/>
              </a:tabLst>
            </a:pPr>
            <a:r>
              <a:rPr sz="2400" i="1" dirty="0">
                <a:solidFill>
                  <a:srgbClr val="0F1141"/>
                </a:solidFill>
                <a:latin typeface="Arial"/>
                <a:cs typeface="Arial"/>
              </a:rPr>
              <a:t>Mapping</a:t>
            </a:r>
            <a:r>
              <a:rPr sz="2400" i="1" spc="-9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0F1141"/>
                </a:solidFill>
                <a:latin typeface="Arial"/>
                <a:cs typeface="Arial"/>
              </a:rPr>
              <a:t>class</a:t>
            </a:r>
            <a:r>
              <a:rPr sz="2400" i="1" spc="-7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2400" i="1" spc="-10" dirty="0">
                <a:solidFill>
                  <a:srgbClr val="0F1141"/>
                </a:solidFill>
                <a:latin typeface="Arial"/>
                <a:cs typeface="Arial"/>
              </a:rPr>
              <a:t>hierarchies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spc="-10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35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-35" dirty="0"/>
              <a:t> </a:t>
            </a:r>
            <a:r>
              <a:rPr dirty="0"/>
              <a:t>Hyderabad</a:t>
            </a:r>
            <a:r>
              <a:rPr spc="-75" dirty="0"/>
              <a:t> </a:t>
            </a:r>
            <a:r>
              <a:rPr spc="-10" dirty="0"/>
              <a:t>Campus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123C1875908B441AF4AF4B1296840D8" ma:contentTypeVersion="11" ma:contentTypeDescription="Create a new document." ma:contentTypeScope="" ma:versionID="d3cd38d02b6adb00a379bc58ed8af54a">
  <xsd:schema xmlns:xsd="http://www.w3.org/2001/XMLSchema" xmlns:xs="http://www.w3.org/2001/XMLSchema" xmlns:p="http://schemas.microsoft.com/office/2006/metadata/properties" xmlns:ns2="e1b5d412-63f5-4184-9493-34a8c46e02de" xmlns:ns3="385a44b4-34aa-45df-8ce2-c9f8500b9889" targetNamespace="http://schemas.microsoft.com/office/2006/metadata/properties" ma:root="true" ma:fieldsID="791b1ac97928cf4b25cdaf1896da24a8" ns2:_="" ns3:_="">
    <xsd:import namespace="e1b5d412-63f5-4184-9493-34a8c46e02de"/>
    <xsd:import namespace="385a44b4-34aa-45df-8ce2-c9f8500b988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b5d412-63f5-4184-9493-34a8c46e02d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eb8cb680-6a83-4177-80f4-b15e2230c4d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85a44b4-34aa-45df-8ce2-c9f8500b9889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4b4e7dd7-dbd6-4d13-8f22-69445e1d5abb}" ma:internalName="TaxCatchAll" ma:showField="CatchAllData" ma:web="385a44b4-34aa-45df-8ce2-c9f8500b988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1b5d412-63f5-4184-9493-34a8c46e02de">
      <Terms xmlns="http://schemas.microsoft.com/office/infopath/2007/PartnerControls"/>
    </lcf76f155ced4ddcb4097134ff3c332f>
    <TaxCatchAll xmlns="385a44b4-34aa-45df-8ce2-c9f8500b9889" xsi:nil="true"/>
  </documentManagement>
</p:properties>
</file>

<file path=customXml/itemProps1.xml><?xml version="1.0" encoding="utf-8"?>
<ds:datastoreItem xmlns:ds="http://schemas.openxmlformats.org/officeDocument/2006/customXml" ds:itemID="{E66AAA44-E905-46A4-A059-130363EF4917}"/>
</file>

<file path=customXml/itemProps2.xml><?xml version="1.0" encoding="utf-8"?>
<ds:datastoreItem xmlns:ds="http://schemas.openxmlformats.org/officeDocument/2006/customXml" ds:itemID="{17ACE0B8-677F-4B96-964C-0D291452193F}"/>
</file>

<file path=customXml/itemProps3.xml><?xml version="1.0" encoding="utf-8"?>
<ds:datastoreItem xmlns:ds="http://schemas.openxmlformats.org/officeDocument/2006/customXml" ds:itemID="{354E66BA-73E4-4267-BF2C-0C4EB7DEED51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Words>1021</Words>
  <Application>Microsoft Macintosh PowerPoint</Application>
  <PresentationFormat>On-screen Show (4:3)</PresentationFormat>
  <Paragraphs>100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Arial</vt:lpstr>
      <vt:lpstr>Wingdings</vt:lpstr>
      <vt:lpstr>Office Theme</vt:lpstr>
      <vt:lpstr>PowerPoint Presentation</vt:lpstr>
      <vt:lpstr>ER to Relational Mapping (Ch. 8 of T1)</vt:lpstr>
      <vt:lpstr>Mapping entity types</vt:lpstr>
      <vt:lpstr>PowerPoint Presentation</vt:lpstr>
      <vt:lpstr>Mapping Relationship types</vt:lpstr>
      <vt:lpstr>PowerPoint Presentation</vt:lpstr>
      <vt:lpstr>PowerPoint Presentation</vt:lpstr>
      <vt:lpstr>PowerPoint Presentation</vt:lpstr>
      <vt:lpstr>Mapping Multivalued attributes</vt:lpstr>
      <vt:lpstr>Mapping n-ary relationships</vt:lpstr>
      <vt:lpstr>Mapping n-ary relationships</vt:lpstr>
      <vt:lpstr>PowerPoint Presentation</vt:lpstr>
      <vt:lpstr>PowerPoint Presentation</vt:lpstr>
      <vt:lpstr>Mapping class hierarchies</vt:lpstr>
      <vt:lpstr>A: Multiple relations : super class and sub classes</vt:lpstr>
      <vt:lpstr>B. Multiple relations: subclass relations only</vt:lpstr>
      <vt:lpstr>C. Single relation with type attribute</vt:lpstr>
      <vt:lpstr>D. Single relation with multiple type attributes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Rakesh Prasanna</cp:lastModifiedBy>
  <cp:revision>1</cp:revision>
  <dcterms:created xsi:type="dcterms:W3CDTF">2026-02-14T09:41:26Z</dcterms:created>
  <dcterms:modified xsi:type="dcterms:W3CDTF">2026-02-14T09:49:23Z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2023-02-28T00:00:00Z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2026-02-14T00:00:00Z</vt:filetime>
  </property>
  <property fmtid="{D5CDD505-2E9C-101B-9397-08002B2CF9AE}" pid="5" name="Producer">
    <vt:lpwstr>Microsoft® PowerPoint® 2019</vt:lpwstr>
  </property>
  <property fmtid="{D5CDD505-2E9C-101B-9397-08002B2CF9AE}" pid="6" name="ContentTypeId">
    <vt:lpwstr>0x010100B123C1875908B441AF4AF4B1296840D8</vt:lpwstr>
  </property>
</Properties>
</file>