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558"/>
  </p:normalViewPr>
  <p:slideViewPr>
    <p:cSldViewPr>
      <p:cViewPr varScale="1">
        <p:scale>
          <a:sx n="121" d="100"/>
          <a:sy n="121" d="100"/>
        </p:scale>
        <p:origin x="228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221AF-D042-0949-B4EF-1343FDDFF172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0A42C-A35F-A74E-B8DC-4A9579509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5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0A42C-A35F-A74E-B8DC-4A9579509A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95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0A42C-A35F-A74E-B8DC-4A9579509A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8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0A42C-A35F-A74E-B8DC-4A9579509A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18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0A42C-A35F-A74E-B8DC-4A9579509A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91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29911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9816" y="6550152"/>
            <a:ext cx="2234565" cy="45720"/>
          </a:xfrm>
          <a:custGeom>
            <a:avLst/>
            <a:gdLst/>
            <a:ahLst/>
            <a:cxnLst/>
            <a:rect l="l" t="t" r="r" b="b"/>
            <a:pathLst>
              <a:path w="2234565" h="45720">
                <a:moveTo>
                  <a:pt x="2234183" y="0"/>
                </a:moveTo>
                <a:lnTo>
                  <a:pt x="0" y="0"/>
                </a:lnTo>
                <a:lnTo>
                  <a:pt x="0" y="45720"/>
                </a:lnTo>
                <a:lnTo>
                  <a:pt x="2234183" y="45720"/>
                </a:lnTo>
                <a:lnTo>
                  <a:pt x="2234183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4832" y="6550152"/>
            <a:ext cx="2581910" cy="48895"/>
          </a:xfrm>
          <a:custGeom>
            <a:avLst/>
            <a:gdLst/>
            <a:ahLst/>
            <a:cxnLst/>
            <a:rect l="l" t="t" r="r" b="b"/>
            <a:pathLst>
              <a:path w="2581910" h="48895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29911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9816" y="6550152"/>
            <a:ext cx="2234565" cy="45720"/>
          </a:xfrm>
          <a:custGeom>
            <a:avLst/>
            <a:gdLst/>
            <a:ahLst/>
            <a:cxnLst/>
            <a:rect l="l" t="t" r="r" b="b"/>
            <a:pathLst>
              <a:path w="2234565" h="45720">
                <a:moveTo>
                  <a:pt x="2234183" y="0"/>
                </a:moveTo>
                <a:lnTo>
                  <a:pt x="0" y="0"/>
                </a:lnTo>
                <a:lnTo>
                  <a:pt x="0" y="45720"/>
                </a:lnTo>
                <a:lnTo>
                  <a:pt x="2234183" y="45720"/>
                </a:lnTo>
                <a:lnTo>
                  <a:pt x="2234183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4832" y="6550152"/>
            <a:ext cx="2581910" cy="48895"/>
          </a:xfrm>
          <a:custGeom>
            <a:avLst/>
            <a:gdLst/>
            <a:ahLst/>
            <a:cxnLst/>
            <a:rect l="l" t="t" r="r" b="b"/>
            <a:pathLst>
              <a:path w="2581910" h="48895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150317"/>
            <a:ext cx="5863590" cy="1032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6276" y="1288795"/>
            <a:ext cx="8381365" cy="1873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18401" y="6641897"/>
            <a:ext cx="2047875" cy="182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45844" y="6641897"/>
            <a:ext cx="1201420" cy="182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352800"/>
              <a:ext cx="8686800" cy="2743200"/>
            </a:xfrm>
            <a:custGeom>
              <a:avLst/>
              <a:gdLst/>
              <a:ahLst/>
              <a:cxnLst/>
              <a:rect l="l" t="t" r="r" b="b"/>
              <a:pathLst>
                <a:path w="8686800" h="2743200">
                  <a:moveTo>
                    <a:pt x="86868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8686800" y="2743200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0F1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95600" y="6096000"/>
              <a:ext cx="2895600" cy="76200"/>
            </a:xfrm>
            <a:custGeom>
              <a:avLst/>
              <a:gdLst/>
              <a:ahLst/>
              <a:cxnLst/>
              <a:rect l="l" t="t" r="r" b="b"/>
              <a:pathLst>
                <a:path w="2895600" h="76200">
                  <a:moveTo>
                    <a:pt x="28956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895600" y="762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096000"/>
              <a:ext cx="2895600" cy="76200"/>
            </a:xfrm>
            <a:custGeom>
              <a:avLst/>
              <a:gdLst/>
              <a:ahLst/>
              <a:cxnLst/>
              <a:rect l="l" t="t" r="r" b="b"/>
              <a:pathLst>
                <a:path w="2895600" h="76200">
                  <a:moveTo>
                    <a:pt x="28956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895600" y="762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91200" y="6096000"/>
              <a:ext cx="2895600" cy="76200"/>
            </a:xfrm>
            <a:custGeom>
              <a:avLst/>
              <a:gdLst/>
              <a:ahLst/>
              <a:cxnLst/>
              <a:rect l="l" t="t" r="r" b="b"/>
              <a:pathLst>
                <a:path w="2895600" h="76200">
                  <a:moveTo>
                    <a:pt x="28956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895600" y="762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3352800"/>
              <a:ext cx="2057400" cy="197815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07873" y="5283809"/>
            <a:ext cx="1671320" cy="624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3375"/>
              </a:lnSpc>
              <a:spcBef>
                <a:spcPts val="105"/>
              </a:spcBef>
            </a:pPr>
            <a:r>
              <a:rPr sz="2900" b="1" spc="-125" dirty="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sz="29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1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  <a:p>
            <a:pPr marL="35560">
              <a:lnSpc>
                <a:spcPts val="1335"/>
              </a:lnSpc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Hyderabad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7075" y="3904945"/>
            <a:ext cx="15036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b="1" spc="-10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3200" b="1" spc="-2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95" dirty="0">
                <a:solidFill>
                  <a:srgbClr val="FFFFFF"/>
                </a:solidFill>
                <a:latin typeface="Arial"/>
                <a:cs typeface="Arial"/>
              </a:rPr>
              <a:t>F212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1336" y="3904945"/>
            <a:ext cx="33051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b="1" spc="-140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sz="3200" b="1" spc="-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30" dirty="0">
                <a:solidFill>
                  <a:srgbClr val="FFFFFF"/>
                </a:solidFill>
                <a:latin typeface="Arial"/>
                <a:cs typeface="Arial"/>
              </a:rPr>
              <a:t>Systems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71E7AFA-FD50-6A05-614E-9B62A4C4998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1E52120-14BF-BDE5-6610-E95C17144C8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pc="-140" dirty="0"/>
              <a:t>Conceptual</a:t>
            </a:r>
            <a:r>
              <a:rPr spc="-275" dirty="0"/>
              <a:t> </a:t>
            </a:r>
            <a:r>
              <a:rPr spc="-140" dirty="0"/>
              <a:t>Database</a:t>
            </a:r>
            <a:r>
              <a:rPr spc="-240" dirty="0"/>
              <a:t> </a:t>
            </a:r>
            <a:r>
              <a:rPr spc="-114" dirty="0"/>
              <a:t>Design (ER</a:t>
            </a:r>
            <a:r>
              <a:rPr spc="-260" dirty="0"/>
              <a:t> </a:t>
            </a:r>
            <a:r>
              <a:rPr spc="-150" dirty="0"/>
              <a:t>Modeling)</a:t>
            </a:r>
            <a:r>
              <a:rPr spc="-295" dirty="0"/>
              <a:t> </a:t>
            </a:r>
            <a:r>
              <a:rPr spc="-20" dirty="0"/>
              <a:t>Ch.7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85747" y="1704212"/>
            <a:ext cx="5288280" cy="2413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i="1" spc="-10" dirty="0">
                <a:latin typeface="Arial"/>
                <a:cs typeface="Arial"/>
              </a:rPr>
              <a:t>Content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2000">
              <a:latin typeface="Arial"/>
              <a:cs typeface="Arial"/>
            </a:endParaRPr>
          </a:p>
          <a:p>
            <a:pPr marL="304800" indent="-292100">
              <a:lnSpc>
                <a:spcPct val="100000"/>
              </a:lnSpc>
              <a:buSzPct val="75000"/>
              <a:buFont typeface="Wingdings"/>
              <a:buChar char=""/>
              <a:tabLst>
                <a:tab pos="304800" algn="l"/>
              </a:tabLst>
            </a:pP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ER</a:t>
            </a:r>
            <a:r>
              <a:rPr sz="2400" i="1" spc="-20" dirty="0">
                <a:solidFill>
                  <a:srgbClr val="17375E"/>
                </a:solidFill>
                <a:latin typeface="Arial"/>
                <a:cs typeface="Arial"/>
              </a:rPr>
              <a:t> Model</a:t>
            </a:r>
            <a:endParaRPr sz="240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68300" algn="l"/>
              </a:tabLst>
            </a:pP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Steps</a:t>
            </a:r>
            <a:r>
              <a:rPr sz="2400" i="1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i="1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Database</a:t>
            </a:r>
            <a:r>
              <a:rPr sz="2400" i="1" spc="-9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Design</a:t>
            </a:r>
            <a:r>
              <a:rPr sz="2400" i="1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17375E"/>
                </a:solidFill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  <a:p>
            <a:pPr marL="368935" indent="-356235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68935" algn="l"/>
              </a:tabLst>
            </a:pP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Entities,</a:t>
            </a:r>
            <a:r>
              <a:rPr sz="2400" i="1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Attributes,</a:t>
            </a:r>
            <a:r>
              <a:rPr sz="2400" i="1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400" i="1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17375E"/>
                </a:solidFill>
                <a:latin typeface="Arial"/>
                <a:cs typeface="Arial"/>
              </a:rPr>
              <a:t>Associations</a:t>
            </a:r>
            <a:endParaRPr sz="240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68300" algn="l"/>
              </a:tabLst>
            </a:pP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ER</a:t>
            </a:r>
            <a:r>
              <a:rPr sz="2400" i="1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17375E"/>
                </a:solidFill>
                <a:latin typeface="Arial"/>
                <a:cs typeface="Arial"/>
              </a:rPr>
              <a:t>Notations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644" y="1548765"/>
            <a:ext cx="5130165" cy="478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Step</a:t>
            </a:r>
            <a:r>
              <a:rPr sz="2400" spc="-9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1:</a:t>
            </a:r>
            <a:r>
              <a:rPr sz="2400" spc="-7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Requirement</a:t>
            </a:r>
            <a:r>
              <a:rPr sz="2400" spc="-6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504D"/>
                </a:solidFill>
                <a:latin typeface="Arial"/>
                <a:cs typeface="Arial"/>
              </a:rPr>
              <a:t>analysis</a:t>
            </a:r>
            <a:endParaRPr sz="2400" dirty="0">
              <a:latin typeface="Arial"/>
              <a:cs typeface="Arial"/>
            </a:endParaRPr>
          </a:p>
          <a:p>
            <a:pPr marL="713105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713105" algn="l"/>
              </a:tabLst>
            </a:pP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Understanding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domain</a:t>
            </a:r>
            <a:endParaRPr sz="2400" dirty="0">
              <a:latin typeface="Arial"/>
              <a:cs typeface="Arial"/>
            </a:endParaRPr>
          </a:p>
          <a:p>
            <a:pPr marL="713105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713105" algn="l"/>
              </a:tabLst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Identifying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data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be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stored</a:t>
            </a:r>
            <a:endParaRPr sz="2400" dirty="0">
              <a:latin typeface="Arial"/>
              <a:cs typeface="Arial"/>
            </a:endParaRPr>
          </a:p>
          <a:p>
            <a:pPr marL="713105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713105" algn="l"/>
              </a:tabLst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Identifying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constraints</a:t>
            </a:r>
            <a:endParaRPr sz="2400" dirty="0">
              <a:latin typeface="Arial"/>
              <a:cs typeface="Arial"/>
            </a:endParaRPr>
          </a:p>
          <a:p>
            <a:pPr marL="469900" marR="147320" indent="-457834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Step</a:t>
            </a:r>
            <a:r>
              <a:rPr sz="2400" spc="-9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2:</a:t>
            </a:r>
            <a:r>
              <a:rPr sz="2400" spc="-6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Conceptual</a:t>
            </a:r>
            <a:r>
              <a:rPr sz="2400" spc="-7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Database</a:t>
            </a:r>
            <a:r>
              <a:rPr sz="2400" spc="-9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504D"/>
                </a:solidFill>
                <a:latin typeface="Arial"/>
                <a:cs typeface="Arial"/>
              </a:rPr>
              <a:t>design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E-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R</a:t>
            </a:r>
            <a:r>
              <a:rPr sz="240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modeling/UML</a:t>
            </a:r>
            <a:endParaRPr sz="2400" dirty="0">
              <a:latin typeface="Arial"/>
              <a:cs typeface="Arial"/>
            </a:endParaRPr>
          </a:p>
          <a:p>
            <a:pPr marL="469900" marR="5080" indent="-457834">
              <a:lnSpc>
                <a:spcPct val="100000"/>
              </a:lnSpc>
            </a:pP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Step</a:t>
            </a:r>
            <a:r>
              <a:rPr sz="2400" spc="-9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3:</a:t>
            </a:r>
            <a:r>
              <a:rPr sz="2400" spc="-6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Logical</a:t>
            </a:r>
            <a:r>
              <a:rPr sz="2400" spc="-3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Database</a:t>
            </a:r>
            <a:r>
              <a:rPr sz="2400" spc="-9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504D"/>
                </a:solidFill>
                <a:latin typeface="Arial"/>
                <a:cs typeface="Arial"/>
              </a:rPr>
              <a:t>Design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Designing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tables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relationships</a:t>
            </a:r>
            <a:endParaRPr sz="2400" dirty="0">
              <a:latin typeface="Arial"/>
              <a:cs typeface="Arial"/>
            </a:endParaRPr>
          </a:p>
          <a:p>
            <a:pPr marL="12700" marR="60769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Step</a:t>
            </a:r>
            <a:r>
              <a:rPr sz="2400" spc="-6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4:</a:t>
            </a:r>
            <a:r>
              <a:rPr sz="2400" spc="-4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Refinement</a:t>
            </a:r>
            <a:r>
              <a:rPr sz="2400" spc="-8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of</a:t>
            </a:r>
            <a:r>
              <a:rPr sz="2400" spc="-4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504D"/>
                </a:solidFill>
                <a:latin typeface="Arial"/>
                <a:cs typeface="Arial"/>
              </a:rPr>
              <a:t>schema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Step</a:t>
            </a:r>
            <a:r>
              <a:rPr sz="2400" spc="-9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5:</a:t>
            </a:r>
            <a:r>
              <a:rPr sz="2400" spc="-7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Physical</a:t>
            </a:r>
            <a:r>
              <a:rPr sz="2400" spc="-3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database</a:t>
            </a:r>
            <a:r>
              <a:rPr sz="2400" spc="-1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504D"/>
                </a:solidFill>
                <a:latin typeface="Arial"/>
                <a:cs typeface="Arial"/>
              </a:rPr>
              <a:t>design</a:t>
            </a:r>
            <a:endParaRPr sz="2400" dirty="0">
              <a:latin typeface="Arial"/>
              <a:cs typeface="Arial"/>
            </a:endParaRPr>
          </a:p>
          <a:p>
            <a:pPr marL="740410" indent="-273050">
              <a:lnSpc>
                <a:spcPct val="100000"/>
              </a:lnSpc>
              <a:buSzPct val="95833"/>
              <a:buFont typeface="Wingdings"/>
              <a:buChar char=""/>
              <a:tabLst>
                <a:tab pos="740410" algn="l"/>
              </a:tabLst>
            </a:pP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Indexing</a:t>
            </a:r>
            <a:endParaRPr sz="2400" dirty="0">
              <a:latin typeface="Arial"/>
              <a:cs typeface="Arial"/>
            </a:endParaRPr>
          </a:p>
          <a:p>
            <a:pPr marL="741045" indent="-273050">
              <a:lnSpc>
                <a:spcPct val="100000"/>
              </a:lnSpc>
              <a:buSzPct val="95833"/>
              <a:buFont typeface="Wingdings"/>
              <a:buChar char=""/>
              <a:tabLst>
                <a:tab pos="741045" algn="l"/>
              </a:tabLst>
            </a:pP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Clustering</a:t>
            </a:r>
            <a:endParaRPr sz="2400" dirty="0">
              <a:latin typeface="Arial"/>
              <a:cs typeface="Arial"/>
            </a:endParaRPr>
          </a:p>
          <a:p>
            <a:pPr marL="825500" indent="-355600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"/>
              <a:tabLst>
                <a:tab pos="825500" algn="l"/>
              </a:tabLst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Storage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formats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3540" y="150317"/>
            <a:ext cx="4900295" cy="10325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pc="-120" dirty="0"/>
              <a:t>Major</a:t>
            </a:r>
            <a:r>
              <a:rPr spc="-310" dirty="0"/>
              <a:t> </a:t>
            </a:r>
            <a:r>
              <a:rPr spc="-125" dirty="0"/>
              <a:t>Steps</a:t>
            </a:r>
            <a:r>
              <a:rPr spc="-285" dirty="0"/>
              <a:t> </a:t>
            </a:r>
            <a:r>
              <a:rPr spc="-75" dirty="0"/>
              <a:t>in</a:t>
            </a:r>
            <a:r>
              <a:rPr spc="-295" dirty="0"/>
              <a:t> </a:t>
            </a:r>
            <a:r>
              <a:rPr spc="-130" dirty="0"/>
              <a:t>Database </a:t>
            </a:r>
            <a:r>
              <a:rPr spc="-140" dirty="0"/>
              <a:t>Design</a:t>
            </a:r>
            <a:r>
              <a:rPr spc="-280" dirty="0"/>
              <a:t> </a:t>
            </a:r>
            <a:r>
              <a:rPr spc="-10" dirty="0"/>
              <a:t>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6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ER</a:t>
            </a:r>
            <a:r>
              <a:rPr spc="-295" dirty="0"/>
              <a:t> </a:t>
            </a:r>
            <a:r>
              <a:rPr spc="-114" dirty="0"/>
              <a:t>Modeling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26542" y="1545717"/>
            <a:ext cx="8284209" cy="4722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76860">
              <a:lnSpc>
                <a:spcPct val="100000"/>
              </a:lnSpc>
              <a:spcBef>
                <a:spcPts val="105"/>
              </a:spcBef>
            </a:pPr>
            <a:r>
              <a:rPr sz="2800" i="1" dirty="0">
                <a:solidFill>
                  <a:srgbClr val="943735"/>
                </a:solidFill>
                <a:latin typeface="Arial"/>
                <a:cs typeface="Arial"/>
              </a:rPr>
              <a:t>ER</a:t>
            </a:r>
            <a:r>
              <a:rPr sz="2800" i="1" spc="-6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943735"/>
                </a:solidFill>
                <a:latin typeface="Arial"/>
                <a:cs typeface="Arial"/>
              </a:rPr>
              <a:t>Model</a:t>
            </a:r>
            <a:r>
              <a:rPr sz="2800" i="1" spc="-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popular</a:t>
            </a:r>
            <a:r>
              <a:rPr sz="28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high-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level</a:t>
            </a:r>
            <a:r>
              <a:rPr sz="2800" spc="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(conceptual)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data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model.</a:t>
            </a:r>
            <a:endParaRPr sz="2800">
              <a:latin typeface="Arial"/>
              <a:cs typeface="Arial"/>
            </a:endParaRPr>
          </a:p>
          <a:p>
            <a:pPr marL="12700" marR="12446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It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approach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8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designing</a:t>
            </a:r>
            <a:r>
              <a:rPr sz="28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Semantic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Conceptual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schema</a:t>
            </a:r>
            <a:r>
              <a:rPr sz="28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Database.</a:t>
            </a:r>
            <a:endParaRPr sz="2800">
              <a:latin typeface="Arial"/>
              <a:cs typeface="Arial"/>
            </a:endParaRPr>
          </a:p>
          <a:p>
            <a:pPr marL="12700" marR="127000">
              <a:lnSpc>
                <a:spcPct val="100000"/>
              </a:lnSpc>
            </a:pP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ER</a:t>
            </a:r>
            <a:r>
              <a:rPr sz="28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model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allows</a:t>
            </a:r>
            <a:r>
              <a:rPr sz="2800" spc="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us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8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describe</a:t>
            </a:r>
            <a:r>
              <a:rPr sz="28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data</a:t>
            </a:r>
            <a:r>
              <a:rPr sz="28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involved</a:t>
            </a:r>
            <a:r>
              <a:rPr sz="2800" spc="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in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8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real-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world</a:t>
            </a:r>
            <a:r>
              <a:rPr sz="2800" spc="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environment</a:t>
            </a:r>
            <a:r>
              <a:rPr sz="280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terms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8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objects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their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relationships,</a:t>
            </a:r>
            <a:r>
              <a:rPr sz="28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which</a:t>
            </a:r>
            <a:r>
              <a:rPr sz="2800" spc="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widely</a:t>
            </a:r>
            <a:r>
              <a:rPr sz="280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used</a:t>
            </a:r>
            <a:r>
              <a:rPr sz="28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8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design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database.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ER</a:t>
            </a:r>
            <a:r>
              <a:rPr sz="28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model</a:t>
            </a:r>
            <a:r>
              <a:rPr sz="28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provides</a:t>
            </a:r>
            <a:r>
              <a:rPr sz="280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preliminary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concepts</a:t>
            </a:r>
            <a:r>
              <a:rPr sz="28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or</a:t>
            </a:r>
            <a:r>
              <a:rPr sz="28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idea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about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data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representation</a:t>
            </a:r>
            <a:r>
              <a:rPr sz="28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which</a:t>
            </a:r>
            <a:r>
              <a:rPr sz="280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later</a:t>
            </a:r>
            <a:r>
              <a:rPr sz="280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modified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achieve</a:t>
            </a:r>
            <a:r>
              <a:rPr sz="28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final</a:t>
            </a:r>
            <a:r>
              <a:rPr sz="28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detailed</a:t>
            </a:r>
            <a:r>
              <a:rPr sz="28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design.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6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ER</a:t>
            </a:r>
            <a:r>
              <a:rPr spc="-295" dirty="0"/>
              <a:t> </a:t>
            </a:r>
            <a:r>
              <a:rPr spc="-114" dirty="0"/>
              <a:t>Modeling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9615" y="1762125"/>
            <a:ext cx="8075295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8575" algn="l"/>
              </a:tabLst>
            </a:pP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Important</a:t>
            </a:r>
            <a:r>
              <a:rPr sz="2400" spc="-9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943735"/>
                </a:solidFill>
                <a:latin typeface="Arial"/>
                <a:cs typeface="Arial"/>
              </a:rPr>
              <a:t>concepts/notions</a:t>
            </a: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	used</a:t>
            </a:r>
            <a:r>
              <a:rPr sz="2400" spc="-8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in</a:t>
            </a:r>
            <a:r>
              <a:rPr sz="2400" spc="-3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ER</a:t>
            </a:r>
            <a:r>
              <a:rPr sz="2400" spc="-6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modeling</a:t>
            </a:r>
            <a:r>
              <a:rPr sz="2400" spc="-6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943735"/>
                </a:solidFill>
                <a:latin typeface="Arial"/>
                <a:cs typeface="Arial"/>
              </a:rPr>
              <a:t>are-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 marR="5080" indent="914400">
              <a:lnSpc>
                <a:spcPct val="100000"/>
              </a:lnSpc>
              <a:tabLst>
                <a:tab pos="3670935" algn="l"/>
              </a:tabLst>
            </a:pPr>
            <a:r>
              <a:rPr sz="2400" i="1" dirty="0">
                <a:solidFill>
                  <a:srgbClr val="C0504D"/>
                </a:solidFill>
                <a:latin typeface="Arial"/>
                <a:cs typeface="Arial"/>
              </a:rPr>
              <a:t>Entity</a:t>
            </a:r>
            <a:r>
              <a:rPr sz="2400" i="1" spc="-5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object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real-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world</a:t>
            </a:r>
            <a:r>
              <a:rPr sz="2400" spc="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or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some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idea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or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concept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which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can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be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	distinguished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from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other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objects.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Ex.: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person,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school,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class,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department,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weather,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salary,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temperature</a:t>
            </a:r>
            <a:r>
              <a:rPr sz="24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i="1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has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independent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existence.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solidFill>
                  <a:srgbClr val="0F1141"/>
                </a:solidFill>
                <a:latin typeface="Arial"/>
                <a:cs typeface="Arial"/>
              </a:rPr>
              <a:t>Each</a:t>
            </a:r>
            <a:r>
              <a:rPr sz="2400" spc="-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400" spc="-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1141"/>
                </a:solidFill>
                <a:latin typeface="Arial"/>
                <a:cs typeface="Arial"/>
              </a:rPr>
              <a:t>belongs</a:t>
            </a:r>
            <a:r>
              <a:rPr sz="24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1141"/>
                </a:solidFill>
                <a:latin typeface="Arial"/>
                <a:cs typeface="Arial"/>
              </a:rPr>
              <a:t>to</a:t>
            </a:r>
            <a:r>
              <a:rPr sz="24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1141"/>
                </a:solidFill>
                <a:latin typeface="Arial"/>
                <a:cs typeface="Arial"/>
              </a:rPr>
              <a:t>an</a:t>
            </a:r>
            <a:r>
              <a:rPr sz="2400" spc="-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C00000"/>
                </a:solidFill>
                <a:latin typeface="Arial"/>
                <a:cs typeface="Arial"/>
              </a:rPr>
              <a:t>Entity</a:t>
            </a:r>
            <a:r>
              <a:rPr sz="2400" i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C00000"/>
                </a:solidFill>
                <a:latin typeface="Arial"/>
                <a:cs typeface="Arial"/>
              </a:rPr>
              <a:t>type</a:t>
            </a:r>
            <a:r>
              <a:rPr sz="2400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1141"/>
                </a:solidFill>
                <a:latin typeface="Arial"/>
                <a:cs typeface="Arial"/>
              </a:rPr>
              <a:t>that</a:t>
            </a:r>
            <a:r>
              <a:rPr sz="2400" spc="-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1141"/>
                </a:solidFill>
                <a:latin typeface="Arial"/>
                <a:cs typeface="Arial"/>
              </a:rPr>
              <a:t>defines</a:t>
            </a:r>
            <a:r>
              <a:rPr sz="2400" spc="-9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F1141"/>
                </a:solidFill>
                <a:latin typeface="Arial"/>
                <a:cs typeface="Arial"/>
              </a:rPr>
              <a:t>structure.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400" i="1" dirty="0">
                <a:solidFill>
                  <a:srgbClr val="943735"/>
                </a:solidFill>
                <a:latin typeface="Arial"/>
                <a:cs typeface="Arial"/>
              </a:rPr>
              <a:t>Entity</a:t>
            </a:r>
            <a:r>
              <a:rPr sz="2400" i="1" spc="-5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943735"/>
                </a:solidFill>
                <a:latin typeface="Arial"/>
                <a:cs typeface="Arial"/>
              </a:rPr>
              <a:t>Set</a:t>
            </a:r>
            <a:r>
              <a:rPr sz="2400" i="1" spc="-6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Collection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similar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objects.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487881"/>
            <a:ext cx="8474710" cy="3074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38250" algn="l"/>
              </a:tabLst>
            </a:pPr>
            <a:r>
              <a:rPr sz="2000" i="1" spc="-10" dirty="0">
                <a:solidFill>
                  <a:srgbClr val="943735"/>
                </a:solidFill>
                <a:latin typeface="Arial"/>
                <a:cs typeface="Arial"/>
              </a:rPr>
              <a:t>Attribute:</a:t>
            </a:r>
            <a:r>
              <a:rPr sz="2000" i="1" dirty="0">
                <a:solidFill>
                  <a:srgbClr val="943735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reflects</a:t>
            </a:r>
            <a:r>
              <a:rPr sz="20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property</a:t>
            </a:r>
            <a:r>
              <a:rPr sz="20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0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0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object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or</a:t>
            </a:r>
            <a:r>
              <a:rPr sz="20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7375E"/>
                </a:solidFill>
                <a:latin typeface="Arial"/>
                <a:cs typeface="Arial"/>
              </a:rPr>
              <a:t>entity.</a:t>
            </a:r>
            <a:r>
              <a:rPr sz="20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We</a:t>
            </a:r>
            <a:r>
              <a:rPr sz="20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have</a:t>
            </a:r>
            <a:r>
              <a:rPr sz="20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following</a:t>
            </a:r>
            <a:r>
              <a:rPr sz="2000" spc="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0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attributes.</a:t>
            </a:r>
            <a:endParaRPr sz="2000">
              <a:latin typeface="Arial"/>
              <a:cs typeface="Arial"/>
            </a:endParaRPr>
          </a:p>
          <a:p>
            <a:pPr marL="1142365" indent="-215265">
              <a:lnSpc>
                <a:spcPct val="100000"/>
              </a:lnSpc>
              <a:buChar char="&gt;"/>
              <a:tabLst>
                <a:tab pos="114236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Simple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1142365" indent="-215265">
              <a:lnSpc>
                <a:spcPct val="100000"/>
              </a:lnSpc>
              <a:buChar char="&gt;"/>
              <a:tabLst>
                <a:tab pos="114236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Composite</a:t>
            </a:r>
            <a:r>
              <a:rPr sz="20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1142365" indent="-215265">
              <a:lnSpc>
                <a:spcPct val="100000"/>
              </a:lnSpc>
              <a:buChar char="&gt;"/>
              <a:tabLst>
                <a:tab pos="114236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Single</a:t>
            </a:r>
            <a:r>
              <a:rPr sz="20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valued</a:t>
            </a:r>
            <a:r>
              <a:rPr sz="20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1142365" indent="-215265">
              <a:lnSpc>
                <a:spcPct val="100000"/>
              </a:lnSpc>
              <a:buChar char="&gt;"/>
              <a:tabLst>
                <a:tab pos="1142365" algn="l"/>
              </a:tabLst>
            </a:pPr>
            <a:r>
              <a:rPr sz="2000" spc="-25" dirty="0">
                <a:solidFill>
                  <a:srgbClr val="17375E"/>
                </a:solidFill>
                <a:latin typeface="Arial"/>
                <a:cs typeface="Arial"/>
              </a:rPr>
              <a:t>Multi-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valued</a:t>
            </a:r>
            <a:r>
              <a:rPr sz="2000" spc="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1142365" indent="-215265">
              <a:lnSpc>
                <a:spcPct val="100000"/>
              </a:lnSpc>
              <a:spcBef>
                <a:spcPts val="5"/>
              </a:spcBef>
              <a:buChar char="&gt;"/>
              <a:tabLst>
                <a:tab pos="114236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Derived</a:t>
            </a:r>
            <a:r>
              <a:rPr sz="20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1142365" indent="-215265">
              <a:lnSpc>
                <a:spcPct val="100000"/>
              </a:lnSpc>
              <a:buChar char="&gt;"/>
              <a:tabLst>
                <a:tab pos="114236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Stored</a:t>
            </a:r>
            <a:r>
              <a:rPr sz="20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28980" algn="l"/>
              </a:tabLst>
            </a:pPr>
            <a:r>
              <a:rPr sz="2000" i="1" dirty="0">
                <a:solidFill>
                  <a:srgbClr val="943735"/>
                </a:solidFill>
                <a:latin typeface="Arial"/>
                <a:cs typeface="Arial"/>
              </a:rPr>
              <a:t>Key</a:t>
            </a:r>
            <a:r>
              <a:rPr sz="2000" i="1" spc="-1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0F1141"/>
                </a:solidFill>
                <a:latin typeface="Arial"/>
                <a:cs typeface="Arial"/>
              </a:rPr>
              <a:t>: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	Is</a:t>
            </a:r>
            <a:r>
              <a:rPr sz="2000" spc="-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an</a:t>
            </a:r>
            <a:r>
              <a:rPr sz="2000" spc="3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Attribute</a:t>
            </a:r>
            <a:r>
              <a:rPr sz="20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000" spc="-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an</a:t>
            </a:r>
            <a:r>
              <a:rPr sz="2000" spc="-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000" spc="-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000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whose</a:t>
            </a:r>
            <a:r>
              <a:rPr sz="20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value</a:t>
            </a:r>
            <a:r>
              <a:rPr sz="2000" spc="-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can</a:t>
            </a:r>
            <a:r>
              <a:rPr sz="2000" spc="-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uniquely</a:t>
            </a:r>
            <a:r>
              <a:rPr sz="2000" spc="-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identify</a:t>
            </a:r>
            <a:r>
              <a:rPr sz="2000" spc="-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F1141"/>
                </a:solidFill>
                <a:latin typeface="Arial"/>
                <a:cs typeface="Arial"/>
              </a:rPr>
              <a:t>an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000" spc="-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0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000" spc="-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F1141"/>
                </a:solidFill>
                <a:latin typeface="Arial"/>
                <a:cs typeface="Arial"/>
              </a:rPr>
              <a:t>set.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42614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Concepts</a:t>
            </a:r>
            <a:r>
              <a:rPr spc="-305" dirty="0"/>
              <a:t> </a:t>
            </a:r>
            <a:r>
              <a:rPr spc="-120" dirty="0"/>
              <a:t>used</a:t>
            </a:r>
            <a:r>
              <a:rPr spc="-285" dirty="0"/>
              <a:t> </a:t>
            </a:r>
            <a:r>
              <a:rPr spc="-75" dirty="0"/>
              <a:t>in</a:t>
            </a:r>
            <a:r>
              <a:rPr spc="-285" dirty="0"/>
              <a:t> </a:t>
            </a:r>
            <a:r>
              <a:rPr spc="-25" dirty="0"/>
              <a:t>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005660"/>
            <a:ext cx="701548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C0504D"/>
                </a:solidFill>
                <a:latin typeface="Arial"/>
                <a:cs typeface="Arial"/>
              </a:rPr>
              <a:t>Relationship</a:t>
            </a:r>
            <a:r>
              <a:rPr sz="2400" spc="-10" dirty="0">
                <a:solidFill>
                  <a:srgbClr val="C0504D"/>
                </a:solidFill>
                <a:latin typeface="Arial"/>
                <a:cs typeface="Arial"/>
              </a:rPr>
              <a:t>:</a:t>
            </a:r>
            <a:r>
              <a:rPr sz="2400" spc="-10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association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between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entities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known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as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C0504D"/>
                </a:solidFill>
                <a:latin typeface="Arial"/>
                <a:cs typeface="Arial"/>
              </a:rPr>
              <a:t>Domain</a:t>
            </a:r>
            <a:r>
              <a:rPr sz="2400" i="1" spc="-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C0504D"/>
                </a:solidFill>
                <a:latin typeface="Arial"/>
                <a:cs typeface="Arial"/>
              </a:rPr>
              <a:t>of</a:t>
            </a:r>
            <a:r>
              <a:rPr sz="2400" i="1" spc="-6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C0504D"/>
                </a:solidFill>
                <a:latin typeface="Arial"/>
                <a:cs typeface="Arial"/>
              </a:rPr>
              <a:t>an</a:t>
            </a:r>
            <a:r>
              <a:rPr sz="2400" i="1" spc="-6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C0504D"/>
                </a:solidFill>
                <a:latin typeface="Arial"/>
                <a:cs typeface="Arial"/>
              </a:rPr>
              <a:t>attribute</a:t>
            </a:r>
            <a:r>
              <a:rPr sz="2400" dirty="0">
                <a:solidFill>
                  <a:srgbClr val="C0504D"/>
                </a:solidFill>
                <a:latin typeface="Arial"/>
                <a:cs typeface="Arial"/>
              </a:rPr>
              <a:t>:</a:t>
            </a:r>
            <a:r>
              <a:rPr sz="2400" spc="-13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set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possible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values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known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as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domain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42614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Concepts</a:t>
            </a:r>
            <a:r>
              <a:rPr spc="-305" dirty="0"/>
              <a:t> </a:t>
            </a:r>
            <a:r>
              <a:rPr spc="-120" dirty="0"/>
              <a:t>used</a:t>
            </a:r>
            <a:r>
              <a:rPr spc="-285" dirty="0"/>
              <a:t> </a:t>
            </a:r>
            <a:r>
              <a:rPr spc="-75" dirty="0"/>
              <a:t>in</a:t>
            </a:r>
            <a:r>
              <a:rPr spc="-285" dirty="0"/>
              <a:t> </a:t>
            </a:r>
            <a:r>
              <a:rPr spc="-25" dirty="0"/>
              <a:t>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713732" y="1997159"/>
          <a:ext cx="1958339" cy="3803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7845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Weak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2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Relationship</a:t>
                      </a:r>
                      <a:r>
                        <a:rPr sz="120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Identifying</a:t>
                      </a:r>
                      <a:r>
                        <a:rPr sz="12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Relationship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07340" y="1319606"/>
            <a:ext cx="6656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44060"/>
                </a:solidFill>
                <a:latin typeface="Arial"/>
                <a:cs typeface="Arial"/>
              </a:rPr>
              <a:t>Notations</a:t>
            </a:r>
            <a:r>
              <a:rPr sz="2400" spc="-65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44060"/>
                </a:solidFill>
                <a:latin typeface="Arial"/>
                <a:cs typeface="Arial"/>
              </a:rPr>
              <a:t>used</a:t>
            </a:r>
            <a:r>
              <a:rPr sz="2400" spc="-80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44060"/>
                </a:solidFill>
                <a:latin typeface="Arial"/>
                <a:cs typeface="Arial"/>
              </a:rPr>
              <a:t>in</a:t>
            </a:r>
            <a:r>
              <a:rPr sz="2400" spc="-40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44060"/>
                </a:solidFill>
                <a:latin typeface="Arial"/>
                <a:cs typeface="Arial"/>
              </a:rPr>
              <a:t>ER</a:t>
            </a:r>
            <a:r>
              <a:rPr sz="2400" spc="-40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44060"/>
                </a:solidFill>
                <a:latin typeface="Arial"/>
                <a:cs typeface="Arial"/>
              </a:rPr>
              <a:t>modeling</a:t>
            </a:r>
            <a:r>
              <a:rPr sz="2400" spc="-75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44060"/>
                </a:solidFill>
                <a:latin typeface="Arial"/>
                <a:cs typeface="Arial"/>
              </a:rPr>
              <a:t>are</a:t>
            </a:r>
            <a:r>
              <a:rPr sz="2400" spc="-60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44060"/>
                </a:solidFill>
                <a:latin typeface="Arial"/>
                <a:cs typeface="Arial"/>
              </a:rPr>
              <a:t>shown</a:t>
            </a:r>
            <a:r>
              <a:rPr sz="2400" spc="-10" dirty="0">
                <a:solidFill>
                  <a:srgbClr val="244060"/>
                </a:solidFill>
                <a:latin typeface="Arial"/>
                <a:cs typeface="Arial"/>
              </a:rPr>
              <a:t> below.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Notations</a:t>
            </a:r>
            <a:r>
              <a:rPr spc="-330" dirty="0"/>
              <a:t> </a:t>
            </a:r>
            <a:r>
              <a:rPr spc="-120" dirty="0"/>
              <a:t>used</a:t>
            </a:r>
            <a:r>
              <a:rPr spc="-285" dirty="0"/>
              <a:t> </a:t>
            </a:r>
            <a:r>
              <a:rPr spc="-75" dirty="0"/>
              <a:t>in</a:t>
            </a:r>
            <a:r>
              <a:rPr spc="-254" dirty="0"/>
              <a:t> </a:t>
            </a:r>
            <a:r>
              <a:rPr spc="-25" dirty="0"/>
              <a:t>ER</a:t>
            </a:r>
          </a:p>
        </p:txBody>
      </p:sp>
      <p:sp>
        <p:nvSpPr>
          <p:cNvPr id="5" name="object 5"/>
          <p:cNvSpPr/>
          <p:nvPr/>
        </p:nvSpPr>
        <p:spPr>
          <a:xfrm>
            <a:off x="2907493" y="1912023"/>
            <a:ext cx="1180465" cy="283845"/>
          </a:xfrm>
          <a:custGeom>
            <a:avLst/>
            <a:gdLst/>
            <a:ahLst/>
            <a:cxnLst/>
            <a:rect l="l" t="t" r="r" b="b"/>
            <a:pathLst>
              <a:path w="1180464" h="283844">
                <a:moveTo>
                  <a:pt x="0" y="283582"/>
                </a:moveTo>
                <a:lnTo>
                  <a:pt x="1180239" y="283582"/>
                </a:lnTo>
                <a:lnTo>
                  <a:pt x="1180238" y="0"/>
                </a:lnTo>
                <a:lnTo>
                  <a:pt x="0" y="0"/>
                </a:lnTo>
                <a:lnTo>
                  <a:pt x="0" y="283582"/>
                </a:lnTo>
                <a:close/>
              </a:path>
            </a:pathLst>
          </a:custGeom>
          <a:ln w="84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886455" y="2657855"/>
            <a:ext cx="1228725" cy="320040"/>
            <a:chOff x="2886455" y="2657855"/>
            <a:chExt cx="1228725" cy="320040"/>
          </a:xfrm>
        </p:grpSpPr>
        <p:sp>
          <p:nvSpPr>
            <p:cNvPr id="7" name="object 7"/>
            <p:cNvSpPr/>
            <p:nvPr/>
          </p:nvSpPr>
          <p:spPr>
            <a:xfrm>
              <a:off x="2895587" y="2667025"/>
              <a:ext cx="1210310" cy="302260"/>
            </a:xfrm>
            <a:custGeom>
              <a:avLst/>
              <a:gdLst/>
              <a:ahLst/>
              <a:cxnLst/>
              <a:rect l="l" t="t" r="r" b="b"/>
              <a:pathLst>
                <a:path w="1210310" h="302260">
                  <a:moveTo>
                    <a:pt x="1182992" y="12255"/>
                  </a:moveTo>
                  <a:lnTo>
                    <a:pt x="1164691" y="12255"/>
                  </a:lnTo>
                  <a:lnTo>
                    <a:pt x="1164691" y="23571"/>
                  </a:lnTo>
                  <a:lnTo>
                    <a:pt x="1164691" y="274383"/>
                  </a:lnTo>
                  <a:lnTo>
                    <a:pt x="39344" y="274383"/>
                  </a:lnTo>
                  <a:lnTo>
                    <a:pt x="39344" y="23571"/>
                  </a:lnTo>
                  <a:lnTo>
                    <a:pt x="1164691" y="23571"/>
                  </a:lnTo>
                  <a:lnTo>
                    <a:pt x="1164691" y="12255"/>
                  </a:lnTo>
                  <a:lnTo>
                    <a:pt x="21043" y="12255"/>
                  </a:lnTo>
                  <a:lnTo>
                    <a:pt x="21043" y="23571"/>
                  </a:lnTo>
                  <a:lnTo>
                    <a:pt x="21043" y="274383"/>
                  </a:lnTo>
                  <a:lnTo>
                    <a:pt x="21043" y="284759"/>
                  </a:lnTo>
                  <a:lnTo>
                    <a:pt x="1182992" y="284759"/>
                  </a:lnTo>
                  <a:lnTo>
                    <a:pt x="1182992" y="274383"/>
                  </a:lnTo>
                  <a:lnTo>
                    <a:pt x="1182992" y="23571"/>
                  </a:lnTo>
                  <a:lnTo>
                    <a:pt x="1182992" y="23202"/>
                  </a:lnTo>
                  <a:lnTo>
                    <a:pt x="1182992" y="12255"/>
                  </a:lnTo>
                  <a:close/>
                </a:path>
                <a:path w="1210310" h="302260">
                  <a:moveTo>
                    <a:pt x="1210056" y="0"/>
                  </a:moveTo>
                  <a:lnTo>
                    <a:pt x="0" y="0"/>
                  </a:lnTo>
                  <a:lnTo>
                    <a:pt x="0" y="1892"/>
                  </a:lnTo>
                  <a:lnTo>
                    <a:pt x="0" y="296075"/>
                  </a:lnTo>
                  <a:lnTo>
                    <a:pt x="0" y="301726"/>
                  </a:lnTo>
                  <a:lnTo>
                    <a:pt x="1210056" y="301739"/>
                  </a:lnTo>
                  <a:lnTo>
                    <a:pt x="1210056" y="296075"/>
                  </a:lnTo>
                  <a:lnTo>
                    <a:pt x="2755" y="296075"/>
                  </a:lnTo>
                  <a:lnTo>
                    <a:pt x="2755" y="1892"/>
                  </a:lnTo>
                  <a:lnTo>
                    <a:pt x="1201293" y="1892"/>
                  </a:lnTo>
                  <a:lnTo>
                    <a:pt x="1201293" y="295986"/>
                  </a:lnTo>
                  <a:lnTo>
                    <a:pt x="1210056" y="295986"/>
                  </a:lnTo>
                  <a:lnTo>
                    <a:pt x="1210056" y="1892"/>
                  </a:lnTo>
                  <a:lnTo>
                    <a:pt x="1210056" y="1600"/>
                  </a:lnTo>
                  <a:lnTo>
                    <a:pt x="12100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91027" y="2662427"/>
              <a:ext cx="1219200" cy="311150"/>
            </a:xfrm>
            <a:custGeom>
              <a:avLst/>
              <a:gdLst/>
              <a:ahLst/>
              <a:cxnLst/>
              <a:rect l="l" t="t" r="r" b="b"/>
              <a:pathLst>
                <a:path w="1219200" h="311150">
                  <a:moveTo>
                    <a:pt x="0" y="310896"/>
                  </a:moveTo>
                  <a:lnTo>
                    <a:pt x="1219200" y="310896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31089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3153716" y="3522062"/>
            <a:ext cx="698500" cy="588010"/>
          </a:xfrm>
          <a:custGeom>
            <a:avLst/>
            <a:gdLst/>
            <a:ahLst/>
            <a:cxnLst/>
            <a:rect l="l" t="t" r="r" b="b"/>
            <a:pathLst>
              <a:path w="698500" h="588010">
                <a:moveTo>
                  <a:pt x="349109" y="0"/>
                </a:moveTo>
                <a:lnTo>
                  <a:pt x="0" y="293750"/>
                </a:lnTo>
                <a:lnTo>
                  <a:pt x="349109" y="587496"/>
                </a:lnTo>
                <a:lnTo>
                  <a:pt x="698219" y="293750"/>
                </a:lnTo>
                <a:lnTo>
                  <a:pt x="349109" y="0"/>
                </a:lnTo>
                <a:close/>
              </a:path>
            </a:pathLst>
          </a:custGeom>
          <a:ln w="104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1360" y="4419600"/>
            <a:ext cx="759460" cy="622300"/>
          </a:xfrm>
          <a:custGeom>
            <a:avLst/>
            <a:gdLst/>
            <a:ahLst/>
            <a:cxnLst/>
            <a:rect l="l" t="t" r="r" b="b"/>
            <a:pathLst>
              <a:path w="759460" h="622300">
                <a:moveTo>
                  <a:pt x="390657" y="0"/>
                </a:moveTo>
                <a:lnTo>
                  <a:pt x="363523" y="0"/>
                </a:lnTo>
                <a:lnTo>
                  <a:pt x="0" y="304650"/>
                </a:lnTo>
                <a:lnTo>
                  <a:pt x="0" y="316575"/>
                </a:lnTo>
                <a:lnTo>
                  <a:pt x="364203" y="621791"/>
                </a:lnTo>
                <a:lnTo>
                  <a:pt x="389978" y="621791"/>
                </a:lnTo>
                <a:lnTo>
                  <a:pt x="399550" y="613770"/>
                </a:lnTo>
                <a:lnTo>
                  <a:pt x="377091" y="613770"/>
                </a:lnTo>
                <a:lnTo>
                  <a:pt x="15345" y="310612"/>
                </a:lnTo>
                <a:lnTo>
                  <a:pt x="377090" y="7451"/>
                </a:lnTo>
                <a:lnTo>
                  <a:pt x="399549" y="7451"/>
                </a:lnTo>
                <a:lnTo>
                  <a:pt x="390657" y="0"/>
                </a:lnTo>
                <a:close/>
              </a:path>
              <a:path w="759460" h="622300">
                <a:moveTo>
                  <a:pt x="399549" y="7451"/>
                </a:moveTo>
                <a:lnTo>
                  <a:pt x="377090" y="7451"/>
                </a:lnTo>
                <a:lnTo>
                  <a:pt x="738841" y="310612"/>
                </a:lnTo>
                <a:lnTo>
                  <a:pt x="377091" y="613770"/>
                </a:lnTo>
                <a:lnTo>
                  <a:pt x="399550" y="613770"/>
                </a:lnTo>
                <a:lnTo>
                  <a:pt x="758951" y="312574"/>
                </a:lnTo>
                <a:lnTo>
                  <a:pt x="758951" y="308650"/>
                </a:lnTo>
                <a:lnTo>
                  <a:pt x="399549" y="7451"/>
                </a:lnTo>
                <a:close/>
              </a:path>
              <a:path w="759460" h="622300">
                <a:moveTo>
                  <a:pt x="377090" y="26273"/>
                </a:moveTo>
                <a:lnTo>
                  <a:pt x="37804" y="310612"/>
                </a:lnTo>
                <a:lnTo>
                  <a:pt x="377091" y="594947"/>
                </a:lnTo>
                <a:lnTo>
                  <a:pt x="399550" y="576125"/>
                </a:lnTo>
                <a:lnTo>
                  <a:pt x="377091" y="576125"/>
                </a:lnTo>
                <a:lnTo>
                  <a:pt x="60264" y="310612"/>
                </a:lnTo>
                <a:lnTo>
                  <a:pt x="377090" y="45095"/>
                </a:lnTo>
                <a:lnTo>
                  <a:pt x="399549" y="45095"/>
                </a:lnTo>
                <a:lnTo>
                  <a:pt x="377090" y="26273"/>
                </a:lnTo>
                <a:close/>
              </a:path>
              <a:path w="759460" h="622300">
                <a:moveTo>
                  <a:pt x="399549" y="45095"/>
                </a:moveTo>
                <a:lnTo>
                  <a:pt x="377090" y="45095"/>
                </a:lnTo>
                <a:lnTo>
                  <a:pt x="693920" y="310612"/>
                </a:lnTo>
                <a:lnTo>
                  <a:pt x="377091" y="576125"/>
                </a:lnTo>
                <a:lnTo>
                  <a:pt x="399550" y="576125"/>
                </a:lnTo>
                <a:lnTo>
                  <a:pt x="716372" y="310612"/>
                </a:lnTo>
                <a:lnTo>
                  <a:pt x="399549" y="45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05152" y="5646325"/>
            <a:ext cx="1280795" cy="274955"/>
          </a:xfrm>
          <a:custGeom>
            <a:avLst/>
            <a:gdLst/>
            <a:ahLst/>
            <a:cxnLst/>
            <a:rect l="l" t="t" r="r" b="b"/>
            <a:pathLst>
              <a:path w="1280795" h="274954">
                <a:moveTo>
                  <a:pt x="888050" y="0"/>
                </a:moveTo>
                <a:lnTo>
                  <a:pt x="817512" y="2210"/>
                </a:lnTo>
                <a:lnTo>
                  <a:pt x="751124" y="8582"/>
                </a:lnTo>
                <a:lnTo>
                  <a:pt x="689994" y="18728"/>
                </a:lnTo>
                <a:lnTo>
                  <a:pt x="635228" y="32262"/>
                </a:lnTo>
                <a:lnTo>
                  <a:pt x="587936" y="48796"/>
                </a:lnTo>
                <a:lnTo>
                  <a:pt x="549225" y="67942"/>
                </a:lnTo>
                <a:lnTo>
                  <a:pt x="501977" y="112522"/>
                </a:lnTo>
                <a:lnTo>
                  <a:pt x="495656" y="137182"/>
                </a:lnTo>
                <a:lnTo>
                  <a:pt x="501977" y="161844"/>
                </a:lnTo>
                <a:lnTo>
                  <a:pt x="549225" y="206427"/>
                </a:lnTo>
                <a:lnTo>
                  <a:pt x="587936" y="225574"/>
                </a:lnTo>
                <a:lnTo>
                  <a:pt x="635228" y="242108"/>
                </a:lnTo>
                <a:lnTo>
                  <a:pt x="689994" y="255642"/>
                </a:lnTo>
                <a:lnTo>
                  <a:pt x="751124" y="265788"/>
                </a:lnTo>
                <a:lnTo>
                  <a:pt x="817512" y="272161"/>
                </a:lnTo>
                <a:lnTo>
                  <a:pt x="888050" y="274371"/>
                </a:lnTo>
                <a:lnTo>
                  <a:pt x="958588" y="272161"/>
                </a:lnTo>
                <a:lnTo>
                  <a:pt x="1024976" y="265789"/>
                </a:lnTo>
                <a:lnTo>
                  <a:pt x="1086107" y="255642"/>
                </a:lnTo>
                <a:lnTo>
                  <a:pt x="1140872" y="242108"/>
                </a:lnTo>
                <a:lnTo>
                  <a:pt x="1188164" y="225574"/>
                </a:lnTo>
                <a:lnTo>
                  <a:pt x="1226875" y="206427"/>
                </a:lnTo>
                <a:lnTo>
                  <a:pt x="1274123" y="161844"/>
                </a:lnTo>
                <a:lnTo>
                  <a:pt x="1280444" y="137182"/>
                </a:lnTo>
                <a:lnTo>
                  <a:pt x="1274123" y="112523"/>
                </a:lnTo>
                <a:lnTo>
                  <a:pt x="1226875" y="67942"/>
                </a:lnTo>
                <a:lnTo>
                  <a:pt x="1188164" y="48796"/>
                </a:lnTo>
                <a:lnTo>
                  <a:pt x="1140872" y="32262"/>
                </a:lnTo>
                <a:lnTo>
                  <a:pt x="1086106" y="18728"/>
                </a:lnTo>
                <a:lnTo>
                  <a:pt x="1024976" y="8582"/>
                </a:lnTo>
                <a:lnTo>
                  <a:pt x="958588" y="2210"/>
                </a:lnTo>
                <a:lnTo>
                  <a:pt x="888050" y="0"/>
                </a:lnTo>
                <a:close/>
              </a:path>
              <a:path w="1280795" h="274954">
                <a:moveTo>
                  <a:pt x="481887" y="137182"/>
                </a:moveTo>
                <a:lnTo>
                  <a:pt x="0" y="137182"/>
                </a:lnTo>
              </a:path>
            </a:pathLst>
          </a:custGeom>
          <a:ln w="1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896230" y="2191342"/>
          <a:ext cx="1497965" cy="268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7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555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Multivalued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28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Composite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28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Derived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28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752709" y="2142455"/>
            <a:ext cx="884555" cy="323215"/>
          </a:xfrm>
          <a:custGeom>
            <a:avLst/>
            <a:gdLst/>
            <a:ahLst/>
            <a:cxnLst/>
            <a:rect l="l" t="t" r="r" b="b"/>
            <a:pathLst>
              <a:path w="884554" h="323214">
                <a:moveTo>
                  <a:pt x="613388" y="0"/>
                </a:moveTo>
                <a:lnTo>
                  <a:pt x="551239" y="4264"/>
                </a:lnTo>
                <a:lnTo>
                  <a:pt x="494190" y="16411"/>
                </a:lnTo>
                <a:lnTo>
                  <a:pt x="443866" y="35473"/>
                </a:lnTo>
                <a:lnTo>
                  <a:pt x="401895" y="60479"/>
                </a:lnTo>
                <a:lnTo>
                  <a:pt x="369902" y="90461"/>
                </a:lnTo>
                <a:lnTo>
                  <a:pt x="349514" y="124450"/>
                </a:lnTo>
                <a:lnTo>
                  <a:pt x="342356" y="161476"/>
                </a:lnTo>
                <a:lnTo>
                  <a:pt x="349514" y="198506"/>
                </a:lnTo>
                <a:lnTo>
                  <a:pt x="369902" y="232496"/>
                </a:lnTo>
                <a:lnTo>
                  <a:pt x="401895" y="262479"/>
                </a:lnTo>
                <a:lnTo>
                  <a:pt x="443867" y="287486"/>
                </a:lnTo>
                <a:lnTo>
                  <a:pt x="494190" y="306548"/>
                </a:lnTo>
                <a:lnTo>
                  <a:pt x="551239" y="318695"/>
                </a:lnTo>
                <a:lnTo>
                  <a:pt x="613388" y="322960"/>
                </a:lnTo>
                <a:lnTo>
                  <a:pt x="675537" y="318696"/>
                </a:lnTo>
                <a:lnTo>
                  <a:pt x="732586" y="306548"/>
                </a:lnTo>
                <a:lnTo>
                  <a:pt x="782910" y="287486"/>
                </a:lnTo>
                <a:lnTo>
                  <a:pt x="824881" y="262479"/>
                </a:lnTo>
                <a:lnTo>
                  <a:pt x="856874" y="232496"/>
                </a:lnTo>
                <a:lnTo>
                  <a:pt x="877263" y="198506"/>
                </a:lnTo>
                <a:lnTo>
                  <a:pt x="884420" y="161477"/>
                </a:lnTo>
                <a:lnTo>
                  <a:pt x="877263" y="124450"/>
                </a:lnTo>
                <a:lnTo>
                  <a:pt x="856874" y="90461"/>
                </a:lnTo>
                <a:lnTo>
                  <a:pt x="824881" y="60479"/>
                </a:lnTo>
                <a:lnTo>
                  <a:pt x="782910" y="35473"/>
                </a:lnTo>
                <a:lnTo>
                  <a:pt x="732586" y="16411"/>
                </a:lnTo>
                <a:lnTo>
                  <a:pt x="675537" y="4264"/>
                </a:lnTo>
                <a:lnTo>
                  <a:pt x="613388" y="0"/>
                </a:lnTo>
                <a:close/>
              </a:path>
              <a:path w="884554" h="323214">
                <a:moveTo>
                  <a:pt x="332846" y="161476"/>
                </a:moveTo>
                <a:lnTo>
                  <a:pt x="0" y="161476"/>
                </a:lnTo>
              </a:path>
              <a:path w="884554" h="323214">
                <a:moveTo>
                  <a:pt x="760792" y="227974"/>
                </a:moveTo>
                <a:lnTo>
                  <a:pt x="427945" y="227973"/>
                </a:lnTo>
              </a:path>
            </a:pathLst>
          </a:custGeom>
          <a:ln w="95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524109" y="2896805"/>
            <a:ext cx="895985" cy="343535"/>
            <a:chOff x="2524109" y="2896805"/>
            <a:chExt cx="895985" cy="343535"/>
          </a:xfrm>
        </p:grpSpPr>
        <p:sp>
          <p:nvSpPr>
            <p:cNvPr id="5" name="object 5"/>
            <p:cNvSpPr/>
            <p:nvPr/>
          </p:nvSpPr>
          <p:spPr>
            <a:xfrm>
              <a:off x="2847510" y="2896805"/>
              <a:ext cx="572770" cy="343535"/>
            </a:xfrm>
            <a:custGeom>
              <a:avLst/>
              <a:gdLst/>
              <a:ahLst/>
              <a:cxnLst/>
              <a:rect l="l" t="t" r="r" b="b"/>
              <a:pathLst>
                <a:path w="572770" h="343535">
                  <a:moveTo>
                    <a:pt x="385541" y="0"/>
                  </a:moveTo>
                  <a:lnTo>
                    <a:pt x="194475" y="0"/>
                  </a:lnTo>
                  <a:lnTo>
                    <a:pt x="155543" y="10131"/>
                  </a:lnTo>
                  <a:lnTo>
                    <a:pt x="109871" y="27862"/>
                  </a:lnTo>
                  <a:lnTo>
                    <a:pt x="70259" y="51925"/>
                  </a:lnTo>
                  <a:lnTo>
                    <a:pt x="38318" y="79788"/>
                  </a:lnTo>
                  <a:lnTo>
                    <a:pt x="14442" y="112717"/>
                  </a:lnTo>
                  <a:lnTo>
                    <a:pt x="13998" y="113983"/>
                  </a:lnTo>
                  <a:lnTo>
                    <a:pt x="6618" y="130448"/>
                  </a:lnTo>
                  <a:lnTo>
                    <a:pt x="6314" y="131714"/>
                  </a:lnTo>
                  <a:lnTo>
                    <a:pt x="1610" y="149445"/>
                  </a:lnTo>
                  <a:lnTo>
                    <a:pt x="1420" y="150711"/>
                  </a:lnTo>
                  <a:lnTo>
                    <a:pt x="0" y="168442"/>
                  </a:lnTo>
                  <a:lnTo>
                    <a:pt x="0" y="170975"/>
                  </a:lnTo>
                  <a:lnTo>
                    <a:pt x="1318" y="187440"/>
                  </a:lnTo>
                  <a:lnTo>
                    <a:pt x="1420" y="188706"/>
                  </a:lnTo>
                  <a:lnTo>
                    <a:pt x="1610" y="189972"/>
                  </a:lnTo>
                  <a:lnTo>
                    <a:pt x="6314" y="207703"/>
                  </a:lnTo>
                  <a:lnTo>
                    <a:pt x="6606" y="208970"/>
                  </a:lnTo>
                  <a:lnTo>
                    <a:pt x="13998" y="226701"/>
                  </a:lnTo>
                  <a:lnTo>
                    <a:pt x="14442" y="226701"/>
                  </a:lnTo>
                  <a:lnTo>
                    <a:pt x="24066" y="243165"/>
                  </a:lnTo>
                  <a:lnTo>
                    <a:pt x="51822" y="273561"/>
                  </a:lnTo>
                  <a:lnTo>
                    <a:pt x="87884" y="300157"/>
                  </a:lnTo>
                  <a:lnTo>
                    <a:pt x="130602" y="321687"/>
                  </a:lnTo>
                  <a:lnTo>
                    <a:pt x="179268" y="336885"/>
                  </a:lnTo>
                  <a:lnTo>
                    <a:pt x="373511" y="343218"/>
                  </a:lnTo>
                  <a:lnTo>
                    <a:pt x="394427" y="338152"/>
                  </a:lnTo>
                  <a:lnTo>
                    <a:pt x="289811" y="338152"/>
                  </a:lnTo>
                  <a:lnTo>
                    <a:pt x="261636" y="336885"/>
                  </a:lnTo>
                  <a:lnTo>
                    <a:pt x="207975" y="330553"/>
                  </a:lnTo>
                  <a:lnTo>
                    <a:pt x="158675" y="317888"/>
                  </a:lnTo>
                  <a:lnTo>
                    <a:pt x="114664" y="300157"/>
                  </a:lnTo>
                  <a:lnTo>
                    <a:pt x="76789" y="277360"/>
                  </a:lnTo>
                  <a:lnTo>
                    <a:pt x="46750" y="250764"/>
                  </a:lnTo>
                  <a:lnTo>
                    <a:pt x="25562" y="220368"/>
                  </a:lnTo>
                  <a:lnTo>
                    <a:pt x="25296" y="220368"/>
                  </a:lnTo>
                  <a:lnTo>
                    <a:pt x="18512" y="203904"/>
                  </a:lnTo>
                  <a:lnTo>
                    <a:pt x="14061" y="187440"/>
                  </a:lnTo>
                  <a:lnTo>
                    <a:pt x="12641" y="170975"/>
                  </a:lnTo>
                  <a:lnTo>
                    <a:pt x="12743" y="168442"/>
                  </a:lnTo>
                  <a:lnTo>
                    <a:pt x="13859" y="154511"/>
                  </a:lnTo>
                  <a:lnTo>
                    <a:pt x="13960" y="153244"/>
                  </a:lnTo>
                  <a:lnTo>
                    <a:pt x="14061" y="151978"/>
                  </a:lnTo>
                  <a:lnTo>
                    <a:pt x="18512" y="135514"/>
                  </a:lnTo>
                  <a:lnTo>
                    <a:pt x="18639" y="134247"/>
                  </a:lnTo>
                  <a:lnTo>
                    <a:pt x="25423" y="119049"/>
                  </a:lnTo>
                  <a:lnTo>
                    <a:pt x="25562" y="119049"/>
                  </a:lnTo>
                  <a:lnTo>
                    <a:pt x="35338" y="102585"/>
                  </a:lnTo>
                  <a:lnTo>
                    <a:pt x="47219" y="88654"/>
                  </a:lnTo>
                  <a:lnTo>
                    <a:pt x="77271" y="62057"/>
                  </a:lnTo>
                  <a:lnTo>
                    <a:pt x="115069" y="39261"/>
                  </a:lnTo>
                  <a:lnTo>
                    <a:pt x="159081" y="21530"/>
                  </a:lnTo>
                  <a:lnTo>
                    <a:pt x="208380" y="8865"/>
                  </a:lnTo>
                  <a:lnTo>
                    <a:pt x="262042" y="2532"/>
                  </a:lnTo>
                  <a:lnTo>
                    <a:pt x="400810" y="2533"/>
                  </a:lnTo>
                  <a:lnTo>
                    <a:pt x="385541" y="0"/>
                  </a:lnTo>
                  <a:close/>
                </a:path>
                <a:path w="572770" h="343535">
                  <a:moveTo>
                    <a:pt x="400810" y="2533"/>
                  </a:moveTo>
                  <a:lnTo>
                    <a:pt x="318340" y="2533"/>
                  </a:lnTo>
                  <a:lnTo>
                    <a:pt x="345539" y="5066"/>
                  </a:lnTo>
                  <a:lnTo>
                    <a:pt x="372001" y="8865"/>
                  </a:lnTo>
                  <a:lnTo>
                    <a:pt x="421466" y="21530"/>
                  </a:lnTo>
                  <a:lnTo>
                    <a:pt x="465528" y="39261"/>
                  </a:lnTo>
                  <a:lnTo>
                    <a:pt x="503149" y="62057"/>
                  </a:lnTo>
                  <a:lnTo>
                    <a:pt x="533226" y="88654"/>
                  </a:lnTo>
                  <a:lnTo>
                    <a:pt x="554414" y="119049"/>
                  </a:lnTo>
                  <a:lnTo>
                    <a:pt x="554680" y="119049"/>
                  </a:lnTo>
                  <a:lnTo>
                    <a:pt x="561451" y="135514"/>
                  </a:lnTo>
                  <a:lnTo>
                    <a:pt x="565915" y="151978"/>
                  </a:lnTo>
                  <a:lnTo>
                    <a:pt x="567233" y="168442"/>
                  </a:lnTo>
                  <a:lnTo>
                    <a:pt x="567335" y="170975"/>
                  </a:lnTo>
                  <a:lnTo>
                    <a:pt x="566004" y="187440"/>
                  </a:lnTo>
                  <a:lnTo>
                    <a:pt x="561553" y="203904"/>
                  </a:lnTo>
                  <a:lnTo>
                    <a:pt x="561337" y="205171"/>
                  </a:lnTo>
                  <a:lnTo>
                    <a:pt x="554554" y="220368"/>
                  </a:lnTo>
                  <a:lnTo>
                    <a:pt x="554414" y="220368"/>
                  </a:lnTo>
                  <a:lnTo>
                    <a:pt x="544638" y="236833"/>
                  </a:lnTo>
                  <a:lnTo>
                    <a:pt x="502668" y="277360"/>
                  </a:lnTo>
                  <a:lnTo>
                    <a:pt x="465072" y="300157"/>
                  </a:lnTo>
                  <a:lnTo>
                    <a:pt x="421035" y="317888"/>
                  </a:lnTo>
                  <a:lnTo>
                    <a:pt x="371596" y="330553"/>
                  </a:lnTo>
                  <a:lnTo>
                    <a:pt x="317935" y="336885"/>
                  </a:lnTo>
                  <a:lnTo>
                    <a:pt x="289811" y="338152"/>
                  </a:lnTo>
                  <a:lnTo>
                    <a:pt x="394427" y="338152"/>
                  </a:lnTo>
                  <a:lnTo>
                    <a:pt x="448132" y="321687"/>
                  </a:lnTo>
                  <a:lnTo>
                    <a:pt x="490799" y="300157"/>
                  </a:lnTo>
                  <a:lnTo>
                    <a:pt x="526721" y="274827"/>
                  </a:lnTo>
                  <a:lnTo>
                    <a:pt x="554490" y="244432"/>
                  </a:lnTo>
                  <a:lnTo>
                    <a:pt x="565534" y="226701"/>
                  </a:lnTo>
                  <a:lnTo>
                    <a:pt x="565978" y="226701"/>
                  </a:lnTo>
                  <a:lnTo>
                    <a:pt x="572346" y="211503"/>
                  </a:lnTo>
                  <a:lnTo>
                    <a:pt x="572346" y="127915"/>
                  </a:lnTo>
                  <a:lnTo>
                    <a:pt x="565978" y="113983"/>
                  </a:lnTo>
                  <a:lnTo>
                    <a:pt x="565534" y="112717"/>
                  </a:lnTo>
                  <a:lnTo>
                    <a:pt x="543078" y="81055"/>
                  </a:lnTo>
                  <a:lnTo>
                    <a:pt x="511024" y="51926"/>
                  </a:lnTo>
                  <a:lnTo>
                    <a:pt x="471589" y="29129"/>
                  </a:lnTo>
                  <a:lnTo>
                    <a:pt x="425751" y="10131"/>
                  </a:lnTo>
                  <a:lnTo>
                    <a:pt x="400810" y="2533"/>
                  </a:lnTo>
                  <a:close/>
                </a:path>
                <a:path w="572770" h="343535">
                  <a:moveTo>
                    <a:pt x="317174" y="15197"/>
                  </a:moveTo>
                  <a:lnTo>
                    <a:pt x="262397" y="15197"/>
                  </a:lnTo>
                  <a:lnTo>
                    <a:pt x="210308" y="21530"/>
                  </a:lnTo>
                  <a:lnTo>
                    <a:pt x="162606" y="34195"/>
                  </a:lnTo>
                  <a:lnTo>
                    <a:pt x="120268" y="50659"/>
                  </a:lnTo>
                  <a:lnTo>
                    <a:pt x="84270" y="72189"/>
                  </a:lnTo>
                  <a:lnTo>
                    <a:pt x="45178" y="111450"/>
                  </a:lnTo>
                  <a:lnTo>
                    <a:pt x="26564" y="154511"/>
                  </a:lnTo>
                  <a:lnTo>
                    <a:pt x="25425" y="168442"/>
                  </a:lnTo>
                  <a:lnTo>
                    <a:pt x="25425" y="170975"/>
                  </a:lnTo>
                  <a:lnTo>
                    <a:pt x="36771" y="215302"/>
                  </a:lnTo>
                  <a:lnTo>
                    <a:pt x="69625" y="255830"/>
                  </a:lnTo>
                  <a:lnTo>
                    <a:pt x="101730" y="278627"/>
                  </a:lnTo>
                  <a:lnTo>
                    <a:pt x="141000" y="297624"/>
                  </a:lnTo>
                  <a:lnTo>
                    <a:pt x="186153" y="312822"/>
                  </a:lnTo>
                  <a:lnTo>
                    <a:pt x="236365" y="321687"/>
                  </a:lnTo>
                  <a:lnTo>
                    <a:pt x="290166" y="325487"/>
                  </a:lnTo>
                  <a:lnTo>
                    <a:pt x="317580" y="324220"/>
                  </a:lnTo>
                  <a:lnTo>
                    <a:pt x="343992" y="321687"/>
                  </a:lnTo>
                  <a:lnTo>
                    <a:pt x="369669" y="317888"/>
                  </a:lnTo>
                  <a:lnTo>
                    <a:pt x="394179" y="312822"/>
                  </a:lnTo>
                  <a:lnTo>
                    <a:pt x="290508" y="312822"/>
                  </a:lnTo>
                  <a:lnTo>
                    <a:pt x="263969" y="311555"/>
                  </a:lnTo>
                  <a:lnTo>
                    <a:pt x="213453" y="305223"/>
                  </a:lnTo>
                  <a:lnTo>
                    <a:pt x="167361" y="293824"/>
                  </a:lnTo>
                  <a:lnTo>
                    <a:pt x="126697" y="277360"/>
                  </a:lnTo>
                  <a:lnTo>
                    <a:pt x="92702" y="258363"/>
                  </a:lnTo>
                  <a:lnTo>
                    <a:pt x="56450" y="222901"/>
                  </a:lnTo>
                  <a:lnTo>
                    <a:pt x="39117" y="183640"/>
                  </a:lnTo>
                  <a:lnTo>
                    <a:pt x="38137" y="170975"/>
                  </a:lnTo>
                  <a:lnTo>
                    <a:pt x="38147" y="168442"/>
                  </a:lnTo>
                  <a:lnTo>
                    <a:pt x="48069" y="130448"/>
                  </a:lnTo>
                  <a:lnTo>
                    <a:pt x="76992" y="94986"/>
                  </a:lnTo>
                  <a:lnTo>
                    <a:pt x="125467" y="62057"/>
                  </a:lnTo>
                  <a:lnTo>
                    <a:pt x="166144" y="45593"/>
                  </a:lnTo>
                  <a:lnTo>
                    <a:pt x="212222" y="34195"/>
                  </a:lnTo>
                  <a:lnTo>
                    <a:pt x="262739" y="27862"/>
                  </a:lnTo>
                  <a:lnTo>
                    <a:pt x="397695" y="27862"/>
                  </a:lnTo>
                  <a:lnTo>
                    <a:pt x="393798" y="26596"/>
                  </a:lnTo>
                  <a:lnTo>
                    <a:pt x="369263" y="21530"/>
                  </a:lnTo>
                  <a:lnTo>
                    <a:pt x="343611" y="17730"/>
                  </a:lnTo>
                  <a:lnTo>
                    <a:pt x="317174" y="15197"/>
                  </a:lnTo>
                  <a:close/>
                </a:path>
                <a:path w="572770" h="343535">
                  <a:moveTo>
                    <a:pt x="397695" y="27862"/>
                  </a:moveTo>
                  <a:lnTo>
                    <a:pt x="316007" y="27862"/>
                  </a:lnTo>
                  <a:lnTo>
                    <a:pt x="341697" y="30395"/>
                  </a:lnTo>
                  <a:lnTo>
                    <a:pt x="366524" y="34195"/>
                  </a:lnTo>
                  <a:lnTo>
                    <a:pt x="412894" y="45593"/>
                  </a:lnTo>
                  <a:lnTo>
                    <a:pt x="453406" y="62057"/>
                  </a:lnTo>
                  <a:lnTo>
                    <a:pt x="487388" y="82321"/>
                  </a:lnTo>
                  <a:lnTo>
                    <a:pt x="523513" y="116516"/>
                  </a:lnTo>
                  <a:lnTo>
                    <a:pt x="540859" y="157044"/>
                  </a:lnTo>
                  <a:lnTo>
                    <a:pt x="541839" y="170975"/>
                  </a:lnTo>
                  <a:lnTo>
                    <a:pt x="540859" y="183640"/>
                  </a:lnTo>
                  <a:lnTo>
                    <a:pt x="524946" y="220368"/>
                  </a:lnTo>
                  <a:lnTo>
                    <a:pt x="488821" y="257096"/>
                  </a:lnTo>
                  <a:lnTo>
                    <a:pt x="454763" y="277360"/>
                  </a:lnTo>
                  <a:lnTo>
                    <a:pt x="414200" y="293825"/>
                  </a:lnTo>
                  <a:lnTo>
                    <a:pt x="367754" y="305223"/>
                  </a:lnTo>
                  <a:lnTo>
                    <a:pt x="317237" y="311555"/>
                  </a:lnTo>
                  <a:lnTo>
                    <a:pt x="290508" y="312822"/>
                  </a:lnTo>
                  <a:lnTo>
                    <a:pt x="394179" y="312822"/>
                  </a:lnTo>
                  <a:lnTo>
                    <a:pt x="439395" y="297624"/>
                  </a:lnTo>
                  <a:lnTo>
                    <a:pt x="478677" y="278627"/>
                  </a:lnTo>
                  <a:lnTo>
                    <a:pt x="510821" y="254564"/>
                  </a:lnTo>
                  <a:lnTo>
                    <a:pt x="543205" y="215302"/>
                  </a:lnTo>
                  <a:lnTo>
                    <a:pt x="554552" y="170975"/>
                  </a:lnTo>
                  <a:lnTo>
                    <a:pt x="554552" y="168442"/>
                  </a:lnTo>
                  <a:lnTo>
                    <a:pt x="543205" y="124115"/>
                  </a:lnTo>
                  <a:lnTo>
                    <a:pt x="510352" y="83588"/>
                  </a:lnTo>
                  <a:lnTo>
                    <a:pt x="478208" y="60791"/>
                  </a:lnTo>
                  <a:lnTo>
                    <a:pt x="439002" y="41794"/>
                  </a:lnTo>
                  <a:lnTo>
                    <a:pt x="417180" y="34195"/>
                  </a:lnTo>
                  <a:lnTo>
                    <a:pt x="397695" y="278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24109" y="3065932"/>
              <a:ext cx="333375" cy="0"/>
            </a:xfrm>
            <a:custGeom>
              <a:avLst/>
              <a:gdLst/>
              <a:ahLst/>
              <a:cxnLst/>
              <a:rect l="l" t="t" r="r" b="b"/>
              <a:pathLst>
                <a:path w="333375">
                  <a:moveTo>
                    <a:pt x="332846" y="0"/>
                  </a:moveTo>
                  <a:lnTo>
                    <a:pt x="0" y="0"/>
                  </a:lnTo>
                </a:path>
              </a:pathLst>
            </a:custGeom>
            <a:ln w="9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213933" y="3509352"/>
            <a:ext cx="2294890" cy="1007110"/>
            <a:chOff x="2213933" y="3509352"/>
            <a:chExt cx="2294890" cy="1007110"/>
          </a:xfrm>
        </p:grpSpPr>
        <p:sp>
          <p:nvSpPr>
            <p:cNvPr id="8" name="object 8"/>
            <p:cNvSpPr/>
            <p:nvPr/>
          </p:nvSpPr>
          <p:spPr>
            <a:xfrm>
              <a:off x="2218686" y="3514104"/>
              <a:ext cx="2285365" cy="997585"/>
            </a:xfrm>
            <a:custGeom>
              <a:avLst/>
              <a:gdLst/>
              <a:ahLst/>
              <a:cxnLst/>
              <a:rect l="l" t="t" r="r" b="b"/>
              <a:pathLst>
                <a:path w="2285365" h="997585">
                  <a:moveTo>
                    <a:pt x="1147313" y="674482"/>
                  </a:moveTo>
                  <a:lnTo>
                    <a:pt x="1085089" y="678747"/>
                  </a:lnTo>
                  <a:lnTo>
                    <a:pt x="1027972" y="690896"/>
                  </a:lnTo>
                  <a:lnTo>
                    <a:pt x="977588" y="709960"/>
                  </a:lnTo>
                  <a:lnTo>
                    <a:pt x="935567" y="734969"/>
                  </a:lnTo>
                  <a:lnTo>
                    <a:pt x="903535" y="764954"/>
                  </a:lnTo>
                  <a:lnTo>
                    <a:pt x="883123" y="798947"/>
                  </a:lnTo>
                  <a:lnTo>
                    <a:pt x="875956" y="835978"/>
                  </a:lnTo>
                  <a:lnTo>
                    <a:pt x="883123" y="873008"/>
                  </a:lnTo>
                  <a:lnTo>
                    <a:pt x="903535" y="906999"/>
                  </a:lnTo>
                  <a:lnTo>
                    <a:pt x="935567" y="936984"/>
                  </a:lnTo>
                  <a:lnTo>
                    <a:pt x="977588" y="961993"/>
                  </a:lnTo>
                  <a:lnTo>
                    <a:pt x="1027972" y="981056"/>
                  </a:lnTo>
                  <a:lnTo>
                    <a:pt x="1085090" y="993205"/>
                  </a:lnTo>
                  <a:lnTo>
                    <a:pt x="1147313" y="997470"/>
                  </a:lnTo>
                  <a:lnTo>
                    <a:pt x="1209532" y="993205"/>
                  </a:lnTo>
                  <a:lnTo>
                    <a:pt x="1266648" y="981056"/>
                  </a:lnTo>
                  <a:lnTo>
                    <a:pt x="1317032" y="961993"/>
                  </a:lnTo>
                  <a:lnTo>
                    <a:pt x="1359055" y="936984"/>
                  </a:lnTo>
                  <a:lnTo>
                    <a:pt x="1391088" y="906999"/>
                  </a:lnTo>
                  <a:lnTo>
                    <a:pt x="1411502" y="873008"/>
                  </a:lnTo>
                  <a:lnTo>
                    <a:pt x="1418669" y="835978"/>
                  </a:lnTo>
                  <a:lnTo>
                    <a:pt x="1411502" y="798947"/>
                  </a:lnTo>
                  <a:lnTo>
                    <a:pt x="1391088" y="764954"/>
                  </a:lnTo>
                  <a:lnTo>
                    <a:pt x="1359055" y="734969"/>
                  </a:lnTo>
                  <a:lnTo>
                    <a:pt x="1317032" y="709960"/>
                  </a:lnTo>
                  <a:lnTo>
                    <a:pt x="1266648" y="690896"/>
                  </a:lnTo>
                  <a:lnTo>
                    <a:pt x="1209532" y="678747"/>
                  </a:lnTo>
                  <a:lnTo>
                    <a:pt x="1147313" y="674482"/>
                  </a:lnTo>
                  <a:close/>
                </a:path>
                <a:path w="2285365" h="997585">
                  <a:moveTo>
                    <a:pt x="866435" y="835978"/>
                  </a:moveTo>
                  <a:lnTo>
                    <a:pt x="533191" y="835978"/>
                  </a:lnTo>
                </a:path>
                <a:path w="2285365" h="997585">
                  <a:moveTo>
                    <a:pt x="271356" y="313491"/>
                  </a:moveTo>
                  <a:lnTo>
                    <a:pt x="209133" y="317756"/>
                  </a:lnTo>
                  <a:lnTo>
                    <a:pt x="152015" y="329905"/>
                  </a:lnTo>
                  <a:lnTo>
                    <a:pt x="101631" y="348969"/>
                  </a:lnTo>
                  <a:lnTo>
                    <a:pt x="59610" y="373978"/>
                  </a:lnTo>
                  <a:lnTo>
                    <a:pt x="27578" y="403963"/>
                  </a:lnTo>
                  <a:lnTo>
                    <a:pt x="7166" y="437956"/>
                  </a:lnTo>
                  <a:lnTo>
                    <a:pt x="0" y="474987"/>
                  </a:lnTo>
                  <a:lnTo>
                    <a:pt x="7166" y="512018"/>
                  </a:lnTo>
                  <a:lnTo>
                    <a:pt x="27578" y="546011"/>
                  </a:lnTo>
                  <a:lnTo>
                    <a:pt x="59610" y="575997"/>
                  </a:lnTo>
                  <a:lnTo>
                    <a:pt x="101631" y="601006"/>
                  </a:lnTo>
                  <a:lnTo>
                    <a:pt x="152015" y="620069"/>
                  </a:lnTo>
                  <a:lnTo>
                    <a:pt x="209133" y="632218"/>
                  </a:lnTo>
                  <a:lnTo>
                    <a:pt x="271356" y="636483"/>
                  </a:lnTo>
                  <a:lnTo>
                    <a:pt x="333579" y="632218"/>
                  </a:lnTo>
                  <a:lnTo>
                    <a:pt x="390696" y="620069"/>
                  </a:lnTo>
                  <a:lnTo>
                    <a:pt x="441080" y="601006"/>
                  </a:lnTo>
                  <a:lnTo>
                    <a:pt x="483102" y="575997"/>
                  </a:lnTo>
                  <a:lnTo>
                    <a:pt x="515133" y="546011"/>
                  </a:lnTo>
                  <a:lnTo>
                    <a:pt x="535546" y="512018"/>
                  </a:lnTo>
                  <a:lnTo>
                    <a:pt x="542712" y="474987"/>
                  </a:lnTo>
                  <a:lnTo>
                    <a:pt x="535546" y="437956"/>
                  </a:lnTo>
                  <a:lnTo>
                    <a:pt x="515133" y="403963"/>
                  </a:lnTo>
                  <a:lnTo>
                    <a:pt x="483102" y="373978"/>
                  </a:lnTo>
                  <a:lnTo>
                    <a:pt x="441080" y="348969"/>
                  </a:lnTo>
                  <a:lnTo>
                    <a:pt x="390696" y="329905"/>
                  </a:lnTo>
                  <a:lnTo>
                    <a:pt x="333579" y="317756"/>
                  </a:lnTo>
                  <a:lnTo>
                    <a:pt x="271356" y="313491"/>
                  </a:lnTo>
                  <a:close/>
                </a:path>
                <a:path w="2285365" h="997585">
                  <a:moveTo>
                    <a:pt x="961648" y="712481"/>
                  </a:moveTo>
                  <a:lnTo>
                    <a:pt x="533191" y="503487"/>
                  </a:lnTo>
                </a:path>
                <a:path w="2285365" h="997585">
                  <a:moveTo>
                    <a:pt x="2013812" y="265993"/>
                  </a:moveTo>
                  <a:lnTo>
                    <a:pt x="1951569" y="270258"/>
                  </a:lnTo>
                  <a:lnTo>
                    <a:pt x="1894436" y="282407"/>
                  </a:lnTo>
                  <a:lnTo>
                    <a:pt x="1844041" y="301470"/>
                  </a:lnTo>
                  <a:lnTo>
                    <a:pt x="1802011" y="326479"/>
                  </a:lnTo>
                  <a:lnTo>
                    <a:pt x="1769975" y="356465"/>
                  </a:lnTo>
                  <a:lnTo>
                    <a:pt x="1749559" y="390458"/>
                  </a:lnTo>
                  <a:lnTo>
                    <a:pt x="1742392" y="427489"/>
                  </a:lnTo>
                  <a:lnTo>
                    <a:pt x="1749559" y="464520"/>
                  </a:lnTo>
                  <a:lnTo>
                    <a:pt x="1769975" y="498512"/>
                  </a:lnTo>
                  <a:lnTo>
                    <a:pt x="1802011" y="528498"/>
                  </a:lnTo>
                  <a:lnTo>
                    <a:pt x="1844041" y="553507"/>
                  </a:lnTo>
                  <a:lnTo>
                    <a:pt x="1894436" y="572571"/>
                  </a:lnTo>
                  <a:lnTo>
                    <a:pt x="1951569" y="584720"/>
                  </a:lnTo>
                  <a:lnTo>
                    <a:pt x="2013812" y="588984"/>
                  </a:lnTo>
                  <a:lnTo>
                    <a:pt x="2076007" y="584720"/>
                  </a:lnTo>
                  <a:lnTo>
                    <a:pt x="2133106" y="572571"/>
                  </a:lnTo>
                  <a:lnTo>
                    <a:pt x="2183479" y="553507"/>
                  </a:lnTo>
                  <a:lnTo>
                    <a:pt x="2225495" y="528498"/>
                  </a:lnTo>
                  <a:lnTo>
                    <a:pt x="2257525" y="498512"/>
                  </a:lnTo>
                  <a:lnTo>
                    <a:pt x="2277938" y="464520"/>
                  </a:lnTo>
                  <a:lnTo>
                    <a:pt x="2285104" y="427489"/>
                  </a:lnTo>
                  <a:lnTo>
                    <a:pt x="2277938" y="390458"/>
                  </a:lnTo>
                  <a:lnTo>
                    <a:pt x="2257525" y="356465"/>
                  </a:lnTo>
                  <a:lnTo>
                    <a:pt x="2225495" y="326479"/>
                  </a:lnTo>
                  <a:lnTo>
                    <a:pt x="2183479" y="301470"/>
                  </a:lnTo>
                  <a:lnTo>
                    <a:pt x="2133106" y="282407"/>
                  </a:lnTo>
                  <a:lnTo>
                    <a:pt x="2076007" y="270258"/>
                  </a:lnTo>
                  <a:lnTo>
                    <a:pt x="2013812" y="265993"/>
                  </a:lnTo>
                  <a:close/>
                </a:path>
                <a:path w="2285365" h="997585">
                  <a:moveTo>
                    <a:pt x="1332977" y="702982"/>
                  </a:moveTo>
                  <a:lnTo>
                    <a:pt x="1761435" y="493987"/>
                  </a:lnTo>
                </a:path>
                <a:path w="2285365" h="997585">
                  <a:moveTo>
                    <a:pt x="1128270" y="0"/>
                  </a:moveTo>
                  <a:lnTo>
                    <a:pt x="1066047" y="4264"/>
                  </a:lnTo>
                  <a:lnTo>
                    <a:pt x="1008929" y="16413"/>
                  </a:lnTo>
                  <a:lnTo>
                    <a:pt x="958546" y="35477"/>
                  </a:lnTo>
                  <a:lnTo>
                    <a:pt x="916524" y="60486"/>
                  </a:lnTo>
                  <a:lnTo>
                    <a:pt x="884493" y="90472"/>
                  </a:lnTo>
                  <a:lnTo>
                    <a:pt x="864080" y="124464"/>
                  </a:lnTo>
                  <a:lnTo>
                    <a:pt x="856914" y="161495"/>
                  </a:lnTo>
                  <a:lnTo>
                    <a:pt x="864080" y="198526"/>
                  </a:lnTo>
                  <a:lnTo>
                    <a:pt x="884493" y="232519"/>
                  </a:lnTo>
                  <a:lnTo>
                    <a:pt x="916524" y="262505"/>
                  </a:lnTo>
                  <a:lnTo>
                    <a:pt x="958546" y="287514"/>
                  </a:lnTo>
                  <a:lnTo>
                    <a:pt x="1008929" y="306577"/>
                  </a:lnTo>
                  <a:lnTo>
                    <a:pt x="1066047" y="318726"/>
                  </a:lnTo>
                  <a:lnTo>
                    <a:pt x="1128270" y="322991"/>
                  </a:lnTo>
                  <a:lnTo>
                    <a:pt x="1190489" y="318726"/>
                  </a:lnTo>
                  <a:lnTo>
                    <a:pt x="1247605" y="306577"/>
                  </a:lnTo>
                  <a:lnTo>
                    <a:pt x="1297989" y="287514"/>
                  </a:lnTo>
                  <a:lnTo>
                    <a:pt x="1340012" y="262505"/>
                  </a:lnTo>
                  <a:lnTo>
                    <a:pt x="1372045" y="232519"/>
                  </a:lnTo>
                  <a:lnTo>
                    <a:pt x="1392459" y="198526"/>
                  </a:lnTo>
                  <a:lnTo>
                    <a:pt x="1399626" y="161495"/>
                  </a:lnTo>
                  <a:lnTo>
                    <a:pt x="1392459" y="124464"/>
                  </a:lnTo>
                  <a:lnTo>
                    <a:pt x="1372045" y="90472"/>
                  </a:lnTo>
                  <a:lnTo>
                    <a:pt x="1340012" y="60486"/>
                  </a:lnTo>
                  <a:lnTo>
                    <a:pt x="1297989" y="35477"/>
                  </a:lnTo>
                  <a:lnTo>
                    <a:pt x="1247605" y="16413"/>
                  </a:lnTo>
                  <a:lnTo>
                    <a:pt x="1190489" y="4264"/>
                  </a:lnTo>
                  <a:lnTo>
                    <a:pt x="1128270" y="0"/>
                  </a:lnTo>
                  <a:close/>
                </a:path>
                <a:path w="2285365" h="997585">
                  <a:moveTo>
                    <a:pt x="1123509" y="664982"/>
                  </a:moveTo>
                  <a:lnTo>
                    <a:pt x="1123509" y="313491"/>
                  </a:lnTo>
                </a:path>
              </a:pathLst>
            </a:custGeom>
            <a:ln w="9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37355" y="3761098"/>
              <a:ext cx="333375" cy="0"/>
            </a:xfrm>
            <a:custGeom>
              <a:avLst/>
              <a:gdLst/>
              <a:ahLst/>
              <a:cxnLst/>
              <a:rect l="l" t="t" r="r" b="b"/>
              <a:pathLst>
                <a:path w="333375">
                  <a:moveTo>
                    <a:pt x="333244" y="0"/>
                  </a:moveTo>
                  <a:lnTo>
                    <a:pt x="0" y="0"/>
                  </a:lnTo>
                </a:path>
              </a:pathLst>
            </a:custGeom>
            <a:ln w="949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981309" y="4809455"/>
            <a:ext cx="884555" cy="323215"/>
          </a:xfrm>
          <a:custGeom>
            <a:avLst/>
            <a:gdLst/>
            <a:ahLst/>
            <a:cxnLst/>
            <a:rect l="l" t="t" r="r" b="b"/>
            <a:pathLst>
              <a:path w="884554" h="323214">
                <a:moveTo>
                  <a:pt x="613388" y="0"/>
                </a:moveTo>
                <a:lnTo>
                  <a:pt x="551239" y="4264"/>
                </a:lnTo>
                <a:lnTo>
                  <a:pt x="494190" y="16411"/>
                </a:lnTo>
                <a:lnTo>
                  <a:pt x="443866" y="35473"/>
                </a:lnTo>
                <a:lnTo>
                  <a:pt x="401895" y="60479"/>
                </a:lnTo>
                <a:lnTo>
                  <a:pt x="369902" y="90461"/>
                </a:lnTo>
                <a:lnTo>
                  <a:pt x="349514" y="124450"/>
                </a:lnTo>
                <a:lnTo>
                  <a:pt x="342356" y="161477"/>
                </a:lnTo>
                <a:lnTo>
                  <a:pt x="349514" y="198506"/>
                </a:lnTo>
                <a:lnTo>
                  <a:pt x="369902" y="232496"/>
                </a:lnTo>
                <a:lnTo>
                  <a:pt x="401895" y="262479"/>
                </a:lnTo>
                <a:lnTo>
                  <a:pt x="443867" y="287486"/>
                </a:lnTo>
                <a:lnTo>
                  <a:pt x="494190" y="306548"/>
                </a:lnTo>
                <a:lnTo>
                  <a:pt x="551240" y="318696"/>
                </a:lnTo>
                <a:lnTo>
                  <a:pt x="613388" y="322960"/>
                </a:lnTo>
                <a:lnTo>
                  <a:pt x="675537" y="318696"/>
                </a:lnTo>
                <a:lnTo>
                  <a:pt x="732587" y="306548"/>
                </a:lnTo>
                <a:lnTo>
                  <a:pt x="782910" y="287486"/>
                </a:lnTo>
                <a:lnTo>
                  <a:pt x="824881" y="262479"/>
                </a:lnTo>
                <a:lnTo>
                  <a:pt x="856875" y="232496"/>
                </a:lnTo>
                <a:lnTo>
                  <a:pt x="877263" y="198506"/>
                </a:lnTo>
                <a:lnTo>
                  <a:pt x="884420" y="161477"/>
                </a:lnTo>
                <a:lnTo>
                  <a:pt x="877263" y="124450"/>
                </a:lnTo>
                <a:lnTo>
                  <a:pt x="856874" y="90461"/>
                </a:lnTo>
                <a:lnTo>
                  <a:pt x="824881" y="60479"/>
                </a:lnTo>
                <a:lnTo>
                  <a:pt x="782910" y="35473"/>
                </a:lnTo>
                <a:lnTo>
                  <a:pt x="732586" y="16411"/>
                </a:lnTo>
                <a:lnTo>
                  <a:pt x="675537" y="4264"/>
                </a:lnTo>
                <a:lnTo>
                  <a:pt x="613388" y="0"/>
                </a:lnTo>
                <a:close/>
              </a:path>
              <a:path w="884554" h="323214">
                <a:moveTo>
                  <a:pt x="332846" y="161477"/>
                </a:moveTo>
                <a:lnTo>
                  <a:pt x="0" y="161476"/>
                </a:lnTo>
              </a:path>
            </a:pathLst>
          </a:custGeom>
          <a:ln w="9504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Notations</a:t>
            </a:r>
            <a:r>
              <a:rPr spc="-330" dirty="0"/>
              <a:t> </a:t>
            </a:r>
            <a:r>
              <a:rPr spc="-120" dirty="0"/>
              <a:t>used</a:t>
            </a:r>
            <a:r>
              <a:rPr spc="-285" dirty="0"/>
              <a:t> </a:t>
            </a:r>
            <a:r>
              <a:rPr spc="-75" dirty="0"/>
              <a:t>in</a:t>
            </a:r>
            <a:r>
              <a:rPr spc="-254" dirty="0"/>
              <a:t> </a:t>
            </a:r>
            <a:r>
              <a:rPr spc="-25" dirty="0"/>
              <a:t>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20208" y="2140324"/>
          <a:ext cx="3041015" cy="3138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31750">
                        <a:lnSpc>
                          <a:spcPts val="1755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Participation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75" baseline="-2116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575" spc="187" baseline="-2116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Cardinality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ratio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1;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75" baseline="-2116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75" baseline="-21164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575" spc="202" baseline="-2116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Constraint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(min,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max)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850"/>
                        </a:lnSpc>
                        <a:spcBef>
                          <a:spcPts val="7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Participation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145742" y="1857600"/>
            <a:ext cx="461645" cy="495934"/>
          </a:xfrm>
          <a:custGeom>
            <a:avLst/>
            <a:gdLst/>
            <a:ahLst/>
            <a:cxnLst/>
            <a:rect l="l" t="t" r="r" b="b"/>
            <a:pathLst>
              <a:path w="461644" h="495935">
                <a:moveTo>
                  <a:pt x="0" y="495510"/>
                </a:moveTo>
                <a:lnTo>
                  <a:pt x="461427" y="495510"/>
                </a:lnTo>
                <a:lnTo>
                  <a:pt x="461427" y="0"/>
                </a:lnTo>
                <a:lnTo>
                  <a:pt x="0" y="0"/>
                </a:lnTo>
                <a:lnTo>
                  <a:pt x="0" y="495510"/>
                </a:lnTo>
                <a:close/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47431" y="1940006"/>
            <a:ext cx="26162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900" spc="-45" dirty="0">
                <a:latin typeface="Times New Roman"/>
                <a:cs typeface="Times New Roman"/>
              </a:rPr>
              <a:t>E</a:t>
            </a:r>
            <a:r>
              <a:rPr sz="1875" spc="-67" baseline="-11111" dirty="0">
                <a:latin typeface="Times New Roman"/>
                <a:cs typeface="Times New Roman"/>
              </a:rPr>
              <a:t>1</a:t>
            </a:r>
            <a:endParaRPr sz="1875" baseline="-11111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48121" y="1700786"/>
            <a:ext cx="1957705" cy="779145"/>
            <a:chOff x="2648121" y="1700786"/>
            <a:chExt cx="1957705" cy="779145"/>
          </a:xfrm>
        </p:grpSpPr>
        <p:sp>
          <p:nvSpPr>
            <p:cNvPr id="6" name="object 6"/>
            <p:cNvSpPr/>
            <p:nvPr/>
          </p:nvSpPr>
          <p:spPr>
            <a:xfrm>
              <a:off x="2655741" y="1707454"/>
              <a:ext cx="971550" cy="765810"/>
            </a:xfrm>
            <a:custGeom>
              <a:avLst/>
              <a:gdLst/>
              <a:ahLst/>
              <a:cxnLst/>
              <a:rect l="l" t="t" r="r" b="b"/>
              <a:pathLst>
                <a:path w="971550" h="765810">
                  <a:moveTo>
                    <a:pt x="0" y="390402"/>
                  </a:moveTo>
                  <a:lnTo>
                    <a:pt x="522141" y="390402"/>
                  </a:lnTo>
                </a:path>
                <a:path w="971550" h="765810">
                  <a:moveTo>
                    <a:pt x="752855" y="0"/>
                  </a:moveTo>
                  <a:lnTo>
                    <a:pt x="534284" y="382894"/>
                  </a:lnTo>
                  <a:lnTo>
                    <a:pt x="752855" y="765780"/>
                  </a:lnTo>
                  <a:lnTo>
                    <a:pt x="971426" y="382894"/>
                  </a:lnTo>
                  <a:lnTo>
                    <a:pt x="752855" y="0"/>
                  </a:lnTo>
                  <a:close/>
                </a:path>
              </a:pathLst>
            </a:custGeom>
            <a:ln w="13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37167" y="1842585"/>
              <a:ext cx="461645" cy="495934"/>
            </a:xfrm>
            <a:custGeom>
              <a:avLst/>
              <a:gdLst/>
              <a:ahLst/>
              <a:cxnLst/>
              <a:rect l="l" t="t" r="r" b="b"/>
              <a:pathLst>
                <a:path w="461645" h="495935">
                  <a:moveTo>
                    <a:pt x="0" y="495510"/>
                  </a:moveTo>
                  <a:lnTo>
                    <a:pt x="461427" y="495510"/>
                  </a:lnTo>
                  <a:lnTo>
                    <a:pt x="461427" y="0"/>
                  </a:lnTo>
                  <a:lnTo>
                    <a:pt x="0" y="0"/>
                  </a:lnTo>
                  <a:lnTo>
                    <a:pt x="0" y="49551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10171" y="1872256"/>
            <a:ext cx="119253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316865" algn="l"/>
                <a:tab pos="883919" algn="l"/>
              </a:tabLst>
            </a:pPr>
            <a:r>
              <a:rPr sz="1900" spc="-50" dirty="0">
                <a:latin typeface="Times New Roman"/>
                <a:cs typeface="Times New Roman"/>
              </a:rPr>
              <a:t>R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2850" baseline="-11695" dirty="0">
                <a:latin typeface="Times New Roman"/>
                <a:cs typeface="Times New Roman"/>
              </a:rPr>
              <a:t>E</a:t>
            </a:r>
            <a:r>
              <a:rPr sz="1875" baseline="-28888" dirty="0">
                <a:latin typeface="Times New Roman"/>
                <a:cs typeface="Times New Roman"/>
              </a:rPr>
              <a:t>2</a:t>
            </a:r>
            <a:endParaRPr sz="1875" baseline="-2888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27168" y="2067825"/>
            <a:ext cx="522605" cy="20320"/>
          </a:xfrm>
          <a:custGeom>
            <a:avLst/>
            <a:gdLst/>
            <a:ahLst/>
            <a:cxnLst/>
            <a:rect l="l" t="t" r="r" b="b"/>
            <a:pathLst>
              <a:path w="522604" h="20319">
                <a:moveTo>
                  <a:pt x="522141" y="0"/>
                </a:moveTo>
                <a:lnTo>
                  <a:pt x="0" y="0"/>
                </a:lnTo>
                <a:lnTo>
                  <a:pt x="0" y="20020"/>
                </a:lnTo>
                <a:lnTo>
                  <a:pt x="522141" y="20020"/>
                </a:lnTo>
                <a:lnTo>
                  <a:pt x="522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45369" y="3247856"/>
            <a:ext cx="447675" cy="546735"/>
          </a:xfrm>
          <a:prstGeom prst="rect">
            <a:avLst/>
          </a:prstGeom>
          <a:ln w="14501">
            <a:solidFill>
              <a:srgbClr val="000000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830"/>
              </a:spcBef>
            </a:pPr>
            <a:r>
              <a:rPr sz="2100" spc="-310" dirty="0">
                <a:latin typeface="Times New Roman"/>
                <a:cs typeface="Times New Roman"/>
              </a:rPr>
              <a:t>E</a:t>
            </a:r>
            <a:r>
              <a:rPr sz="2025" spc="-465" baseline="-10288" dirty="0">
                <a:latin typeface="Times New Roman"/>
                <a:cs typeface="Times New Roman"/>
              </a:rPr>
              <a:t>1</a:t>
            </a:r>
            <a:endParaRPr sz="2025" baseline="-1028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39692" y="3082254"/>
            <a:ext cx="941705" cy="845185"/>
          </a:xfrm>
          <a:custGeom>
            <a:avLst/>
            <a:gdLst/>
            <a:ahLst/>
            <a:cxnLst/>
            <a:rect l="l" t="t" r="r" b="b"/>
            <a:pathLst>
              <a:path w="941704" h="845185">
                <a:moveTo>
                  <a:pt x="0" y="430588"/>
                </a:moveTo>
                <a:lnTo>
                  <a:pt x="506092" y="430589"/>
                </a:lnTo>
              </a:path>
              <a:path w="941704" h="845185">
                <a:moveTo>
                  <a:pt x="729714" y="0"/>
                </a:moveTo>
                <a:lnTo>
                  <a:pt x="517861" y="422308"/>
                </a:lnTo>
                <a:lnTo>
                  <a:pt x="729714" y="844608"/>
                </a:lnTo>
                <a:lnTo>
                  <a:pt x="941566" y="422308"/>
                </a:lnTo>
                <a:lnTo>
                  <a:pt x="729714" y="0"/>
                </a:lnTo>
                <a:close/>
              </a:path>
            </a:pathLst>
          </a:custGeom>
          <a:ln w="141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298235" y="3265328"/>
            <a:ext cx="15240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459" dirty="0">
                <a:latin typeface="Times New Roman"/>
                <a:cs typeface="Times New Roman"/>
              </a:rPr>
              <a:t>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75581" y="3231295"/>
            <a:ext cx="447675" cy="546735"/>
          </a:xfrm>
          <a:prstGeom prst="rect">
            <a:avLst/>
          </a:prstGeom>
          <a:ln w="14501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35"/>
              </a:spcBef>
            </a:pPr>
            <a:r>
              <a:rPr sz="2100" spc="-305" dirty="0">
                <a:latin typeface="Times New Roman"/>
                <a:cs typeface="Times New Roman"/>
              </a:rPr>
              <a:t>E</a:t>
            </a:r>
            <a:r>
              <a:rPr sz="2025" spc="-457" baseline="-10288" dirty="0">
                <a:latin typeface="Times New Roman"/>
                <a:cs typeface="Times New Roman"/>
              </a:rPr>
              <a:t>2</a:t>
            </a:r>
            <a:endParaRPr sz="2025" baseline="-1028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81247" y="3479723"/>
            <a:ext cx="506095" cy="66675"/>
          </a:xfrm>
          <a:custGeom>
            <a:avLst/>
            <a:gdLst/>
            <a:ahLst/>
            <a:cxnLst/>
            <a:rect l="l" t="t" r="r" b="b"/>
            <a:pathLst>
              <a:path w="506095" h="66675">
                <a:moveTo>
                  <a:pt x="506095" y="44170"/>
                </a:moveTo>
                <a:lnTo>
                  <a:pt x="0" y="44170"/>
                </a:lnTo>
                <a:lnTo>
                  <a:pt x="0" y="66243"/>
                </a:lnTo>
                <a:lnTo>
                  <a:pt x="506095" y="66243"/>
                </a:lnTo>
                <a:lnTo>
                  <a:pt x="506095" y="44170"/>
                </a:lnTo>
                <a:close/>
              </a:path>
              <a:path w="506095" h="66675">
                <a:moveTo>
                  <a:pt x="506095" y="0"/>
                </a:moveTo>
                <a:lnTo>
                  <a:pt x="0" y="0"/>
                </a:lnTo>
                <a:lnTo>
                  <a:pt x="0" y="22085"/>
                </a:lnTo>
                <a:lnTo>
                  <a:pt x="506095" y="22085"/>
                </a:lnTo>
                <a:lnTo>
                  <a:pt x="50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71893" y="3099452"/>
            <a:ext cx="12065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355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45485" y="3099452"/>
            <a:ext cx="1625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49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71655" y="4720904"/>
            <a:ext cx="1429385" cy="735330"/>
          </a:xfrm>
          <a:custGeom>
            <a:avLst/>
            <a:gdLst/>
            <a:ahLst/>
            <a:cxnLst/>
            <a:rect l="l" t="t" r="r" b="b"/>
            <a:pathLst>
              <a:path w="1429385" h="735329">
                <a:moveTo>
                  <a:pt x="0" y="374602"/>
                </a:moveTo>
                <a:lnTo>
                  <a:pt x="768161" y="374602"/>
                </a:lnTo>
              </a:path>
              <a:path w="1429385" h="735329">
                <a:moveTo>
                  <a:pt x="1107582" y="0"/>
                </a:moveTo>
                <a:lnTo>
                  <a:pt x="786026" y="367398"/>
                </a:lnTo>
                <a:lnTo>
                  <a:pt x="1107582" y="734805"/>
                </a:lnTo>
                <a:lnTo>
                  <a:pt x="1429138" y="367398"/>
                </a:lnTo>
                <a:lnTo>
                  <a:pt x="1107582" y="0"/>
                </a:lnTo>
                <a:close/>
              </a:path>
            </a:pathLst>
          </a:custGeom>
          <a:ln w="16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77454" y="4878177"/>
            <a:ext cx="217170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250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51091" y="4850581"/>
            <a:ext cx="679450" cy="475615"/>
          </a:xfrm>
          <a:prstGeom prst="rect">
            <a:avLst/>
          </a:prstGeom>
          <a:ln w="15893">
            <a:solidFill>
              <a:srgbClr val="00000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740"/>
              </a:spcBef>
            </a:pPr>
            <a:r>
              <a:rPr sz="1800" spc="225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00793" y="5095506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0" y="0"/>
                </a:moveTo>
                <a:lnTo>
                  <a:pt x="768161" y="0"/>
                </a:lnTo>
              </a:path>
            </a:pathLst>
          </a:custGeom>
          <a:ln w="144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95254" y="4559131"/>
            <a:ext cx="128968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175" dirty="0">
                <a:latin typeface="Times New Roman"/>
                <a:cs typeface="Times New Roman"/>
              </a:rPr>
              <a:t>(min,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180" dirty="0">
                <a:latin typeface="Times New Roman"/>
                <a:cs typeface="Times New Roman"/>
              </a:rPr>
              <a:t>max)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Notations</a:t>
            </a:r>
            <a:r>
              <a:rPr spc="-330" dirty="0"/>
              <a:t> </a:t>
            </a:r>
            <a:r>
              <a:rPr spc="-120" dirty="0"/>
              <a:t>used</a:t>
            </a:r>
            <a:r>
              <a:rPr spc="-285" dirty="0"/>
              <a:t> </a:t>
            </a:r>
            <a:r>
              <a:rPr spc="-75" dirty="0"/>
              <a:t>in</a:t>
            </a:r>
            <a:r>
              <a:rPr spc="-254" dirty="0"/>
              <a:t> </a:t>
            </a:r>
            <a:r>
              <a:rPr spc="-25" dirty="0"/>
              <a:t>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117" y="1772318"/>
            <a:ext cx="845819" cy="339090"/>
          </a:xfrm>
          <a:custGeom>
            <a:avLst/>
            <a:gdLst/>
            <a:ahLst/>
            <a:cxnLst/>
            <a:rect l="l" t="t" r="r" b="b"/>
            <a:pathLst>
              <a:path w="845819" h="339089">
                <a:moveTo>
                  <a:pt x="845226" y="0"/>
                </a:moveTo>
                <a:lnTo>
                  <a:pt x="0" y="0"/>
                </a:lnTo>
                <a:lnTo>
                  <a:pt x="0" y="338649"/>
                </a:lnTo>
                <a:lnTo>
                  <a:pt x="845226" y="338649"/>
                </a:lnTo>
                <a:lnTo>
                  <a:pt x="845226" y="330737"/>
                </a:lnTo>
                <a:lnTo>
                  <a:pt x="15887" y="330736"/>
                </a:lnTo>
                <a:lnTo>
                  <a:pt x="7943" y="322824"/>
                </a:lnTo>
                <a:lnTo>
                  <a:pt x="15887" y="322824"/>
                </a:lnTo>
                <a:lnTo>
                  <a:pt x="15887" y="15824"/>
                </a:lnTo>
                <a:lnTo>
                  <a:pt x="7943" y="15824"/>
                </a:lnTo>
                <a:lnTo>
                  <a:pt x="15887" y="7912"/>
                </a:lnTo>
                <a:lnTo>
                  <a:pt x="845226" y="7912"/>
                </a:lnTo>
                <a:lnTo>
                  <a:pt x="845226" y="0"/>
                </a:lnTo>
                <a:close/>
              </a:path>
              <a:path w="845819" h="339089">
                <a:moveTo>
                  <a:pt x="15887" y="322824"/>
                </a:moveTo>
                <a:lnTo>
                  <a:pt x="7943" y="322824"/>
                </a:lnTo>
                <a:lnTo>
                  <a:pt x="15887" y="330736"/>
                </a:lnTo>
                <a:lnTo>
                  <a:pt x="15887" y="322824"/>
                </a:lnTo>
                <a:close/>
              </a:path>
              <a:path w="845819" h="339089">
                <a:moveTo>
                  <a:pt x="829339" y="322824"/>
                </a:moveTo>
                <a:lnTo>
                  <a:pt x="15887" y="322824"/>
                </a:lnTo>
                <a:lnTo>
                  <a:pt x="15887" y="330736"/>
                </a:lnTo>
                <a:lnTo>
                  <a:pt x="829339" y="330737"/>
                </a:lnTo>
                <a:lnTo>
                  <a:pt x="829339" y="322824"/>
                </a:lnTo>
                <a:close/>
              </a:path>
              <a:path w="845819" h="339089">
                <a:moveTo>
                  <a:pt x="829339" y="7912"/>
                </a:moveTo>
                <a:lnTo>
                  <a:pt x="829339" y="330737"/>
                </a:lnTo>
                <a:lnTo>
                  <a:pt x="837283" y="322824"/>
                </a:lnTo>
                <a:lnTo>
                  <a:pt x="845226" y="322824"/>
                </a:lnTo>
                <a:lnTo>
                  <a:pt x="845226" y="15825"/>
                </a:lnTo>
                <a:lnTo>
                  <a:pt x="837282" y="15825"/>
                </a:lnTo>
                <a:lnTo>
                  <a:pt x="829339" y="7912"/>
                </a:lnTo>
                <a:close/>
              </a:path>
              <a:path w="845819" h="339089">
                <a:moveTo>
                  <a:pt x="845226" y="322824"/>
                </a:moveTo>
                <a:lnTo>
                  <a:pt x="837283" y="322824"/>
                </a:lnTo>
                <a:lnTo>
                  <a:pt x="829339" y="330737"/>
                </a:lnTo>
                <a:lnTo>
                  <a:pt x="845226" y="330737"/>
                </a:lnTo>
                <a:lnTo>
                  <a:pt x="845226" y="322824"/>
                </a:lnTo>
                <a:close/>
              </a:path>
              <a:path w="845819" h="339089">
                <a:moveTo>
                  <a:pt x="15887" y="7912"/>
                </a:moveTo>
                <a:lnTo>
                  <a:pt x="7943" y="15824"/>
                </a:lnTo>
                <a:lnTo>
                  <a:pt x="15887" y="15824"/>
                </a:lnTo>
                <a:lnTo>
                  <a:pt x="15887" y="7912"/>
                </a:lnTo>
                <a:close/>
              </a:path>
              <a:path w="845819" h="339089">
                <a:moveTo>
                  <a:pt x="829339" y="7912"/>
                </a:moveTo>
                <a:lnTo>
                  <a:pt x="15887" y="7912"/>
                </a:lnTo>
                <a:lnTo>
                  <a:pt x="15887" y="15824"/>
                </a:lnTo>
                <a:lnTo>
                  <a:pt x="829339" y="15825"/>
                </a:lnTo>
                <a:lnTo>
                  <a:pt x="829339" y="7912"/>
                </a:lnTo>
                <a:close/>
              </a:path>
              <a:path w="845819" h="339089">
                <a:moveTo>
                  <a:pt x="845226" y="7912"/>
                </a:moveTo>
                <a:lnTo>
                  <a:pt x="829339" y="7912"/>
                </a:lnTo>
                <a:lnTo>
                  <a:pt x="837282" y="15825"/>
                </a:lnTo>
                <a:lnTo>
                  <a:pt x="845226" y="15825"/>
                </a:lnTo>
                <a:lnTo>
                  <a:pt x="845226" y="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0723" y="1813815"/>
            <a:ext cx="551815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10" dirty="0">
                <a:latin typeface="Arial"/>
                <a:cs typeface="Arial"/>
              </a:rPr>
              <a:t>Manager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88840" y="1686217"/>
            <a:ext cx="1224280" cy="501650"/>
          </a:xfrm>
          <a:custGeom>
            <a:avLst/>
            <a:gdLst/>
            <a:ahLst/>
            <a:cxnLst/>
            <a:rect l="l" t="t" r="r" b="b"/>
            <a:pathLst>
              <a:path w="1224280" h="501650">
                <a:moveTo>
                  <a:pt x="611867" y="0"/>
                </a:moveTo>
                <a:lnTo>
                  <a:pt x="0" y="250680"/>
                </a:lnTo>
                <a:lnTo>
                  <a:pt x="611867" y="501351"/>
                </a:lnTo>
                <a:lnTo>
                  <a:pt x="650612" y="485478"/>
                </a:lnTo>
                <a:lnTo>
                  <a:pt x="608817" y="485478"/>
                </a:lnTo>
                <a:lnTo>
                  <a:pt x="611867" y="484228"/>
                </a:lnTo>
                <a:lnTo>
                  <a:pt x="59620" y="257997"/>
                </a:lnTo>
                <a:lnTo>
                  <a:pt x="23895" y="257997"/>
                </a:lnTo>
                <a:lnTo>
                  <a:pt x="23895" y="243362"/>
                </a:lnTo>
                <a:lnTo>
                  <a:pt x="59619" y="243362"/>
                </a:lnTo>
                <a:lnTo>
                  <a:pt x="611867" y="17125"/>
                </a:lnTo>
                <a:lnTo>
                  <a:pt x="608817" y="15875"/>
                </a:lnTo>
                <a:lnTo>
                  <a:pt x="650617" y="15875"/>
                </a:lnTo>
                <a:lnTo>
                  <a:pt x="611867" y="0"/>
                </a:lnTo>
                <a:close/>
              </a:path>
              <a:path w="1224280" h="501650">
                <a:moveTo>
                  <a:pt x="611867" y="484228"/>
                </a:moveTo>
                <a:lnTo>
                  <a:pt x="608817" y="485478"/>
                </a:lnTo>
                <a:lnTo>
                  <a:pt x="614918" y="485478"/>
                </a:lnTo>
                <a:lnTo>
                  <a:pt x="611867" y="484228"/>
                </a:lnTo>
                <a:close/>
              </a:path>
              <a:path w="1224280" h="501650">
                <a:moveTo>
                  <a:pt x="1181978" y="250680"/>
                </a:moveTo>
                <a:lnTo>
                  <a:pt x="611867" y="484228"/>
                </a:lnTo>
                <a:lnTo>
                  <a:pt x="614918" y="485478"/>
                </a:lnTo>
                <a:lnTo>
                  <a:pt x="650612" y="485478"/>
                </a:lnTo>
                <a:lnTo>
                  <a:pt x="1205874" y="257997"/>
                </a:lnTo>
                <a:lnTo>
                  <a:pt x="1199840" y="257997"/>
                </a:lnTo>
                <a:lnTo>
                  <a:pt x="1181978" y="250680"/>
                </a:lnTo>
                <a:close/>
              </a:path>
              <a:path w="1224280" h="501650">
                <a:moveTo>
                  <a:pt x="23895" y="243362"/>
                </a:moveTo>
                <a:lnTo>
                  <a:pt x="23895" y="257997"/>
                </a:lnTo>
                <a:lnTo>
                  <a:pt x="41757" y="250680"/>
                </a:lnTo>
                <a:lnTo>
                  <a:pt x="23895" y="243362"/>
                </a:lnTo>
                <a:close/>
              </a:path>
              <a:path w="1224280" h="501650">
                <a:moveTo>
                  <a:pt x="41757" y="250680"/>
                </a:moveTo>
                <a:lnTo>
                  <a:pt x="23895" y="257997"/>
                </a:lnTo>
                <a:lnTo>
                  <a:pt x="59620" y="257997"/>
                </a:lnTo>
                <a:lnTo>
                  <a:pt x="41757" y="250680"/>
                </a:lnTo>
                <a:close/>
              </a:path>
              <a:path w="1224280" h="501650">
                <a:moveTo>
                  <a:pt x="1199840" y="243362"/>
                </a:moveTo>
                <a:lnTo>
                  <a:pt x="1181978" y="250680"/>
                </a:lnTo>
                <a:lnTo>
                  <a:pt x="1199840" y="257997"/>
                </a:lnTo>
                <a:lnTo>
                  <a:pt x="1199840" y="243362"/>
                </a:lnTo>
                <a:close/>
              </a:path>
              <a:path w="1224280" h="501650">
                <a:moveTo>
                  <a:pt x="1205875" y="243362"/>
                </a:moveTo>
                <a:lnTo>
                  <a:pt x="1199840" y="243362"/>
                </a:lnTo>
                <a:lnTo>
                  <a:pt x="1199840" y="257997"/>
                </a:lnTo>
                <a:lnTo>
                  <a:pt x="1205874" y="257997"/>
                </a:lnTo>
                <a:lnTo>
                  <a:pt x="1223735" y="250680"/>
                </a:lnTo>
                <a:lnTo>
                  <a:pt x="1205875" y="243362"/>
                </a:lnTo>
                <a:close/>
              </a:path>
              <a:path w="1224280" h="501650">
                <a:moveTo>
                  <a:pt x="59619" y="243362"/>
                </a:moveTo>
                <a:lnTo>
                  <a:pt x="23895" y="243362"/>
                </a:lnTo>
                <a:lnTo>
                  <a:pt x="41757" y="250680"/>
                </a:lnTo>
                <a:lnTo>
                  <a:pt x="59619" y="243362"/>
                </a:lnTo>
                <a:close/>
              </a:path>
              <a:path w="1224280" h="501650">
                <a:moveTo>
                  <a:pt x="650617" y="15875"/>
                </a:moveTo>
                <a:lnTo>
                  <a:pt x="614918" y="15875"/>
                </a:lnTo>
                <a:lnTo>
                  <a:pt x="611867" y="17125"/>
                </a:lnTo>
                <a:lnTo>
                  <a:pt x="1181978" y="250680"/>
                </a:lnTo>
                <a:lnTo>
                  <a:pt x="1199840" y="243362"/>
                </a:lnTo>
                <a:lnTo>
                  <a:pt x="1205875" y="243362"/>
                </a:lnTo>
                <a:lnTo>
                  <a:pt x="650617" y="15875"/>
                </a:lnTo>
                <a:close/>
              </a:path>
              <a:path w="1224280" h="501650">
                <a:moveTo>
                  <a:pt x="614918" y="15875"/>
                </a:moveTo>
                <a:lnTo>
                  <a:pt x="608817" y="15875"/>
                </a:lnTo>
                <a:lnTo>
                  <a:pt x="611867" y="17125"/>
                </a:lnTo>
                <a:lnTo>
                  <a:pt x="614918" y="15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99487" y="1798319"/>
            <a:ext cx="574040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10" dirty="0">
                <a:latin typeface="Arial"/>
                <a:cs typeface="Arial"/>
              </a:rPr>
              <a:t>Manages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32868" y="1772318"/>
            <a:ext cx="3401695" cy="339090"/>
            <a:chOff x="1132868" y="1772318"/>
            <a:chExt cx="3401695" cy="339090"/>
          </a:xfrm>
        </p:grpSpPr>
        <p:sp>
          <p:nvSpPr>
            <p:cNvPr id="7" name="object 7"/>
            <p:cNvSpPr/>
            <p:nvPr/>
          </p:nvSpPr>
          <p:spPr>
            <a:xfrm>
              <a:off x="1132868" y="1932150"/>
              <a:ext cx="2545715" cy="0"/>
            </a:xfrm>
            <a:custGeom>
              <a:avLst/>
              <a:gdLst/>
              <a:ahLst/>
              <a:cxnLst/>
              <a:rect l="l" t="t" r="r" b="b"/>
              <a:pathLst>
                <a:path w="2545715">
                  <a:moveTo>
                    <a:pt x="0" y="0"/>
                  </a:moveTo>
                  <a:lnTo>
                    <a:pt x="686349" y="0"/>
                  </a:lnTo>
                </a:path>
                <a:path w="2545715">
                  <a:moveTo>
                    <a:pt x="1858863" y="0"/>
                  </a:moveTo>
                  <a:lnTo>
                    <a:pt x="2545213" y="0"/>
                  </a:lnTo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89139" y="1772318"/>
              <a:ext cx="845819" cy="339090"/>
            </a:xfrm>
            <a:custGeom>
              <a:avLst/>
              <a:gdLst/>
              <a:ahLst/>
              <a:cxnLst/>
              <a:rect l="l" t="t" r="r" b="b"/>
              <a:pathLst>
                <a:path w="845820" h="339089">
                  <a:moveTo>
                    <a:pt x="845226" y="0"/>
                  </a:moveTo>
                  <a:lnTo>
                    <a:pt x="0" y="0"/>
                  </a:lnTo>
                  <a:lnTo>
                    <a:pt x="0" y="338649"/>
                  </a:lnTo>
                  <a:lnTo>
                    <a:pt x="845226" y="338649"/>
                  </a:lnTo>
                  <a:lnTo>
                    <a:pt x="845226" y="330737"/>
                  </a:lnTo>
                  <a:lnTo>
                    <a:pt x="15887" y="330736"/>
                  </a:lnTo>
                  <a:lnTo>
                    <a:pt x="8007" y="322824"/>
                  </a:lnTo>
                  <a:lnTo>
                    <a:pt x="15887" y="322824"/>
                  </a:lnTo>
                  <a:lnTo>
                    <a:pt x="15887" y="15824"/>
                  </a:lnTo>
                  <a:lnTo>
                    <a:pt x="8007" y="15824"/>
                  </a:lnTo>
                  <a:lnTo>
                    <a:pt x="15887" y="7912"/>
                  </a:lnTo>
                  <a:lnTo>
                    <a:pt x="845226" y="7912"/>
                  </a:lnTo>
                  <a:lnTo>
                    <a:pt x="845226" y="0"/>
                  </a:lnTo>
                  <a:close/>
                </a:path>
                <a:path w="845820" h="339089">
                  <a:moveTo>
                    <a:pt x="15887" y="322824"/>
                  </a:moveTo>
                  <a:lnTo>
                    <a:pt x="8007" y="322824"/>
                  </a:lnTo>
                  <a:lnTo>
                    <a:pt x="15887" y="330736"/>
                  </a:lnTo>
                  <a:lnTo>
                    <a:pt x="15887" y="322824"/>
                  </a:lnTo>
                  <a:close/>
                </a:path>
                <a:path w="845820" h="339089">
                  <a:moveTo>
                    <a:pt x="829339" y="322824"/>
                  </a:moveTo>
                  <a:lnTo>
                    <a:pt x="15887" y="322824"/>
                  </a:lnTo>
                  <a:lnTo>
                    <a:pt x="15887" y="330736"/>
                  </a:lnTo>
                  <a:lnTo>
                    <a:pt x="829339" y="330737"/>
                  </a:lnTo>
                  <a:lnTo>
                    <a:pt x="829339" y="322824"/>
                  </a:lnTo>
                  <a:close/>
                </a:path>
                <a:path w="845820" h="339089">
                  <a:moveTo>
                    <a:pt x="829339" y="7912"/>
                  </a:moveTo>
                  <a:lnTo>
                    <a:pt x="829339" y="330737"/>
                  </a:lnTo>
                  <a:lnTo>
                    <a:pt x="837346" y="322824"/>
                  </a:lnTo>
                  <a:lnTo>
                    <a:pt x="845226" y="322824"/>
                  </a:lnTo>
                  <a:lnTo>
                    <a:pt x="845226" y="15825"/>
                  </a:lnTo>
                  <a:lnTo>
                    <a:pt x="837346" y="15825"/>
                  </a:lnTo>
                  <a:lnTo>
                    <a:pt x="829339" y="7912"/>
                  </a:lnTo>
                  <a:close/>
                </a:path>
                <a:path w="845820" h="339089">
                  <a:moveTo>
                    <a:pt x="845226" y="322824"/>
                  </a:moveTo>
                  <a:lnTo>
                    <a:pt x="837346" y="322824"/>
                  </a:lnTo>
                  <a:lnTo>
                    <a:pt x="829339" y="330737"/>
                  </a:lnTo>
                  <a:lnTo>
                    <a:pt x="845226" y="330737"/>
                  </a:lnTo>
                  <a:lnTo>
                    <a:pt x="845226" y="322824"/>
                  </a:lnTo>
                  <a:close/>
                </a:path>
                <a:path w="845820" h="339089">
                  <a:moveTo>
                    <a:pt x="15887" y="7912"/>
                  </a:moveTo>
                  <a:lnTo>
                    <a:pt x="8007" y="15824"/>
                  </a:lnTo>
                  <a:lnTo>
                    <a:pt x="15887" y="15824"/>
                  </a:lnTo>
                  <a:lnTo>
                    <a:pt x="15887" y="7912"/>
                  </a:lnTo>
                  <a:close/>
                </a:path>
                <a:path w="845820" h="339089">
                  <a:moveTo>
                    <a:pt x="829339" y="7912"/>
                  </a:moveTo>
                  <a:lnTo>
                    <a:pt x="15887" y="7912"/>
                  </a:lnTo>
                  <a:lnTo>
                    <a:pt x="15887" y="15824"/>
                  </a:lnTo>
                  <a:lnTo>
                    <a:pt x="829339" y="15825"/>
                  </a:lnTo>
                  <a:lnTo>
                    <a:pt x="829339" y="7912"/>
                  </a:lnTo>
                  <a:close/>
                </a:path>
                <a:path w="845820" h="339089">
                  <a:moveTo>
                    <a:pt x="845226" y="7912"/>
                  </a:moveTo>
                  <a:lnTo>
                    <a:pt x="829339" y="7912"/>
                  </a:lnTo>
                  <a:lnTo>
                    <a:pt x="837346" y="15825"/>
                  </a:lnTo>
                  <a:lnTo>
                    <a:pt x="845226" y="15825"/>
                  </a:lnTo>
                  <a:lnTo>
                    <a:pt x="845226" y="7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02905" y="1813815"/>
            <a:ext cx="628650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10" dirty="0">
                <a:latin typeface="Arial"/>
                <a:cs typeface="Arial"/>
              </a:rPr>
              <a:t>Employee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5555" y="2656881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5">
                <a:moveTo>
                  <a:pt x="0" y="0"/>
                </a:moveTo>
                <a:lnTo>
                  <a:pt x="1362760" y="0"/>
                </a:lnTo>
              </a:path>
            </a:pathLst>
          </a:custGeom>
          <a:ln w="94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43640" y="2419651"/>
            <a:ext cx="67818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Manages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1165" y="2477433"/>
            <a:ext cx="924560" cy="359410"/>
          </a:xfrm>
          <a:custGeom>
            <a:avLst/>
            <a:gdLst/>
            <a:ahLst/>
            <a:cxnLst/>
            <a:rect l="l" t="t" r="r" b="b"/>
            <a:pathLst>
              <a:path w="924560" h="359410">
                <a:moveTo>
                  <a:pt x="60355" y="0"/>
                </a:moveTo>
                <a:lnTo>
                  <a:pt x="36863" y="4701"/>
                </a:lnTo>
                <a:lnTo>
                  <a:pt x="17678" y="17521"/>
                </a:lnTo>
                <a:lnTo>
                  <a:pt x="4743" y="36534"/>
                </a:lnTo>
                <a:lnTo>
                  <a:pt x="0" y="59816"/>
                </a:lnTo>
                <a:lnTo>
                  <a:pt x="0" y="299083"/>
                </a:lnTo>
                <a:lnTo>
                  <a:pt x="17678" y="341378"/>
                </a:lnTo>
                <a:lnTo>
                  <a:pt x="60355" y="358899"/>
                </a:lnTo>
                <a:lnTo>
                  <a:pt x="864034" y="358899"/>
                </a:lnTo>
                <a:lnTo>
                  <a:pt x="887525" y="354198"/>
                </a:lnTo>
                <a:lnTo>
                  <a:pt x="906710" y="341379"/>
                </a:lnTo>
                <a:lnTo>
                  <a:pt x="919646" y="322365"/>
                </a:lnTo>
                <a:lnTo>
                  <a:pt x="924390" y="299083"/>
                </a:lnTo>
                <a:lnTo>
                  <a:pt x="924390" y="59816"/>
                </a:lnTo>
                <a:lnTo>
                  <a:pt x="906710" y="17521"/>
                </a:lnTo>
                <a:lnTo>
                  <a:pt x="864034" y="0"/>
                </a:lnTo>
                <a:lnTo>
                  <a:pt x="60355" y="0"/>
                </a:lnTo>
                <a:close/>
              </a:path>
            </a:pathLst>
          </a:custGeom>
          <a:ln w="15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8717" y="2565627"/>
            <a:ext cx="5518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Manager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06904" y="2477433"/>
            <a:ext cx="924560" cy="359410"/>
          </a:xfrm>
          <a:custGeom>
            <a:avLst/>
            <a:gdLst/>
            <a:ahLst/>
            <a:cxnLst/>
            <a:rect l="l" t="t" r="r" b="b"/>
            <a:pathLst>
              <a:path w="924560" h="359410">
                <a:moveTo>
                  <a:pt x="60355" y="0"/>
                </a:moveTo>
                <a:lnTo>
                  <a:pt x="36880" y="4701"/>
                </a:lnTo>
                <a:lnTo>
                  <a:pt x="17693" y="17521"/>
                </a:lnTo>
                <a:lnTo>
                  <a:pt x="4749" y="36534"/>
                </a:lnTo>
                <a:lnTo>
                  <a:pt x="0" y="59816"/>
                </a:lnTo>
                <a:lnTo>
                  <a:pt x="0" y="299083"/>
                </a:lnTo>
                <a:lnTo>
                  <a:pt x="17693" y="341378"/>
                </a:lnTo>
                <a:lnTo>
                  <a:pt x="60355" y="358899"/>
                </a:lnTo>
                <a:lnTo>
                  <a:pt x="864034" y="358899"/>
                </a:lnTo>
                <a:lnTo>
                  <a:pt x="887509" y="354198"/>
                </a:lnTo>
                <a:lnTo>
                  <a:pt x="906696" y="341379"/>
                </a:lnTo>
                <a:lnTo>
                  <a:pt x="919641" y="322365"/>
                </a:lnTo>
                <a:lnTo>
                  <a:pt x="924390" y="299083"/>
                </a:lnTo>
                <a:lnTo>
                  <a:pt x="924390" y="59816"/>
                </a:lnTo>
                <a:lnTo>
                  <a:pt x="906696" y="17521"/>
                </a:lnTo>
                <a:lnTo>
                  <a:pt x="864034" y="0"/>
                </a:lnTo>
                <a:lnTo>
                  <a:pt x="60355" y="0"/>
                </a:lnTo>
                <a:close/>
              </a:path>
            </a:pathLst>
          </a:custGeom>
          <a:ln w="15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57990" y="2550214"/>
            <a:ext cx="6280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Employee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100" y="1393698"/>
            <a:ext cx="13093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155" dirty="0">
                <a:solidFill>
                  <a:srgbClr val="C0504D"/>
                </a:solidFill>
                <a:latin typeface="Times New Roman"/>
                <a:cs typeface="Times New Roman"/>
              </a:rPr>
              <a:t>Relationships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703" y="3095370"/>
            <a:ext cx="184403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dirty="0">
                <a:solidFill>
                  <a:srgbClr val="C0504D"/>
                </a:solidFill>
                <a:latin typeface="Times New Roman"/>
                <a:cs typeface="Times New Roman"/>
              </a:rPr>
              <a:t>Degree</a:t>
            </a:r>
            <a:r>
              <a:rPr sz="1400" b="1" i="1" spc="-1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C0504D"/>
                </a:solidFill>
                <a:latin typeface="Times New Roman"/>
                <a:cs typeface="Times New Roman"/>
              </a:rPr>
              <a:t>of</a:t>
            </a:r>
            <a:r>
              <a:rPr sz="1400" b="1" i="1" spc="-2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C0504D"/>
                </a:solidFill>
                <a:latin typeface="Times New Roman"/>
                <a:cs typeface="Times New Roman"/>
              </a:rPr>
              <a:t>a</a:t>
            </a:r>
            <a:r>
              <a:rPr sz="1400" b="1" i="1" spc="-1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1400" b="1" i="1" spc="-10" dirty="0">
                <a:solidFill>
                  <a:srgbClr val="C0504D"/>
                </a:solidFill>
                <a:latin typeface="Times New Roman"/>
                <a:cs typeface="Times New Roman"/>
              </a:rPr>
              <a:t>Relationship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89179" y="3591201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5">
                <a:moveTo>
                  <a:pt x="0" y="0"/>
                </a:moveTo>
                <a:lnTo>
                  <a:pt x="1362760" y="0"/>
                </a:lnTo>
              </a:path>
            </a:pathLst>
          </a:custGeom>
          <a:ln w="95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17263" y="3352297"/>
            <a:ext cx="67818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latin typeface="Arial"/>
                <a:cs typeface="Arial"/>
              </a:rPr>
              <a:t>Manages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64788" y="3410415"/>
            <a:ext cx="924560" cy="361950"/>
          </a:xfrm>
          <a:custGeom>
            <a:avLst/>
            <a:gdLst/>
            <a:ahLst/>
            <a:cxnLst/>
            <a:rect l="l" t="t" r="r" b="b"/>
            <a:pathLst>
              <a:path w="924559" h="361950">
                <a:moveTo>
                  <a:pt x="60355" y="0"/>
                </a:moveTo>
                <a:lnTo>
                  <a:pt x="36863" y="4736"/>
                </a:lnTo>
                <a:lnTo>
                  <a:pt x="17678" y="17651"/>
                </a:lnTo>
                <a:lnTo>
                  <a:pt x="4743" y="36807"/>
                </a:lnTo>
                <a:lnTo>
                  <a:pt x="0" y="60261"/>
                </a:lnTo>
                <a:lnTo>
                  <a:pt x="0" y="301313"/>
                </a:lnTo>
                <a:lnTo>
                  <a:pt x="17679" y="343924"/>
                </a:lnTo>
                <a:lnTo>
                  <a:pt x="60355" y="361575"/>
                </a:lnTo>
                <a:lnTo>
                  <a:pt x="864034" y="361575"/>
                </a:lnTo>
                <a:lnTo>
                  <a:pt x="887526" y="356839"/>
                </a:lnTo>
                <a:lnTo>
                  <a:pt x="906710" y="343924"/>
                </a:lnTo>
                <a:lnTo>
                  <a:pt x="919646" y="324769"/>
                </a:lnTo>
                <a:lnTo>
                  <a:pt x="924390" y="301313"/>
                </a:lnTo>
                <a:lnTo>
                  <a:pt x="924390" y="60262"/>
                </a:lnTo>
                <a:lnTo>
                  <a:pt x="906710" y="17652"/>
                </a:lnTo>
                <a:lnTo>
                  <a:pt x="864034" y="0"/>
                </a:lnTo>
                <a:lnTo>
                  <a:pt x="60355" y="0"/>
                </a:lnTo>
                <a:close/>
              </a:path>
            </a:pathLst>
          </a:custGeom>
          <a:ln w="158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52341" y="3499361"/>
            <a:ext cx="551815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10" dirty="0">
                <a:latin typeface="Arial"/>
                <a:cs typeface="Arial"/>
              </a:rPr>
              <a:t>Manager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080528" y="3410415"/>
            <a:ext cx="924560" cy="361950"/>
          </a:xfrm>
          <a:custGeom>
            <a:avLst/>
            <a:gdLst/>
            <a:ahLst/>
            <a:cxnLst/>
            <a:rect l="l" t="t" r="r" b="b"/>
            <a:pathLst>
              <a:path w="924559" h="361950">
                <a:moveTo>
                  <a:pt x="60355" y="0"/>
                </a:moveTo>
                <a:lnTo>
                  <a:pt x="36880" y="4736"/>
                </a:lnTo>
                <a:lnTo>
                  <a:pt x="17693" y="17651"/>
                </a:lnTo>
                <a:lnTo>
                  <a:pt x="4748" y="36807"/>
                </a:lnTo>
                <a:lnTo>
                  <a:pt x="0" y="60261"/>
                </a:lnTo>
                <a:lnTo>
                  <a:pt x="0" y="301313"/>
                </a:lnTo>
                <a:lnTo>
                  <a:pt x="17693" y="343924"/>
                </a:lnTo>
                <a:lnTo>
                  <a:pt x="60355" y="361575"/>
                </a:lnTo>
                <a:lnTo>
                  <a:pt x="864034" y="361575"/>
                </a:lnTo>
                <a:lnTo>
                  <a:pt x="887509" y="356839"/>
                </a:lnTo>
                <a:lnTo>
                  <a:pt x="906696" y="343924"/>
                </a:lnTo>
                <a:lnTo>
                  <a:pt x="919641" y="324769"/>
                </a:lnTo>
                <a:lnTo>
                  <a:pt x="924390" y="301313"/>
                </a:lnTo>
                <a:lnTo>
                  <a:pt x="924390" y="60262"/>
                </a:lnTo>
                <a:lnTo>
                  <a:pt x="906696" y="17652"/>
                </a:lnTo>
                <a:lnTo>
                  <a:pt x="864034" y="0"/>
                </a:lnTo>
                <a:lnTo>
                  <a:pt x="60355" y="0"/>
                </a:lnTo>
                <a:close/>
              </a:path>
            </a:pathLst>
          </a:custGeom>
          <a:ln w="158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231614" y="3483833"/>
            <a:ext cx="628015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10" dirty="0">
                <a:latin typeface="Arial"/>
                <a:cs typeface="Arial"/>
              </a:rPr>
              <a:t>Employee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46926" y="4435487"/>
            <a:ext cx="1514475" cy="0"/>
          </a:xfrm>
          <a:custGeom>
            <a:avLst/>
            <a:gdLst/>
            <a:ahLst/>
            <a:cxnLst/>
            <a:rect l="l" t="t" r="r" b="b"/>
            <a:pathLst>
              <a:path w="1514475">
                <a:moveTo>
                  <a:pt x="0" y="0"/>
                </a:moveTo>
                <a:lnTo>
                  <a:pt x="1514247" y="0"/>
                </a:lnTo>
              </a:path>
            </a:pathLst>
          </a:custGeom>
          <a:ln w="95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10649" y="4233420"/>
            <a:ext cx="26416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85" dirty="0">
                <a:latin typeface="Arial"/>
                <a:cs typeface="Arial"/>
              </a:rPr>
              <a:t>Sells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14089" y="4197445"/>
            <a:ext cx="833119" cy="476250"/>
          </a:xfrm>
          <a:custGeom>
            <a:avLst/>
            <a:gdLst/>
            <a:ahLst/>
            <a:cxnLst/>
            <a:rect l="l" t="t" r="r" b="b"/>
            <a:pathLst>
              <a:path w="833120" h="476250">
                <a:moveTo>
                  <a:pt x="63093" y="0"/>
                </a:moveTo>
                <a:lnTo>
                  <a:pt x="38536" y="6236"/>
                </a:lnTo>
                <a:lnTo>
                  <a:pt x="18481" y="23243"/>
                </a:lnTo>
                <a:lnTo>
                  <a:pt x="4958" y="48465"/>
                </a:lnTo>
                <a:lnTo>
                  <a:pt x="0" y="79347"/>
                </a:lnTo>
                <a:lnTo>
                  <a:pt x="0" y="396735"/>
                </a:lnTo>
                <a:lnTo>
                  <a:pt x="4958" y="427616"/>
                </a:lnTo>
                <a:lnTo>
                  <a:pt x="18481" y="452838"/>
                </a:lnTo>
                <a:lnTo>
                  <a:pt x="38536" y="469845"/>
                </a:lnTo>
                <a:lnTo>
                  <a:pt x="63093" y="476082"/>
                </a:lnTo>
                <a:lnTo>
                  <a:pt x="769742" y="476082"/>
                </a:lnTo>
                <a:lnTo>
                  <a:pt x="794298" y="469845"/>
                </a:lnTo>
                <a:lnTo>
                  <a:pt x="814353" y="452838"/>
                </a:lnTo>
                <a:lnTo>
                  <a:pt x="827876" y="427616"/>
                </a:lnTo>
                <a:lnTo>
                  <a:pt x="832836" y="396735"/>
                </a:lnTo>
                <a:lnTo>
                  <a:pt x="832836" y="79347"/>
                </a:lnTo>
                <a:lnTo>
                  <a:pt x="827876" y="48465"/>
                </a:lnTo>
                <a:lnTo>
                  <a:pt x="814353" y="23243"/>
                </a:lnTo>
                <a:lnTo>
                  <a:pt x="794297" y="6236"/>
                </a:lnTo>
                <a:lnTo>
                  <a:pt x="769742" y="0"/>
                </a:lnTo>
                <a:lnTo>
                  <a:pt x="63093" y="0"/>
                </a:lnTo>
                <a:close/>
              </a:path>
            </a:pathLst>
          </a:custGeom>
          <a:ln w="150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093235" y="4282171"/>
            <a:ext cx="478790" cy="3232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93980">
              <a:lnSpc>
                <a:spcPts val="1130"/>
              </a:lnSpc>
              <a:spcBef>
                <a:spcPts val="204"/>
              </a:spcBef>
            </a:pPr>
            <a:r>
              <a:rPr sz="1000" b="1" spc="-10" dirty="0">
                <a:latin typeface="Arial"/>
                <a:cs typeface="Arial"/>
              </a:rPr>
              <a:t>Sales </a:t>
            </a:r>
            <a:r>
              <a:rPr sz="1000" b="1" spc="-114" dirty="0">
                <a:latin typeface="Arial"/>
                <a:cs typeface="Arial"/>
              </a:rPr>
              <a:t>Assistant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68744" y="4245054"/>
            <a:ext cx="734695" cy="361950"/>
          </a:xfrm>
          <a:custGeom>
            <a:avLst/>
            <a:gdLst/>
            <a:ahLst/>
            <a:cxnLst/>
            <a:rect l="l" t="t" r="r" b="b"/>
            <a:pathLst>
              <a:path w="734695" h="361950">
                <a:moveTo>
                  <a:pt x="47951" y="0"/>
                </a:moveTo>
                <a:lnTo>
                  <a:pt x="29300" y="4739"/>
                </a:lnTo>
                <a:lnTo>
                  <a:pt x="14057" y="17664"/>
                </a:lnTo>
                <a:lnTo>
                  <a:pt x="3772" y="36832"/>
                </a:lnTo>
                <a:lnTo>
                  <a:pt x="0" y="60303"/>
                </a:lnTo>
                <a:lnTo>
                  <a:pt x="0" y="301518"/>
                </a:lnTo>
                <a:lnTo>
                  <a:pt x="3773" y="324989"/>
                </a:lnTo>
                <a:lnTo>
                  <a:pt x="14057" y="344158"/>
                </a:lnTo>
                <a:lnTo>
                  <a:pt x="29300" y="357083"/>
                </a:lnTo>
                <a:lnTo>
                  <a:pt x="47951" y="361822"/>
                </a:lnTo>
                <a:lnTo>
                  <a:pt x="686459" y="361822"/>
                </a:lnTo>
                <a:lnTo>
                  <a:pt x="705109" y="357083"/>
                </a:lnTo>
                <a:lnTo>
                  <a:pt x="720352" y="344158"/>
                </a:lnTo>
                <a:lnTo>
                  <a:pt x="730637" y="324989"/>
                </a:lnTo>
                <a:lnTo>
                  <a:pt x="734410" y="301518"/>
                </a:lnTo>
                <a:lnTo>
                  <a:pt x="734409" y="60303"/>
                </a:lnTo>
                <a:lnTo>
                  <a:pt x="730636" y="36832"/>
                </a:lnTo>
                <a:lnTo>
                  <a:pt x="720352" y="17664"/>
                </a:lnTo>
                <a:lnTo>
                  <a:pt x="705109" y="4739"/>
                </a:lnTo>
                <a:lnTo>
                  <a:pt x="686458" y="0"/>
                </a:lnTo>
                <a:lnTo>
                  <a:pt x="47951" y="0"/>
                </a:lnTo>
                <a:close/>
              </a:path>
            </a:pathLst>
          </a:custGeom>
          <a:ln w="15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436037" y="4318734"/>
            <a:ext cx="40830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10" dirty="0">
                <a:latin typeface="Arial"/>
                <a:cs typeface="Arial"/>
              </a:rPr>
              <a:t>Product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02774" y="4854439"/>
            <a:ext cx="734695" cy="361950"/>
          </a:xfrm>
          <a:custGeom>
            <a:avLst/>
            <a:gdLst/>
            <a:ahLst/>
            <a:cxnLst/>
            <a:rect l="l" t="t" r="r" b="b"/>
            <a:pathLst>
              <a:path w="734695" h="361950">
                <a:moveTo>
                  <a:pt x="47951" y="0"/>
                </a:moveTo>
                <a:lnTo>
                  <a:pt x="29300" y="4739"/>
                </a:lnTo>
                <a:lnTo>
                  <a:pt x="14057" y="17664"/>
                </a:lnTo>
                <a:lnTo>
                  <a:pt x="3772" y="36832"/>
                </a:lnTo>
                <a:lnTo>
                  <a:pt x="0" y="60303"/>
                </a:lnTo>
                <a:lnTo>
                  <a:pt x="0" y="301518"/>
                </a:lnTo>
                <a:lnTo>
                  <a:pt x="3773" y="324990"/>
                </a:lnTo>
                <a:lnTo>
                  <a:pt x="14057" y="344158"/>
                </a:lnTo>
                <a:lnTo>
                  <a:pt x="29300" y="357083"/>
                </a:lnTo>
                <a:lnTo>
                  <a:pt x="47951" y="361822"/>
                </a:lnTo>
                <a:lnTo>
                  <a:pt x="686459" y="361822"/>
                </a:lnTo>
                <a:lnTo>
                  <a:pt x="705109" y="357083"/>
                </a:lnTo>
                <a:lnTo>
                  <a:pt x="720352" y="344158"/>
                </a:lnTo>
                <a:lnTo>
                  <a:pt x="730637" y="324990"/>
                </a:lnTo>
                <a:lnTo>
                  <a:pt x="734410" y="301518"/>
                </a:lnTo>
                <a:lnTo>
                  <a:pt x="734409" y="60303"/>
                </a:lnTo>
                <a:lnTo>
                  <a:pt x="730636" y="36832"/>
                </a:lnTo>
                <a:lnTo>
                  <a:pt x="720352" y="17664"/>
                </a:lnTo>
                <a:lnTo>
                  <a:pt x="705109" y="4739"/>
                </a:lnTo>
                <a:lnTo>
                  <a:pt x="686458" y="0"/>
                </a:lnTo>
                <a:lnTo>
                  <a:pt x="47951" y="0"/>
                </a:lnTo>
                <a:close/>
              </a:path>
            </a:pathLst>
          </a:custGeom>
          <a:ln w="15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223428" y="4929643"/>
            <a:ext cx="499109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20" dirty="0">
                <a:latin typeface="Arial"/>
                <a:cs typeface="Arial"/>
              </a:rPr>
              <a:t>Customer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73764" y="4425965"/>
            <a:ext cx="0" cy="419100"/>
          </a:xfrm>
          <a:custGeom>
            <a:avLst/>
            <a:gdLst/>
            <a:ahLst/>
            <a:cxnLst/>
            <a:rect l="l" t="t" r="r" b="b"/>
            <a:pathLst>
              <a:path h="419100">
                <a:moveTo>
                  <a:pt x="0" y="418952"/>
                </a:moveTo>
                <a:lnTo>
                  <a:pt x="0" y="0"/>
                </a:lnTo>
              </a:path>
            </a:pathLst>
          </a:custGeom>
          <a:ln w="7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6542" y="3455923"/>
            <a:ext cx="52901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285" indent="-108585">
              <a:lnSpc>
                <a:spcPct val="100000"/>
              </a:lnSpc>
              <a:spcBef>
                <a:spcPts val="90"/>
              </a:spcBef>
              <a:buChar char="•"/>
              <a:tabLst>
                <a:tab pos="121285" algn="l"/>
              </a:tabLst>
            </a:pPr>
            <a:r>
              <a:rPr sz="1400" dirty="0">
                <a:latin typeface="Arial"/>
                <a:cs typeface="Arial"/>
              </a:rPr>
              <a:t>If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two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entity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types involved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binary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relationship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type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7340" y="4035678"/>
            <a:ext cx="54857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920" indent="-109220">
              <a:lnSpc>
                <a:spcPct val="100000"/>
              </a:lnSpc>
              <a:spcBef>
                <a:spcPts val="90"/>
              </a:spcBef>
              <a:buChar char="•"/>
              <a:tabLst>
                <a:tab pos="121920" algn="l"/>
              </a:tabLst>
            </a:pPr>
            <a:r>
              <a:rPr sz="1400" dirty="0">
                <a:latin typeface="Arial"/>
                <a:cs typeface="Arial"/>
              </a:rPr>
              <a:t>If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three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entity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types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involved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ternary</a:t>
            </a:r>
            <a:r>
              <a:rPr sz="1400" spc="-10" dirty="0">
                <a:latin typeface="Arial"/>
                <a:cs typeface="Arial"/>
              </a:rPr>
              <a:t> relationship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type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7340" y="4820324"/>
            <a:ext cx="4997450" cy="51435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1920" indent="-109220">
              <a:lnSpc>
                <a:spcPct val="100000"/>
              </a:lnSpc>
              <a:spcBef>
                <a:spcPts val="489"/>
              </a:spcBef>
              <a:buChar char="•"/>
              <a:tabLst>
                <a:tab pos="121920" algn="l"/>
              </a:tabLst>
            </a:pPr>
            <a:r>
              <a:rPr sz="1400" dirty="0">
                <a:latin typeface="Arial"/>
                <a:cs typeface="Arial"/>
              </a:rPr>
              <a:t>Unary </a:t>
            </a:r>
            <a:r>
              <a:rPr sz="1400" spc="-10" dirty="0">
                <a:latin typeface="Arial"/>
                <a:cs typeface="Arial"/>
              </a:rPr>
              <a:t>relationships</a:t>
            </a:r>
            <a:r>
              <a:rPr sz="1400" dirty="0">
                <a:latin typeface="Arial"/>
                <a:cs typeface="Arial"/>
              </a:rPr>
              <a:t> are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also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known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recursive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relationship</a:t>
            </a:r>
            <a:endParaRPr sz="1400">
              <a:latin typeface="Arial"/>
              <a:cs typeface="Arial"/>
            </a:endParaRPr>
          </a:p>
          <a:p>
            <a:pPr marL="3768090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latin typeface="Arial"/>
                <a:cs typeface="Arial"/>
              </a:rPr>
              <a:t>Manages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166056" y="5373785"/>
            <a:ext cx="1528445" cy="547370"/>
            <a:chOff x="3166056" y="5373785"/>
            <a:chExt cx="1528445" cy="547370"/>
          </a:xfrm>
        </p:grpSpPr>
        <p:sp>
          <p:nvSpPr>
            <p:cNvPr id="37" name="object 37"/>
            <p:cNvSpPr/>
            <p:nvPr/>
          </p:nvSpPr>
          <p:spPr>
            <a:xfrm>
              <a:off x="3708162" y="5373785"/>
              <a:ext cx="986155" cy="395605"/>
            </a:xfrm>
            <a:custGeom>
              <a:avLst/>
              <a:gdLst/>
              <a:ahLst/>
              <a:cxnLst/>
              <a:rect l="l" t="t" r="r" b="b"/>
              <a:pathLst>
                <a:path w="986154" h="395604">
                  <a:moveTo>
                    <a:pt x="985895" y="0"/>
                  </a:moveTo>
                  <a:lnTo>
                    <a:pt x="0" y="0"/>
                  </a:lnTo>
                  <a:lnTo>
                    <a:pt x="0" y="395493"/>
                  </a:lnTo>
                  <a:lnTo>
                    <a:pt x="985896" y="395493"/>
                  </a:lnTo>
                  <a:lnTo>
                    <a:pt x="985896" y="387583"/>
                  </a:lnTo>
                  <a:lnTo>
                    <a:pt x="15851" y="387583"/>
                  </a:lnTo>
                  <a:lnTo>
                    <a:pt x="7925" y="379673"/>
                  </a:lnTo>
                  <a:lnTo>
                    <a:pt x="15851" y="379673"/>
                  </a:lnTo>
                  <a:lnTo>
                    <a:pt x="15851" y="15819"/>
                  </a:lnTo>
                  <a:lnTo>
                    <a:pt x="7925" y="15819"/>
                  </a:lnTo>
                  <a:lnTo>
                    <a:pt x="15851" y="7909"/>
                  </a:lnTo>
                  <a:lnTo>
                    <a:pt x="985895" y="7909"/>
                  </a:lnTo>
                  <a:lnTo>
                    <a:pt x="985895" y="0"/>
                  </a:lnTo>
                  <a:close/>
                </a:path>
                <a:path w="986154" h="395604">
                  <a:moveTo>
                    <a:pt x="15851" y="379673"/>
                  </a:moveTo>
                  <a:lnTo>
                    <a:pt x="7925" y="379673"/>
                  </a:lnTo>
                  <a:lnTo>
                    <a:pt x="15851" y="387583"/>
                  </a:lnTo>
                  <a:lnTo>
                    <a:pt x="15851" y="379673"/>
                  </a:lnTo>
                  <a:close/>
                </a:path>
                <a:path w="986154" h="395604">
                  <a:moveTo>
                    <a:pt x="970044" y="379673"/>
                  </a:moveTo>
                  <a:lnTo>
                    <a:pt x="15851" y="379673"/>
                  </a:lnTo>
                  <a:lnTo>
                    <a:pt x="15851" y="387583"/>
                  </a:lnTo>
                  <a:lnTo>
                    <a:pt x="970044" y="387583"/>
                  </a:lnTo>
                  <a:lnTo>
                    <a:pt x="970044" y="379673"/>
                  </a:lnTo>
                  <a:close/>
                </a:path>
                <a:path w="986154" h="395604">
                  <a:moveTo>
                    <a:pt x="970044" y="7909"/>
                  </a:moveTo>
                  <a:lnTo>
                    <a:pt x="970044" y="387583"/>
                  </a:lnTo>
                  <a:lnTo>
                    <a:pt x="978033" y="379673"/>
                  </a:lnTo>
                  <a:lnTo>
                    <a:pt x="985896" y="379673"/>
                  </a:lnTo>
                  <a:lnTo>
                    <a:pt x="985895" y="15819"/>
                  </a:lnTo>
                  <a:lnTo>
                    <a:pt x="978033" y="15819"/>
                  </a:lnTo>
                  <a:lnTo>
                    <a:pt x="970044" y="7909"/>
                  </a:lnTo>
                  <a:close/>
                </a:path>
                <a:path w="986154" h="395604">
                  <a:moveTo>
                    <a:pt x="985896" y="379673"/>
                  </a:moveTo>
                  <a:lnTo>
                    <a:pt x="978033" y="379673"/>
                  </a:lnTo>
                  <a:lnTo>
                    <a:pt x="970044" y="387583"/>
                  </a:lnTo>
                  <a:lnTo>
                    <a:pt x="985896" y="387583"/>
                  </a:lnTo>
                  <a:lnTo>
                    <a:pt x="985896" y="379673"/>
                  </a:lnTo>
                  <a:close/>
                </a:path>
                <a:path w="986154" h="395604">
                  <a:moveTo>
                    <a:pt x="15851" y="7909"/>
                  </a:moveTo>
                  <a:lnTo>
                    <a:pt x="7925" y="15819"/>
                  </a:lnTo>
                  <a:lnTo>
                    <a:pt x="15851" y="15819"/>
                  </a:lnTo>
                  <a:lnTo>
                    <a:pt x="15851" y="7909"/>
                  </a:lnTo>
                  <a:close/>
                </a:path>
                <a:path w="986154" h="395604">
                  <a:moveTo>
                    <a:pt x="970044" y="7909"/>
                  </a:moveTo>
                  <a:lnTo>
                    <a:pt x="15851" y="7909"/>
                  </a:lnTo>
                  <a:lnTo>
                    <a:pt x="15851" y="15819"/>
                  </a:lnTo>
                  <a:lnTo>
                    <a:pt x="970044" y="15819"/>
                  </a:lnTo>
                  <a:lnTo>
                    <a:pt x="970044" y="7909"/>
                  </a:lnTo>
                  <a:close/>
                </a:path>
                <a:path w="986154" h="395604">
                  <a:moveTo>
                    <a:pt x="985895" y="7909"/>
                  </a:moveTo>
                  <a:lnTo>
                    <a:pt x="970044" y="7909"/>
                  </a:lnTo>
                  <a:lnTo>
                    <a:pt x="978033" y="15819"/>
                  </a:lnTo>
                  <a:lnTo>
                    <a:pt x="985895" y="15819"/>
                  </a:lnTo>
                  <a:lnTo>
                    <a:pt x="985895" y="7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73968" y="5552548"/>
              <a:ext cx="922655" cy="360680"/>
            </a:xfrm>
            <a:custGeom>
              <a:avLst/>
              <a:gdLst/>
              <a:ahLst/>
              <a:cxnLst/>
              <a:rect l="l" t="t" r="r" b="b"/>
              <a:pathLst>
                <a:path w="922654" h="360679">
                  <a:moveTo>
                    <a:pt x="862318" y="0"/>
                  </a:moveTo>
                  <a:lnTo>
                    <a:pt x="60235" y="0"/>
                  </a:lnTo>
                  <a:lnTo>
                    <a:pt x="36790" y="4724"/>
                  </a:lnTo>
                  <a:lnTo>
                    <a:pt x="17643" y="17608"/>
                  </a:lnTo>
                  <a:lnTo>
                    <a:pt x="4734" y="36717"/>
                  </a:lnTo>
                  <a:lnTo>
                    <a:pt x="0" y="60114"/>
                  </a:lnTo>
                  <a:lnTo>
                    <a:pt x="0" y="300569"/>
                  </a:lnTo>
                  <a:lnTo>
                    <a:pt x="4734" y="323968"/>
                  </a:lnTo>
                  <a:lnTo>
                    <a:pt x="17643" y="343076"/>
                  </a:lnTo>
                  <a:lnTo>
                    <a:pt x="36790" y="355960"/>
                  </a:lnTo>
                  <a:lnTo>
                    <a:pt x="60235" y="360685"/>
                  </a:lnTo>
                  <a:lnTo>
                    <a:pt x="862318" y="360685"/>
                  </a:lnTo>
                  <a:lnTo>
                    <a:pt x="885762" y="355960"/>
                  </a:lnTo>
                  <a:lnTo>
                    <a:pt x="904909" y="343076"/>
                  </a:lnTo>
                  <a:lnTo>
                    <a:pt x="917819" y="323968"/>
                  </a:lnTo>
                  <a:lnTo>
                    <a:pt x="922553" y="300569"/>
                  </a:lnTo>
                  <a:lnTo>
                    <a:pt x="922553" y="60114"/>
                  </a:lnTo>
                  <a:lnTo>
                    <a:pt x="917819" y="36717"/>
                  </a:lnTo>
                  <a:lnTo>
                    <a:pt x="904909" y="17608"/>
                  </a:lnTo>
                  <a:lnTo>
                    <a:pt x="885762" y="4724"/>
                  </a:lnTo>
                  <a:lnTo>
                    <a:pt x="8623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3968" y="5552548"/>
              <a:ext cx="922655" cy="360680"/>
            </a:xfrm>
            <a:custGeom>
              <a:avLst/>
              <a:gdLst/>
              <a:ahLst/>
              <a:cxnLst/>
              <a:rect l="l" t="t" r="r" b="b"/>
              <a:pathLst>
                <a:path w="922654" h="360679">
                  <a:moveTo>
                    <a:pt x="60235" y="0"/>
                  </a:moveTo>
                  <a:lnTo>
                    <a:pt x="36790" y="4724"/>
                  </a:lnTo>
                  <a:lnTo>
                    <a:pt x="17643" y="17608"/>
                  </a:lnTo>
                  <a:lnTo>
                    <a:pt x="4734" y="36717"/>
                  </a:lnTo>
                  <a:lnTo>
                    <a:pt x="0" y="60114"/>
                  </a:lnTo>
                  <a:lnTo>
                    <a:pt x="0" y="300569"/>
                  </a:lnTo>
                  <a:lnTo>
                    <a:pt x="4734" y="323968"/>
                  </a:lnTo>
                  <a:lnTo>
                    <a:pt x="17643" y="343076"/>
                  </a:lnTo>
                  <a:lnTo>
                    <a:pt x="36790" y="355960"/>
                  </a:lnTo>
                  <a:lnTo>
                    <a:pt x="60235" y="360685"/>
                  </a:lnTo>
                  <a:lnTo>
                    <a:pt x="862318" y="360685"/>
                  </a:lnTo>
                  <a:lnTo>
                    <a:pt x="885762" y="355960"/>
                  </a:lnTo>
                  <a:lnTo>
                    <a:pt x="904909" y="343076"/>
                  </a:lnTo>
                  <a:lnTo>
                    <a:pt x="917819" y="323968"/>
                  </a:lnTo>
                  <a:lnTo>
                    <a:pt x="922553" y="300569"/>
                  </a:lnTo>
                  <a:lnTo>
                    <a:pt x="922553" y="60114"/>
                  </a:lnTo>
                  <a:lnTo>
                    <a:pt x="917819" y="36717"/>
                  </a:lnTo>
                  <a:lnTo>
                    <a:pt x="904909" y="17608"/>
                  </a:lnTo>
                  <a:lnTo>
                    <a:pt x="885762" y="4724"/>
                  </a:lnTo>
                  <a:lnTo>
                    <a:pt x="862318" y="0"/>
                  </a:lnTo>
                  <a:lnTo>
                    <a:pt x="60235" y="0"/>
                  </a:lnTo>
                  <a:close/>
                </a:path>
              </a:pathLst>
            </a:custGeom>
            <a:ln w="158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07340" y="5626515"/>
            <a:ext cx="5199380" cy="673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27045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Employee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000">
              <a:latin typeface="Arial"/>
              <a:cs typeface="Arial"/>
            </a:endParaRPr>
          </a:p>
          <a:p>
            <a:pPr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sz="1400" dirty="0">
                <a:latin typeface="Arial"/>
                <a:cs typeface="Arial"/>
              </a:rPr>
              <a:t>It is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possible to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n-</a:t>
            </a:r>
            <a:r>
              <a:rPr sz="1400" dirty="0">
                <a:latin typeface="Arial"/>
                <a:cs typeface="Arial"/>
              </a:rPr>
              <a:t>ary </a:t>
            </a:r>
            <a:r>
              <a:rPr sz="1400" spc="-10" dirty="0">
                <a:latin typeface="Arial"/>
                <a:cs typeface="Arial"/>
              </a:rPr>
              <a:t>relationship</a:t>
            </a:r>
            <a:r>
              <a:rPr sz="1400" dirty="0">
                <a:latin typeface="Arial"/>
                <a:cs typeface="Arial"/>
              </a:rPr>
              <a:t> (e.g.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quaternary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unary)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3985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Relationships</a:t>
            </a:r>
            <a:r>
              <a:rPr spc="-320" dirty="0"/>
              <a:t> </a:t>
            </a:r>
            <a:r>
              <a:rPr spc="-75" dirty="0"/>
              <a:t>in</a:t>
            </a:r>
            <a:r>
              <a:rPr spc="-275" dirty="0"/>
              <a:t> </a:t>
            </a:r>
            <a:r>
              <a:rPr spc="-25" dirty="0"/>
              <a:t>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469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b="0" i="1" dirty="0">
                <a:solidFill>
                  <a:srgbClr val="C0504D"/>
                </a:solidFill>
                <a:latin typeface="Arial"/>
                <a:cs typeface="Arial"/>
              </a:rPr>
              <a:t>Cardinality of</a:t>
            </a:r>
            <a:r>
              <a:rPr sz="2000" b="0" i="1" spc="-6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0" i="1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b="0" i="1" spc="-5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0" i="1" spc="-10" dirty="0">
                <a:solidFill>
                  <a:srgbClr val="C0504D"/>
                </a:solidFill>
                <a:latin typeface="Arial"/>
                <a:cs typeface="Arial"/>
              </a:rPr>
              <a:t>relationship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Relationships</a:t>
            </a:r>
            <a:r>
              <a:rPr sz="1800" b="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1800" b="0" spc="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rarely one-to-</a:t>
            </a:r>
            <a:r>
              <a:rPr sz="1800" b="0" spc="-20" dirty="0">
                <a:solidFill>
                  <a:srgbClr val="17375E"/>
                </a:solidFill>
                <a:latin typeface="Arial"/>
                <a:cs typeface="Arial"/>
              </a:rPr>
              <a:t>one.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For</a:t>
            </a:r>
            <a:r>
              <a:rPr sz="1800"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example,</a:t>
            </a:r>
            <a:r>
              <a:rPr sz="1800"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1800" b="0" spc="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manager</a:t>
            </a:r>
            <a:r>
              <a:rPr sz="1800" b="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usually</a:t>
            </a:r>
            <a:r>
              <a:rPr sz="1800" b="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manages</a:t>
            </a:r>
            <a:r>
              <a:rPr sz="1800" b="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more</a:t>
            </a:r>
            <a:r>
              <a:rPr sz="1800" b="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than</a:t>
            </a:r>
            <a:r>
              <a:rPr sz="1800"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one</a:t>
            </a:r>
            <a:r>
              <a:rPr sz="1800" b="0" spc="-10" dirty="0">
                <a:solidFill>
                  <a:srgbClr val="17375E"/>
                </a:solidFill>
                <a:latin typeface="Arial"/>
                <a:cs typeface="Arial"/>
              </a:rPr>
              <a:t> employee.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This is</a:t>
            </a:r>
            <a:r>
              <a:rPr sz="1800"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described</a:t>
            </a:r>
            <a:r>
              <a:rPr sz="1800" b="0" spc="-9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by</a:t>
            </a:r>
            <a:r>
              <a:rPr sz="1800" b="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1800"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cardinality</a:t>
            </a:r>
            <a:r>
              <a:rPr sz="1800" b="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1800"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1800"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17375E"/>
                </a:solidFill>
                <a:latin typeface="Arial"/>
                <a:cs typeface="Arial"/>
              </a:rPr>
              <a:t>relationship,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</a:pP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for</a:t>
            </a:r>
            <a:r>
              <a:rPr sz="1800"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which</a:t>
            </a:r>
            <a:r>
              <a:rPr sz="1800" b="0" spc="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there</a:t>
            </a:r>
            <a:r>
              <a:rPr sz="1800"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1800" b="0" spc="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four</a:t>
            </a:r>
            <a:r>
              <a:rPr sz="1800" b="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17375E"/>
                </a:solidFill>
                <a:latin typeface="Arial"/>
                <a:cs typeface="Arial"/>
              </a:rPr>
              <a:t>possible</a:t>
            </a:r>
            <a:r>
              <a:rPr sz="1800" b="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17375E"/>
                </a:solidFill>
                <a:latin typeface="Arial"/>
                <a:cs typeface="Arial"/>
              </a:rPr>
              <a:t>categories.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700" y="3505911"/>
            <a:ext cx="260540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Arial"/>
                <a:cs typeface="Arial"/>
              </a:rPr>
              <a:t>One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(1:1)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relationship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700" y="4237685"/>
            <a:ext cx="282194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Arial"/>
                <a:cs typeface="Arial"/>
              </a:rPr>
              <a:t>One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(1:M)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relationship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700" y="4969586"/>
            <a:ext cx="277622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Arial"/>
                <a:cs typeface="Arial"/>
              </a:rPr>
              <a:t>Many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(M:1)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relationship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00" y="5701385"/>
            <a:ext cx="296862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Arial"/>
                <a:cs typeface="Arial"/>
              </a:rPr>
              <a:t>Many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(M:N) </a:t>
            </a:r>
            <a:r>
              <a:rPr sz="1600" spc="-10" dirty="0">
                <a:latin typeface="Arial"/>
                <a:cs typeface="Arial"/>
              </a:rPr>
              <a:t>relationship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25397" y="3581692"/>
            <a:ext cx="1810385" cy="0"/>
          </a:xfrm>
          <a:custGeom>
            <a:avLst/>
            <a:gdLst/>
            <a:ahLst/>
            <a:cxnLst/>
            <a:rect l="l" t="t" r="r" b="b"/>
            <a:pathLst>
              <a:path w="1810384">
                <a:moveTo>
                  <a:pt x="0" y="0"/>
                </a:moveTo>
                <a:lnTo>
                  <a:pt x="1810355" y="0"/>
                </a:lnTo>
              </a:path>
            </a:pathLst>
          </a:custGeom>
          <a:ln w="9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70450" y="3334020"/>
            <a:ext cx="1111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01163" y="3400993"/>
            <a:ext cx="924560" cy="361950"/>
          </a:xfrm>
          <a:custGeom>
            <a:avLst/>
            <a:gdLst/>
            <a:ahLst/>
            <a:cxnLst/>
            <a:rect l="l" t="t" r="r" b="b"/>
            <a:pathLst>
              <a:path w="924560" h="361950">
                <a:moveTo>
                  <a:pt x="60345" y="0"/>
                </a:moveTo>
                <a:lnTo>
                  <a:pt x="36857" y="4734"/>
                </a:lnTo>
                <a:lnTo>
                  <a:pt x="17675" y="17643"/>
                </a:lnTo>
                <a:lnTo>
                  <a:pt x="4742" y="36789"/>
                </a:lnTo>
                <a:lnTo>
                  <a:pt x="0" y="60233"/>
                </a:lnTo>
                <a:lnTo>
                  <a:pt x="0" y="301166"/>
                </a:lnTo>
                <a:lnTo>
                  <a:pt x="17676" y="343756"/>
                </a:lnTo>
                <a:lnTo>
                  <a:pt x="60345" y="361399"/>
                </a:lnTo>
                <a:lnTo>
                  <a:pt x="863889" y="361399"/>
                </a:lnTo>
                <a:lnTo>
                  <a:pt x="887376" y="356666"/>
                </a:lnTo>
                <a:lnTo>
                  <a:pt x="906558" y="343756"/>
                </a:lnTo>
                <a:lnTo>
                  <a:pt x="919491" y="324610"/>
                </a:lnTo>
                <a:lnTo>
                  <a:pt x="924234" y="301166"/>
                </a:lnTo>
                <a:lnTo>
                  <a:pt x="924234" y="60233"/>
                </a:lnTo>
                <a:lnTo>
                  <a:pt x="906557" y="17643"/>
                </a:lnTo>
                <a:lnTo>
                  <a:pt x="863888" y="0"/>
                </a:lnTo>
                <a:lnTo>
                  <a:pt x="60345" y="0"/>
                </a:lnTo>
                <a:close/>
              </a:path>
            </a:pathLst>
          </a:custGeom>
          <a:ln w="15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23144" y="3490144"/>
            <a:ext cx="28130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25" dirty="0">
                <a:latin typeface="Arial"/>
                <a:cs typeface="Arial"/>
              </a:rPr>
              <a:t>Man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26224" y="3400993"/>
            <a:ext cx="924560" cy="361950"/>
          </a:xfrm>
          <a:custGeom>
            <a:avLst/>
            <a:gdLst/>
            <a:ahLst/>
            <a:cxnLst/>
            <a:rect l="l" t="t" r="r" b="b"/>
            <a:pathLst>
              <a:path w="924559" h="361950">
                <a:moveTo>
                  <a:pt x="60345" y="0"/>
                </a:moveTo>
                <a:lnTo>
                  <a:pt x="36874" y="4734"/>
                </a:lnTo>
                <a:lnTo>
                  <a:pt x="17690" y="17643"/>
                </a:lnTo>
                <a:lnTo>
                  <a:pt x="4748" y="36789"/>
                </a:lnTo>
                <a:lnTo>
                  <a:pt x="0" y="60233"/>
                </a:lnTo>
                <a:lnTo>
                  <a:pt x="0" y="301166"/>
                </a:lnTo>
                <a:lnTo>
                  <a:pt x="17690" y="343756"/>
                </a:lnTo>
                <a:lnTo>
                  <a:pt x="60345" y="361399"/>
                </a:lnTo>
                <a:lnTo>
                  <a:pt x="863889" y="361399"/>
                </a:lnTo>
                <a:lnTo>
                  <a:pt x="887360" y="356666"/>
                </a:lnTo>
                <a:lnTo>
                  <a:pt x="906543" y="343756"/>
                </a:lnTo>
                <a:lnTo>
                  <a:pt x="919486" y="324610"/>
                </a:lnTo>
                <a:lnTo>
                  <a:pt x="924234" y="301166"/>
                </a:lnTo>
                <a:lnTo>
                  <a:pt x="924234" y="60233"/>
                </a:lnTo>
                <a:lnTo>
                  <a:pt x="906543" y="17643"/>
                </a:lnTo>
                <a:lnTo>
                  <a:pt x="863888" y="0"/>
                </a:lnTo>
                <a:lnTo>
                  <a:pt x="60345" y="0"/>
                </a:lnTo>
                <a:close/>
              </a:path>
            </a:pathLst>
          </a:custGeom>
          <a:ln w="15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48299" y="3474927"/>
            <a:ext cx="48514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Women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0457" y="3334020"/>
            <a:ext cx="1111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09814" y="3389105"/>
            <a:ext cx="78994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latin typeface="Arial"/>
                <a:cs typeface="Arial"/>
              </a:rPr>
              <a:t>is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married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to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93230" y="4047975"/>
            <a:ext cx="2625090" cy="376555"/>
            <a:chOff x="4193230" y="4047975"/>
            <a:chExt cx="2625090" cy="376555"/>
          </a:xfrm>
        </p:grpSpPr>
        <p:sp>
          <p:nvSpPr>
            <p:cNvPr id="16" name="object 16"/>
            <p:cNvSpPr/>
            <p:nvPr/>
          </p:nvSpPr>
          <p:spPr>
            <a:xfrm>
              <a:off x="5125804" y="4235966"/>
              <a:ext cx="1687830" cy="0"/>
            </a:xfrm>
            <a:custGeom>
              <a:avLst/>
              <a:gdLst/>
              <a:ahLst/>
              <a:cxnLst/>
              <a:rect l="l" t="t" r="r" b="b"/>
              <a:pathLst>
                <a:path w="1687829">
                  <a:moveTo>
                    <a:pt x="0" y="0"/>
                  </a:moveTo>
                  <a:lnTo>
                    <a:pt x="1687223" y="0"/>
                  </a:lnTo>
                </a:path>
              </a:pathLst>
            </a:custGeom>
            <a:ln w="9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01167" y="4055913"/>
              <a:ext cx="925194" cy="360680"/>
            </a:xfrm>
            <a:custGeom>
              <a:avLst/>
              <a:gdLst/>
              <a:ahLst/>
              <a:cxnLst/>
              <a:rect l="l" t="t" r="r" b="b"/>
              <a:pathLst>
                <a:path w="925195" h="360679">
                  <a:moveTo>
                    <a:pt x="60371" y="0"/>
                  </a:moveTo>
                  <a:lnTo>
                    <a:pt x="36873" y="4717"/>
                  </a:lnTo>
                  <a:lnTo>
                    <a:pt x="17683" y="17580"/>
                  </a:lnTo>
                  <a:lnTo>
                    <a:pt x="4744" y="36658"/>
                  </a:lnTo>
                  <a:lnTo>
                    <a:pt x="0" y="60017"/>
                  </a:lnTo>
                  <a:lnTo>
                    <a:pt x="0" y="300084"/>
                  </a:lnTo>
                  <a:lnTo>
                    <a:pt x="17683" y="342521"/>
                  </a:lnTo>
                  <a:lnTo>
                    <a:pt x="60371" y="360101"/>
                  </a:lnTo>
                  <a:lnTo>
                    <a:pt x="864265" y="360101"/>
                  </a:lnTo>
                  <a:lnTo>
                    <a:pt x="887762" y="355384"/>
                  </a:lnTo>
                  <a:lnTo>
                    <a:pt x="906952" y="342521"/>
                  </a:lnTo>
                  <a:lnTo>
                    <a:pt x="919891" y="323443"/>
                  </a:lnTo>
                  <a:lnTo>
                    <a:pt x="924636" y="300084"/>
                  </a:lnTo>
                  <a:lnTo>
                    <a:pt x="924636" y="60017"/>
                  </a:lnTo>
                  <a:lnTo>
                    <a:pt x="906952" y="17580"/>
                  </a:lnTo>
                  <a:lnTo>
                    <a:pt x="864265" y="0"/>
                  </a:lnTo>
                  <a:lnTo>
                    <a:pt x="60371" y="0"/>
                  </a:lnTo>
                  <a:close/>
                </a:path>
              </a:pathLst>
            </a:custGeom>
            <a:ln w="158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09140" y="3995805"/>
            <a:ext cx="57340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Manages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89078" y="4145306"/>
            <a:ext cx="55181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Manager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03494" y="4055913"/>
            <a:ext cx="925194" cy="360680"/>
          </a:xfrm>
          <a:custGeom>
            <a:avLst/>
            <a:gdLst/>
            <a:ahLst/>
            <a:cxnLst/>
            <a:rect l="l" t="t" r="r" b="b"/>
            <a:pathLst>
              <a:path w="925195" h="360679">
                <a:moveTo>
                  <a:pt x="60371" y="0"/>
                </a:moveTo>
                <a:lnTo>
                  <a:pt x="36890" y="4717"/>
                </a:lnTo>
                <a:lnTo>
                  <a:pt x="17698" y="17580"/>
                </a:lnTo>
                <a:lnTo>
                  <a:pt x="4750" y="36658"/>
                </a:lnTo>
                <a:lnTo>
                  <a:pt x="0" y="60017"/>
                </a:lnTo>
                <a:lnTo>
                  <a:pt x="0" y="300084"/>
                </a:lnTo>
                <a:lnTo>
                  <a:pt x="17698" y="342521"/>
                </a:lnTo>
                <a:lnTo>
                  <a:pt x="60371" y="360101"/>
                </a:lnTo>
                <a:lnTo>
                  <a:pt x="864265" y="360101"/>
                </a:lnTo>
                <a:lnTo>
                  <a:pt x="887746" y="355384"/>
                </a:lnTo>
                <a:lnTo>
                  <a:pt x="906938" y="342521"/>
                </a:lnTo>
                <a:lnTo>
                  <a:pt x="919886" y="323443"/>
                </a:lnTo>
                <a:lnTo>
                  <a:pt x="924636" y="300084"/>
                </a:lnTo>
                <a:lnTo>
                  <a:pt x="924636" y="60017"/>
                </a:lnTo>
                <a:lnTo>
                  <a:pt x="906938" y="17580"/>
                </a:lnTo>
                <a:lnTo>
                  <a:pt x="864265" y="0"/>
                </a:lnTo>
                <a:lnTo>
                  <a:pt x="60371" y="0"/>
                </a:lnTo>
                <a:close/>
              </a:path>
            </a:pathLst>
          </a:custGeom>
          <a:ln w="158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53225" y="4130144"/>
            <a:ext cx="62801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Employee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39769" y="3959112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8501" y="3940614"/>
            <a:ext cx="14033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50" dirty="0"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31277" y="4131725"/>
            <a:ext cx="163195" cy="218440"/>
          </a:xfrm>
          <a:custGeom>
            <a:avLst/>
            <a:gdLst/>
            <a:ahLst/>
            <a:cxnLst/>
            <a:rect l="l" t="t" r="r" b="b"/>
            <a:pathLst>
              <a:path w="163195" h="218439">
                <a:moveTo>
                  <a:pt x="0" y="104241"/>
                </a:moveTo>
                <a:lnTo>
                  <a:pt x="162685" y="0"/>
                </a:lnTo>
              </a:path>
              <a:path w="163195" h="218439">
                <a:moveTo>
                  <a:pt x="162685" y="217954"/>
                </a:moveTo>
                <a:lnTo>
                  <a:pt x="0" y="113717"/>
                </a:lnTo>
              </a:path>
            </a:pathLst>
          </a:custGeom>
          <a:ln w="95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01819" y="5065411"/>
            <a:ext cx="1534795" cy="0"/>
          </a:xfrm>
          <a:custGeom>
            <a:avLst/>
            <a:gdLst/>
            <a:ahLst/>
            <a:cxnLst/>
            <a:rect l="l" t="t" r="r" b="b"/>
            <a:pathLst>
              <a:path w="1534795">
                <a:moveTo>
                  <a:pt x="0" y="0"/>
                </a:moveTo>
                <a:lnTo>
                  <a:pt x="1534402" y="0"/>
                </a:lnTo>
              </a:path>
            </a:pathLst>
          </a:custGeom>
          <a:ln w="9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59555" y="4873455"/>
            <a:ext cx="487680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Studies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277365" y="4885295"/>
            <a:ext cx="924560" cy="360680"/>
          </a:xfrm>
          <a:custGeom>
            <a:avLst/>
            <a:gdLst/>
            <a:ahLst/>
            <a:cxnLst/>
            <a:rect l="l" t="t" r="r" b="b"/>
            <a:pathLst>
              <a:path w="924560" h="360679">
                <a:moveTo>
                  <a:pt x="60359" y="0"/>
                </a:moveTo>
                <a:lnTo>
                  <a:pt x="36866" y="4718"/>
                </a:lnTo>
                <a:lnTo>
                  <a:pt x="17680" y="17586"/>
                </a:lnTo>
                <a:lnTo>
                  <a:pt x="4743" y="36670"/>
                </a:lnTo>
                <a:lnTo>
                  <a:pt x="0" y="60038"/>
                </a:lnTo>
                <a:lnTo>
                  <a:pt x="0" y="300189"/>
                </a:lnTo>
                <a:lnTo>
                  <a:pt x="17680" y="342641"/>
                </a:lnTo>
                <a:lnTo>
                  <a:pt x="60359" y="360227"/>
                </a:lnTo>
                <a:lnTo>
                  <a:pt x="864094" y="360227"/>
                </a:lnTo>
                <a:lnTo>
                  <a:pt x="887587" y="355509"/>
                </a:lnTo>
                <a:lnTo>
                  <a:pt x="906773" y="342641"/>
                </a:lnTo>
                <a:lnTo>
                  <a:pt x="919710" y="323557"/>
                </a:lnTo>
                <a:lnTo>
                  <a:pt x="924454" y="300189"/>
                </a:lnTo>
                <a:lnTo>
                  <a:pt x="924453" y="60038"/>
                </a:lnTo>
                <a:lnTo>
                  <a:pt x="906773" y="17586"/>
                </a:lnTo>
                <a:lnTo>
                  <a:pt x="864094" y="0"/>
                </a:lnTo>
                <a:lnTo>
                  <a:pt x="60359" y="0"/>
                </a:lnTo>
                <a:close/>
              </a:path>
            </a:pathLst>
          </a:custGeom>
          <a:ln w="158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489330" y="4974471"/>
            <a:ext cx="50101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Student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745752" y="4885296"/>
            <a:ext cx="924560" cy="360680"/>
          </a:xfrm>
          <a:custGeom>
            <a:avLst/>
            <a:gdLst/>
            <a:ahLst/>
            <a:cxnLst/>
            <a:rect l="l" t="t" r="r" b="b"/>
            <a:pathLst>
              <a:path w="924559" h="360679">
                <a:moveTo>
                  <a:pt x="60359" y="0"/>
                </a:moveTo>
                <a:lnTo>
                  <a:pt x="36882" y="4718"/>
                </a:lnTo>
                <a:lnTo>
                  <a:pt x="17694" y="17586"/>
                </a:lnTo>
                <a:lnTo>
                  <a:pt x="4749" y="36670"/>
                </a:lnTo>
                <a:lnTo>
                  <a:pt x="0" y="60038"/>
                </a:lnTo>
                <a:lnTo>
                  <a:pt x="0" y="300189"/>
                </a:lnTo>
                <a:lnTo>
                  <a:pt x="17695" y="342641"/>
                </a:lnTo>
                <a:lnTo>
                  <a:pt x="60359" y="360227"/>
                </a:lnTo>
                <a:lnTo>
                  <a:pt x="864094" y="360227"/>
                </a:lnTo>
                <a:lnTo>
                  <a:pt x="887571" y="355509"/>
                </a:lnTo>
                <a:lnTo>
                  <a:pt x="906759" y="342641"/>
                </a:lnTo>
                <a:lnTo>
                  <a:pt x="919704" y="323557"/>
                </a:lnTo>
                <a:lnTo>
                  <a:pt x="924454" y="300189"/>
                </a:lnTo>
                <a:lnTo>
                  <a:pt x="924453" y="60038"/>
                </a:lnTo>
                <a:lnTo>
                  <a:pt x="906758" y="17586"/>
                </a:lnTo>
                <a:lnTo>
                  <a:pt x="864094" y="0"/>
                </a:lnTo>
                <a:lnTo>
                  <a:pt x="60359" y="0"/>
                </a:lnTo>
                <a:close/>
              </a:path>
            </a:pathLst>
          </a:custGeom>
          <a:ln w="158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979446" y="4959001"/>
            <a:ext cx="46672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Course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01819" y="4980093"/>
            <a:ext cx="133985" cy="180340"/>
          </a:xfrm>
          <a:custGeom>
            <a:avLst/>
            <a:gdLst/>
            <a:ahLst/>
            <a:cxnLst/>
            <a:rect l="l" t="t" r="r" b="b"/>
            <a:pathLst>
              <a:path w="133985" h="180339">
                <a:moveTo>
                  <a:pt x="133426" y="85317"/>
                </a:moveTo>
                <a:lnTo>
                  <a:pt x="9530" y="0"/>
                </a:lnTo>
              </a:path>
              <a:path w="133985" h="180339">
                <a:moveTo>
                  <a:pt x="0" y="180112"/>
                </a:moveTo>
                <a:lnTo>
                  <a:pt x="123895" y="94797"/>
                </a:lnTo>
              </a:path>
            </a:pathLst>
          </a:custGeom>
          <a:ln w="9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67624" y="4778506"/>
            <a:ext cx="140970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50" dirty="0"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04073" y="4778506"/>
            <a:ext cx="97790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201819" y="5751211"/>
            <a:ext cx="1534795" cy="0"/>
          </a:xfrm>
          <a:custGeom>
            <a:avLst/>
            <a:gdLst/>
            <a:ahLst/>
            <a:cxnLst/>
            <a:rect l="l" t="t" r="r" b="b"/>
            <a:pathLst>
              <a:path w="1534795">
                <a:moveTo>
                  <a:pt x="0" y="0"/>
                </a:moveTo>
                <a:lnTo>
                  <a:pt x="1534402" y="0"/>
                </a:lnTo>
              </a:path>
            </a:pathLst>
          </a:custGeom>
          <a:ln w="9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40615" y="5559255"/>
            <a:ext cx="53657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Teaches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277365" y="5571095"/>
            <a:ext cx="924560" cy="360680"/>
          </a:xfrm>
          <a:custGeom>
            <a:avLst/>
            <a:gdLst/>
            <a:ahLst/>
            <a:cxnLst/>
            <a:rect l="l" t="t" r="r" b="b"/>
            <a:pathLst>
              <a:path w="924560" h="360679">
                <a:moveTo>
                  <a:pt x="60359" y="0"/>
                </a:moveTo>
                <a:lnTo>
                  <a:pt x="36866" y="4718"/>
                </a:lnTo>
                <a:lnTo>
                  <a:pt x="17680" y="17586"/>
                </a:lnTo>
                <a:lnTo>
                  <a:pt x="4743" y="36670"/>
                </a:lnTo>
                <a:lnTo>
                  <a:pt x="0" y="60038"/>
                </a:lnTo>
                <a:lnTo>
                  <a:pt x="0" y="300189"/>
                </a:lnTo>
                <a:lnTo>
                  <a:pt x="4744" y="323557"/>
                </a:lnTo>
                <a:lnTo>
                  <a:pt x="17680" y="342641"/>
                </a:lnTo>
                <a:lnTo>
                  <a:pt x="36866" y="355509"/>
                </a:lnTo>
                <a:lnTo>
                  <a:pt x="60359" y="360227"/>
                </a:lnTo>
                <a:lnTo>
                  <a:pt x="864094" y="360227"/>
                </a:lnTo>
                <a:lnTo>
                  <a:pt x="887587" y="355509"/>
                </a:lnTo>
                <a:lnTo>
                  <a:pt x="906773" y="342641"/>
                </a:lnTo>
                <a:lnTo>
                  <a:pt x="919710" y="323557"/>
                </a:lnTo>
                <a:lnTo>
                  <a:pt x="924454" y="300189"/>
                </a:lnTo>
                <a:lnTo>
                  <a:pt x="924453" y="60038"/>
                </a:lnTo>
                <a:lnTo>
                  <a:pt x="919709" y="36670"/>
                </a:lnTo>
                <a:lnTo>
                  <a:pt x="906773" y="17586"/>
                </a:lnTo>
                <a:lnTo>
                  <a:pt x="887587" y="4718"/>
                </a:lnTo>
                <a:lnTo>
                  <a:pt x="864094" y="0"/>
                </a:lnTo>
                <a:lnTo>
                  <a:pt x="60359" y="0"/>
                </a:lnTo>
                <a:close/>
              </a:path>
            </a:pathLst>
          </a:custGeom>
          <a:ln w="158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471031" y="5660271"/>
            <a:ext cx="53657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Lecturer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45752" y="5571095"/>
            <a:ext cx="924560" cy="360680"/>
          </a:xfrm>
          <a:custGeom>
            <a:avLst/>
            <a:gdLst/>
            <a:ahLst/>
            <a:cxnLst/>
            <a:rect l="l" t="t" r="r" b="b"/>
            <a:pathLst>
              <a:path w="924559" h="360679">
                <a:moveTo>
                  <a:pt x="60359" y="0"/>
                </a:moveTo>
                <a:lnTo>
                  <a:pt x="36882" y="4718"/>
                </a:lnTo>
                <a:lnTo>
                  <a:pt x="17694" y="17586"/>
                </a:lnTo>
                <a:lnTo>
                  <a:pt x="4749" y="36670"/>
                </a:lnTo>
                <a:lnTo>
                  <a:pt x="0" y="60038"/>
                </a:lnTo>
                <a:lnTo>
                  <a:pt x="0" y="300189"/>
                </a:lnTo>
                <a:lnTo>
                  <a:pt x="4749" y="323557"/>
                </a:lnTo>
                <a:lnTo>
                  <a:pt x="17695" y="342641"/>
                </a:lnTo>
                <a:lnTo>
                  <a:pt x="36883" y="355509"/>
                </a:lnTo>
                <a:lnTo>
                  <a:pt x="60359" y="360227"/>
                </a:lnTo>
                <a:lnTo>
                  <a:pt x="864094" y="360227"/>
                </a:lnTo>
                <a:lnTo>
                  <a:pt x="887571" y="355509"/>
                </a:lnTo>
                <a:lnTo>
                  <a:pt x="906759" y="342641"/>
                </a:lnTo>
                <a:lnTo>
                  <a:pt x="919704" y="323557"/>
                </a:lnTo>
                <a:lnTo>
                  <a:pt x="924454" y="300189"/>
                </a:lnTo>
                <a:lnTo>
                  <a:pt x="924453" y="60038"/>
                </a:lnTo>
                <a:lnTo>
                  <a:pt x="919704" y="36670"/>
                </a:lnTo>
                <a:lnTo>
                  <a:pt x="906758" y="17586"/>
                </a:lnTo>
                <a:lnTo>
                  <a:pt x="887571" y="4718"/>
                </a:lnTo>
                <a:lnTo>
                  <a:pt x="864094" y="0"/>
                </a:lnTo>
                <a:lnTo>
                  <a:pt x="60359" y="0"/>
                </a:lnTo>
                <a:close/>
              </a:path>
            </a:pathLst>
          </a:custGeom>
          <a:ln w="158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961147" y="5644800"/>
            <a:ext cx="50101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10" dirty="0">
                <a:latin typeface="Arial"/>
                <a:cs typeface="Arial"/>
              </a:rPr>
              <a:t>Student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612326" y="5665893"/>
            <a:ext cx="124460" cy="180340"/>
          </a:xfrm>
          <a:custGeom>
            <a:avLst/>
            <a:gdLst/>
            <a:ahLst/>
            <a:cxnLst/>
            <a:rect l="l" t="t" r="r" b="b"/>
            <a:pathLst>
              <a:path w="124459" h="180339">
                <a:moveTo>
                  <a:pt x="123895" y="180112"/>
                </a:moveTo>
                <a:lnTo>
                  <a:pt x="0" y="94797"/>
                </a:lnTo>
              </a:path>
              <a:path w="124459" h="180339">
                <a:moveTo>
                  <a:pt x="0" y="85317"/>
                </a:moveTo>
                <a:lnTo>
                  <a:pt x="123895" y="0"/>
                </a:lnTo>
              </a:path>
            </a:pathLst>
          </a:custGeom>
          <a:ln w="9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267624" y="5464306"/>
            <a:ext cx="140970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50" dirty="0"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97974" y="5464306"/>
            <a:ext cx="10477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50" dirty="0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211350" y="5665893"/>
            <a:ext cx="124460" cy="180340"/>
          </a:xfrm>
          <a:custGeom>
            <a:avLst/>
            <a:gdLst/>
            <a:ahLst/>
            <a:cxnLst/>
            <a:rect l="l" t="t" r="r" b="b"/>
            <a:pathLst>
              <a:path w="124460" h="180339">
                <a:moveTo>
                  <a:pt x="123895" y="85317"/>
                </a:moveTo>
                <a:lnTo>
                  <a:pt x="0" y="0"/>
                </a:lnTo>
              </a:path>
              <a:path w="124460" h="180339">
                <a:moveTo>
                  <a:pt x="0" y="180112"/>
                </a:moveTo>
                <a:lnTo>
                  <a:pt x="123895" y="94797"/>
                </a:lnTo>
              </a:path>
            </a:pathLst>
          </a:custGeom>
          <a:ln w="9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3985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Relationships</a:t>
            </a:r>
            <a:r>
              <a:rPr spc="-320" dirty="0"/>
              <a:t> </a:t>
            </a:r>
            <a:r>
              <a:rPr spc="-75" dirty="0"/>
              <a:t>in</a:t>
            </a:r>
            <a:r>
              <a:rPr spc="-275" dirty="0"/>
              <a:t> </a:t>
            </a:r>
            <a:r>
              <a:rPr spc="-25" dirty="0"/>
              <a:t>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Participation</a:t>
            </a:r>
            <a:r>
              <a:rPr spc="-95" dirty="0"/>
              <a:t> </a:t>
            </a:r>
            <a:r>
              <a:rPr spc="-10" dirty="0"/>
              <a:t>Constraint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pc="-10" dirty="0"/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If</a:t>
            </a:r>
            <a:r>
              <a:rPr b="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all</a:t>
            </a:r>
            <a:r>
              <a:rPr b="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entities</a:t>
            </a:r>
            <a:r>
              <a:rPr b="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b="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type</a:t>
            </a:r>
            <a:r>
              <a:rPr b="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b="0" spc="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involved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b="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b="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then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that</a:t>
            </a:r>
            <a:r>
              <a:rPr b="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b="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7375E"/>
                </a:solidFill>
                <a:latin typeface="Arial"/>
                <a:cs typeface="Arial"/>
              </a:rPr>
              <a:t>type’s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involvement</a:t>
            </a:r>
            <a:r>
              <a:rPr b="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said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be</a:t>
            </a:r>
            <a:r>
              <a:rPr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total</a:t>
            </a:r>
            <a:r>
              <a:rPr b="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that</a:t>
            </a:r>
            <a:r>
              <a:rPr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relationship.</a:t>
            </a:r>
            <a:r>
              <a:rPr b="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b="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below</a:t>
            </a:r>
            <a:r>
              <a:rPr b="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b="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if</a:t>
            </a:r>
            <a:r>
              <a:rPr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each</a:t>
            </a:r>
            <a:r>
              <a:rPr b="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employee</a:t>
            </a:r>
            <a:r>
              <a:rPr b="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17375E"/>
                </a:solidFill>
                <a:latin typeface="Arial"/>
                <a:cs typeface="Arial"/>
              </a:rPr>
              <a:t>is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associated</a:t>
            </a:r>
            <a:r>
              <a:rPr b="0" spc="-9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with</a:t>
            </a:r>
            <a:r>
              <a:rPr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at</a:t>
            </a:r>
            <a:r>
              <a:rPr b="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least</a:t>
            </a:r>
            <a:r>
              <a:rPr b="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one</a:t>
            </a:r>
            <a:r>
              <a:rPr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dept.</a:t>
            </a:r>
            <a:r>
              <a:rPr b="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Then</a:t>
            </a:r>
            <a:r>
              <a:rPr b="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b="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participation</a:t>
            </a:r>
            <a:r>
              <a:rPr b="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b="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EMP</a:t>
            </a:r>
            <a:r>
              <a:rPr b="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b="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total.</a:t>
            </a:r>
            <a:r>
              <a:rPr b="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Here,</a:t>
            </a:r>
            <a:r>
              <a:rPr b="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EMP</a:t>
            </a:r>
            <a:r>
              <a:rPr b="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works</a:t>
            </a:r>
            <a:r>
              <a:rPr b="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17375E"/>
                </a:solidFill>
                <a:latin typeface="Arial"/>
                <a:cs typeface="Arial"/>
              </a:rPr>
              <a:t>for </a:t>
            </a:r>
            <a:r>
              <a:rPr b="0" spc="-10" dirty="0">
                <a:solidFill>
                  <a:srgbClr val="17375E"/>
                </a:solidFill>
                <a:latin typeface="Arial"/>
                <a:cs typeface="Arial"/>
              </a:rPr>
              <a:t>DEPT.</a:t>
            </a:r>
          </a:p>
          <a:p>
            <a:pPr marL="103505">
              <a:lnSpc>
                <a:spcPct val="100000"/>
              </a:lnSpc>
              <a:spcBef>
                <a:spcPts val="1075"/>
              </a:spcBef>
            </a:pP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If,</a:t>
            </a:r>
            <a:r>
              <a:rPr b="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only</a:t>
            </a:r>
            <a:r>
              <a:rPr b="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few</a:t>
            </a:r>
            <a:r>
              <a:rPr b="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entities</a:t>
            </a:r>
            <a:r>
              <a:rPr b="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b="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 set</a:t>
            </a:r>
            <a:r>
              <a:rPr b="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b="0" spc="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involved</a:t>
            </a:r>
            <a:r>
              <a:rPr b="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the </a:t>
            </a:r>
            <a:r>
              <a:rPr b="0" spc="-10" dirty="0">
                <a:solidFill>
                  <a:srgbClr val="17375E"/>
                </a:solidFill>
                <a:latin typeface="Arial"/>
                <a:cs typeface="Arial"/>
              </a:rPr>
              <a:t>participation</a:t>
            </a:r>
            <a:r>
              <a:rPr b="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b="0" spc="-10" dirty="0">
                <a:solidFill>
                  <a:srgbClr val="17375E"/>
                </a:solidFill>
                <a:latin typeface="Arial"/>
                <a:cs typeface="Arial"/>
              </a:rPr>
              <a:t> partial.</a:t>
            </a:r>
          </a:p>
        </p:txBody>
      </p:sp>
      <p:sp>
        <p:nvSpPr>
          <p:cNvPr id="3" name="object 3"/>
          <p:cNvSpPr/>
          <p:nvPr/>
        </p:nvSpPr>
        <p:spPr>
          <a:xfrm>
            <a:off x="6260781" y="3392930"/>
            <a:ext cx="470534" cy="527050"/>
          </a:xfrm>
          <a:custGeom>
            <a:avLst/>
            <a:gdLst/>
            <a:ahLst/>
            <a:cxnLst/>
            <a:rect l="l" t="t" r="r" b="b"/>
            <a:pathLst>
              <a:path w="470534" h="527050">
                <a:moveTo>
                  <a:pt x="0" y="526476"/>
                </a:moveTo>
                <a:lnTo>
                  <a:pt x="470503" y="526476"/>
                </a:lnTo>
                <a:lnTo>
                  <a:pt x="470503" y="0"/>
                </a:lnTo>
                <a:lnTo>
                  <a:pt x="0" y="0"/>
                </a:lnTo>
                <a:lnTo>
                  <a:pt x="0" y="526476"/>
                </a:lnTo>
                <a:close/>
              </a:path>
            </a:pathLst>
          </a:custGeom>
          <a:ln w="139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65218" y="3481280"/>
            <a:ext cx="2654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75" dirty="0">
                <a:latin typeface="Times New Roman"/>
                <a:cs typeface="Times New Roman"/>
              </a:rPr>
              <a:t>E</a:t>
            </a:r>
            <a:r>
              <a:rPr sz="1950" spc="-112" baseline="-10683" dirty="0">
                <a:latin typeface="Times New Roman"/>
                <a:cs typeface="Times New Roman"/>
              </a:rPr>
              <a:t>1</a:t>
            </a:r>
            <a:endParaRPr sz="1950" baseline="-10683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72555" y="3226415"/>
            <a:ext cx="1997075" cy="828040"/>
            <a:chOff x="6772555" y="3226415"/>
            <a:chExt cx="1997075" cy="828040"/>
          </a:xfrm>
        </p:grpSpPr>
        <p:sp>
          <p:nvSpPr>
            <p:cNvPr id="6" name="object 6"/>
            <p:cNvSpPr/>
            <p:nvPr/>
          </p:nvSpPr>
          <p:spPr>
            <a:xfrm>
              <a:off x="6780810" y="3233400"/>
              <a:ext cx="990600" cy="814069"/>
            </a:xfrm>
            <a:custGeom>
              <a:avLst/>
              <a:gdLst/>
              <a:ahLst/>
              <a:cxnLst/>
              <a:rect l="l" t="t" r="r" b="b"/>
              <a:pathLst>
                <a:path w="990600" h="814070">
                  <a:moveTo>
                    <a:pt x="0" y="414799"/>
                  </a:moveTo>
                  <a:lnTo>
                    <a:pt x="532411" y="414799"/>
                  </a:lnTo>
                </a:path>
                <a:path w="990600" h="814070">
                  <a:moveTo>
                    <a:pt x="767662" y="0"/>
                  </a:moveTo>
                  <a:lnTo>
                    <a:pt x="544792" y="406822"/>
                  </a:lnTo>
                  <a:lnTo>
                    <a:pt x="767663" y="813636"/>
                  </a:lnTo>
                  <a:lnTo>
                    <a:pt x="990532" y="406822"/>
                  </a:lnTo>
                  <a:lnTo>
                    <a:pt x="767662" y="0"/>
                  </a:lnTo>
                  <a:close/>
                </a:path>
              </a:pathLst>
            </a:custGeom>
            <a:ln w="141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91372" y="3376976"/>
              <a:ext cx="470534" cy="527050"/>
            </a:xfrm>
            <a:custGeom>
              <a:avLst/>
              <a:gdLst/>
              <a:ahLst/>
              <a:cxnLst/>
              <a:rect l="l" t="t" r="r" b="b"/>
              <a:pathLst>
                <a:path w="470534" h="527050">
                  <a:moveTo>
                    <a:pt x="0" y="526476"/>
                  </a:moveTo>
                  <a:lnTo>
                    <a:pt x="470503" y="526476"/>
                  </a:lnTo>
                  <a:lnTo>
                    <a:pt x="470503" y="0"/>
                  </a:lnTo>
                  <a:lnTo>
                    <a:pt x="0" y="0"/>
                  </a:lnTo>
                  <a:lnTo>
                    <a:pt x="0" y="526476"/>
                  </a:lnTo>
                  <a:close/>
                </a:path>
              </a:pathLst>
            </a:custGeom>
            <a:ln w="13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48861" y="3409296"/>
            <a:ext cx="12147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21945" algn="l"/>
                <a:tab pos="900430" algn="l"/>
              </a:tabLst>
            </a:pPr>
            <a:r>
              <a:rPr sz="2000" spc="-34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3000" baseline="-12500" dirty="0">
                <a:latin typeface="Times New Roman"/>
                <a:cs typeface="Times New Roman"/>
              </a:rPr>
              <a:t>E</a:t>
            </a:r>
            <a:r>
              <a:rPr sz="1950" baseline="-29914" dirty="0">
                <a:latin typeface="Times New Roman"/>
                <a:cs typeface="Times New Roman"/>
              </a:rPr>
              <a:t>2</a:t>
            </a:r>
            <a:endParaRPr sz="1950" baseline="-2991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71343" y="3616292"/>
            <a:ext cx="532765" cy="21590"/>
          </a:xfrm>
          <a:custGeom>
            <a:avLst/>
            <a:gdLst/>
            <a:ahLst/>
            <a:cxnLst/>
            <a:rect l="l" t="t" r="r" b="b"/>
            <a:pathLst>
              <a:path w="532765" h="21589">
                <a:moveTo>
                  <a:pt x="532411" y="0"/>
                </a:moveTo>
                <a:lnTo>
                  <a:pt x="0" y="0"/>
                </a:lnTo>
                <a:lnTo>
                  <a:pt x="0" y="21271"/>
                </a:lnTo>
                <a:lnTo>
                  <a:pt x="532411" y="21271"/>
                </a:lnTo>
                <a:lnTo>
                  <a:pt x="5324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0819" y="4109660"/>
            <a:ext cx="710565" cy="530225"/>
          </a:xfrm>
          <a:custGeom>
            <a:avLst/>
            <a:gdLst/>
            <a:ahLst/>
            <a:cxnLst/>
            <a:rect l="l" t="t" r="r" b="b"/>
            <a:pathLst>
              <a:path w="710565" h="530225">
                <a:moveTo>
                  <a:pt x="710086" y="0"/>
                </a:moveTo>
                <a:lnTo>
                  <a:pt x="0" y="0"/>
                </a:lnTo>
                <a:lnTo>
                  <a:pt x="0" y="529596"/>
                </a:lnTo>
                <a:lnTo>
                  <a:pt x="710086" y="529596"/>
                </a:lnTo>
                <a:lnTo>
                  <a:pt x="710086" y="521668"/>
                </a:lnTo>
                <a:lnTo>
                  <a:pt x="15850" y="521668"/>
                </a:lnTo>
                <a:lnTo>
                  <a:pt x="7925" y="513740"/>
                </a:lnTo>
                <a:lnTo>
                  <a:pt x="15850" y="513740"/>
                </a:lnTo>
                <a:lnTo>
                  <a:pt x="15850" y="15856"/>
                </a:lnTo>
                <a:lnTo>
                  <a:pt x="7925" y="15856"/>
                </a:lnTo>
                <a:lnTo>
                  <a:pt x="15850" y="7928"/>
                </a:lnTo>
                <a:lnTo>
                  <a:pt x="710086" y="7928"/>
                </a:lnTo>
                <a:lnTo>
                  <a:pt x="710086" y="0"/>
                </a:lnTo>
                <a:close/>
              </a:path>
              <a:path w="710565" h="530225">
                <a:moveTo>
                  <a:pt x="15850" y="513740"/>
                </a:moveTo>
                <a:lnTo>
                  <a:pt x="7925" y="513740"/>
                </a:lnTo>
                <a:lnTo>
                  <a:pt x="15850" y="521668"/>
                </a:lnTo>
                <a:lnTo>
                  <a:pt x="15850" y="513740"/>
                </a:lnTo>
                <a:close/>
              </a:path>
              <a:path w="710565" h="530225">
                <a:moveTo>
                  <a:pt x="694236" y="513740"/>
                </a:moveTo>
                <a:lnTo>
                  <a:pt x="15850" y="513740"/>
                </a:lnTo>
                <a:lnTo>
                  <a:pt x="15850" y="521668"/>
                </a:lnTo>
                <a:lnTo>
                  <a:pt x="694236" y="521668"/>
                </a:lnTo>
                <a:lnTo>
                  <a:pt x="694236" y="513740"/>
                </a:lnTo>
                <a:close/>
              </a:path>
              <a:path w="710565" h="530225">
                <a:moveTo>
                  <a:pt x="694236" y="7928"/>
                </a:moveTo>
                <a:lnTo>
                  <a:pt x="694236" y="521668"/>
                </a:lnTo>
                <a:lnTo>
                  <a:pt x="702161" y="513740"/>
                </a:lnTo>
                <a:lnTo>
                  <a:pt x="710086" y="513740"/>
                </a:lnTo>
                <a:lnTo>
                  <a:pt x="710086" y="15856"/>
                </a:lnTo>
                <a:lnTo>
                  <a:pt x="702161" y="15856"/>
                </a:lnTo>
                <a:lnTo>
                  <a:pt x="694236" y="7928"/>
                </a:lnTo>
                <a:close/>
              </a:path>
              <a:path w="710565" h="530225">
                <a:moveTo>
                  <a:pt x="710086" y="513740"/>
                </a:moveTo>
                <a:lnTo>
                  <a:pt x="702161" y="513740"/>
                </a:lnTo>
                <a:lnTo>
                  <a:pt x="694236" y="521668"/>
                </a:lnTo>
                <a:lnTo>
                  <a:pt x="710086" y="521668"/>
                </a:lnTo>
                <a:lnTo>
                  <a:pt x="710086" y="513740"/>
                </a:lnTo>
                <a:close/>
              </a:path>
              <a:path w="710565" h="530225">
                <a:moveTo>
                  <a:pt x="15850" y="7928"/>
                </a:moveTo>
                <a:lnTo>
                  <a:pt x="7925" y="15856"/>
                </a:lnTo>
                <a:lnTo>
                  <a:pt x="15850" y="15856"/>
                </a:lnTo>
                <a:lnTo>
                  <a:pt x="15850" y="7928"/>
                </a:lnTo>
                <a:close/>
              </a:path>
              <a:path w="710565" h="530225">
                <a:moveTo>
                  <a:pt x="694236" y="7928"/>
                </a:moveTo>
                <a:lnTo>
                  <a:pt x="15850" y="7928"/>
                </a:lnTo>
                <a:lnTo>
                  <a:pt x="15850" y="15856"/>
                </a:lnTo>
                <a:lnTo>
                  <a:pt x="694236" y="15856"/>
                </a:lnTo>
                <a:lnTo>
                  <a:pt x="694236" y="7928"/>
                </a:lnTo>
                <a:close/>
              </a:path>
              <a:path w="710565" h="530225">
                <a:moveTo>
                  <a:pt x="710086" y="7928"/>
                </a:moveTo>
                <a:lnTo>
                  <a:pt x="694236" y="7928"/>
                </a:lnTo>
                <a:lnTo>
                  <a:pt x="702161" y="15856"/>
                </a:lnTo>
                <a:lnTo>
                  <a:pt x="710086" y="15856"/>
                </a:lnTo>
                <a:lnTo>
                  <a:pt x="710086" y="7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7623" y="4252793"/>
            <a:ext cx="356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EMP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6630" y="4109660"/>
            <a:ext cx="2582545" cy="530225"/>
            <a:chOff x="926630" y="4109660"/>
            <a:chExt cx="2582545" cy="530225"/>
          </a:xfrm>
        </p:grpSpPr>
        <p:sp>
          <p:nvSpPr>
            <p:cNvPr id="13" name="object 13"/>
            <p:cNvSpPr/>
            <p:nvPr/>
          </p:nvSpPr>
          <p:spPr>
            <a:xfrm>
              <a:off x="932980" y="4383970"/>
              <a:ext cx="1864360" cy="0"/>
            </a:xfrm>
            <a:custGeom>
              <a:avLst/>
              <a:gdLst/>
              <a:ahLst/>
              <a:cxnLst/>
              <a:rect l="l" t="t" r="r" b="b"/>
              <a:pathLst>
                <a:path w="1864360">
                  <a:moveTo>
                    <a:pt x="0" y="0"/>
                  </a:moveTo>
                  <a:lnTo>
                    <a:pt x="1863977" y="0"/>
                  </a:lnTo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8605" y="4109660"/>
              <a:ext cx="710565" cy="530225"/>
            </a:xfrm>
            <a:custGeom>
              <a:avLst/>
              <a:gdLst/>
              <a:ahLst/>
              <a:cxnLst/>
              <a:rect l="l" t="t" r="r" b="b"/>
              <a:pathLst>
                <a:path w="710564" h="530225">
                  <a:moveTo>
                    <a:pt x="709959" y="0"/>
                  </a:moveTo>
                  <a:lnTo>
                    <a:pt x="0" y="0"/>
                  </a:lnTo>
                  <a:lnTo>
                    <a:pt x="0" y="529596"/>
                  </a:lnTo>
                  <a:lnTo>
                    <a:pt x="709959" y="529596"/>
                  </a:lnTo>
                  <a:lnTo>
                    <a:pt x="709959" y="521668"/>
                  </a:lnTo>
                  <a:lnTo>
                    <a:pt x="15723" y="521668"/>
                  </a:lnTo>
                  <a:lnTo>
                    <a:pt x="7861" y="513740"/>
                  </a:lnTo>
                  <a:lnTo>
                    <a:pt x="15723" y="513740"/>
                  </a:lnTo>
                  <a:lnTo>
                    <a:pt x="15723" y="15856"/>
                  </a:lnTo>
                  <a:lnTo>
                    <a:pt x="7861" y="15856"/>
                  </a:lnTo>
                  <a:lnTo>
                    <a:pt x="15723" y="7928"/>
                  </a:lnTo>
                  <a:lnTo>
                    <a:pt x="709959" y="7928"/>
                  </a:lnTo>
                  <a:lnTo>
                    <a:pt x="709959" y="0"/>
                  </a:lnTo>
                  <a:close/>
                </a:path>
                <a:path w="710564" h="530225">
                  <a:moveTo>
                    <a:pt x="15723" y="513740"/>
                  </a:moveTo>
                  <a:lnTo>
                    <a:pt x="7861" y="513740"/>
                  </a:lnTo>
                  <a:lnTo>
                    <a:pt x="15723" y="521668"/>
                  </a:lnTo>
                  <a:lnTo>
                    <a:pt x="15723" y="513740"/>
                  </a:lnTo>
                  <a:close/>
                </a:path>
                <a:path w="710564" h="530225">
                  <a:moveTo>
                    <a:pt x="694109" y="513740"/>
                  </a:moveTo>
                  <a:lnTo>
                    <a:pt x="15723" y="513740"/>
                  </a:lnTo>
                  <a:lnTo>
                    <a:pt x="15723" y="521668"/>
                  </a:lnTo>
                  <a:lnTo>
                    <a:pt x="694109" y="521668"/>
                  </a:lnTo>
                  <a:lnTo>
                    <a:pt x="694109" y="513740"/>
                  </a:lnTo>
                  <a:close/>
                </a:path>
                <a:path w="710564" h="530225">
                  <a:moveTo>
                    <a:pt x="694109" y="7928"/>
                  </a:moveTo>
                  <a:lnTo>
                    <a:pt x="694109" y="521668"/>
                  </a:lnTo>
                  <a:lnTo>
                    <a:pt x="702098" y="513740"/>
                  </a:lnTo>
                  <a:lnTo>
                    <a:pt x="709959" y="513740"/>
                  </a:lnTo>
                  <a:lnTo>
                    <a:pt x="709959" y="15856"/>
                  </a:lnTo>
                  <a:lnTo>
                    <a:pt x="702098" y="15856"/>
                  </a:lnTo>
                  <a:lnTo>
                    <a:pt x="694109" y="7928"/>
                  </a:lnTo>
                  <a:close/>
                </a:path>
                <a:path w="710564" h="530225">
                  <a:moveTo>
                    <a:pt x="709959" y="513740"/>
                  </a:moveTo>
                  <a:lnTo>
                    <a:pt x="702098" y="513740"/>
                  </a:lnTo>
                  <a:lnTo>
                    <a:pt x="694109" y="521668"/>
                  </a:lnTo>
                  <a:lnTo>
                    <a:pt x="709959" y="521668"/>
                  </a:lnTo>
                  <a:lnTo>
                    <a:pt x="709959" y="513740"/>
                  </a:lnTo>
                  <a:close/>
                </a:path>
                <a:path w="710564" h="530225">
                  <a:moveTo>
                    <a:pt x="15723" y="7928"/>
                  </a:moveTo>
                  <a:lnTo>
                    <a:pt x="7861" y="15856"/>
                  </a:lnTo>
                  <a:lnTo>
                    <a:pt x="15723" y="15856"/>
                  </a:lnTo>
                  <a:lnTo>
                    <a:pt x="15723" y="7928"/>
                  </a:lnTo>
                  <a:close/>
                </a:path>
                <a:path w="710564" h="530225">
                  <a:moveTo>
                    <a:pt x="694109" y="7928"/>
                  </a:moveTo>
                  <a:lnTo>
                    <a:pt x="15723" y="7928"/>
                  </a:lnTo>
                  <a:lnTo>
                    <a:pt x="15723" y="15856"/>
                  </a:lnTo>
                  <a:lnTo>
                    <a:pt x="694109" y="15856"/>
                  </a:lnTo>
                  <a:lnTo>
                    <a:pt x="694109" y="7928"/>
                  </a:lnTo>
                  <a:close/>
                </a:path>
                <a:path w="710564" h="530225">
                  <a:moveTo>
                    <a:pt x="709959" y="7928"/>
                  </a:moveTo>
                  <a:lnTo>
                    <a:pt x="694109" y="7928"/>
                  </a:lnTo>
                  <a:lnTo>
                    <a:pt x="702098" y="15856"/>
                  </a:lnTo>
                  <a:lnTo>
                    <a:pt x="709959" y="15856"/>
                  </a:lnTo>
                  <a:lnTo>
                    <a:pt x="709959" y="7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37433" y="4252793"/>
            <a:ext cx="43243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DEPT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83412" y="4383970"/>
            <a:ext cx="532765" cy="0"/>
          </a:xfrm>
          <a:custGeom>
            <a:avLst/>
            <a:gdLst/>
            <a:ahLst/>
            <a:cxnLst/>
            <a:rect l="l" t="t" r="r" b="b"/>
            <a:pathLst>
              <a:path w="532764">
                <a:moveTo>
                  <a:pt x="0" y="0"/>
                </a:moveTo>
                <a:lnTo>
                  <a:pt x="532564" y="0"/>
                </a:lnTo>
              </a:path>
            </a:pathLst>
          </a:custGeom>
          <a:ln w="95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16573" y="4438809"/>
            <a:ext cx="4902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Worker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80510" y="4438809"/>
            <a:ext cx="6242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Employer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0822" y="5140209"/>
            <a:ext cx="711835" cy="529590"/>
          </a:xfrm>
          <a:custGeom>
            <a:avLst/>
            <a:gdLst/>
            <a:ahLst/>
            <a:cxnLst/>
            <a:rect l="l" t="t" r="r" b="b"/>
            <a:pathLst>
              <a:path w="711835" h="529589">
                <a:moveTo>
                  <a:pt x="711338" y="0"/>
                </a:moveTo>
                <a:lnTo>
                  <a:pt x="0" y="0"/>
                </a:lnTo>
                <a:lnTo>
                  <a:pt x="0" y="529577"/>
                </a:lnTo>
                <a:lnTo>
                  <a:pt x="711338" y="529577"/>
                </a:lnTo>
                <a:lnTo>
                  <a:pt x="711338" y="521650"/>
                </a:lnTo>
                <a:lnTo>
                  <a:pt x="15878" y="521650"/>
                </a:lnTo>
                <a:lnTo>
                  <a:pt x="7939" y="513722"/>
                </a:lnTo>
                <a:lnTo>
                  <a:pt x="15878" y="513722"/>
                </a:lnTo>
                <a:lnTo>
                  <a:pt x="15878" y="15855"/>
                </a:lnTo>
                <a:lnTo>
                  <a:pt x="7939" y="15855"/>
                </a:lnTo>
                <a:lnTo>
                  <a:pt x="15878" y="7927"/>
                </a:lnTo>
                <a:lnTo>
                  <a:pt x="711338" y="7927"/>
                </a:lnTo>
                <a:lnTo>
                  <a:pt x="711338" y="0"/>
                </a:lnTo>
                <a:close/>
              </a:path>
              <a:path w="711835" h="529589">
                <a:moveTo>
                  <a:pt x="15878" y="513722"/>
                </a:moveTo>
                <a:lnTo>
                  <a:pt x="7939" y="513722"/>
                </a:lnTo>
                <a:lnTo>
                  <a:pt x="15878" y="521650"/>
                </a:lnTo>
                <a:lnTo>
                  <a:pt x="15878" y="513722"/>
                </a:lnTo>
                <a:close/>
              </a:path>
              <a:path w="711835" h="529589">
                <a:moveTo>
                  <a:pt x="695460" y="513722"/>
                </a:moveTo>
                <a:lnTo>
                  <a:pt x="15878" y="513722"/>
                </a:lnTo>
                <a:lnTo>
                  <a:pt x="15878" y="521650"/>
                </a:lnTo>
                <a:lnTo>
                  <a:pt x="695460" y="521650"/>
                </a:lnTo>
                <a:lnTo>
                  <a:pt x="695460" y="513722"/>
                </a:lnTo>
                <a:close/>
              </a:path>
              <a:path w="711835" h="529589">
                <a:moveTo>
                  <a:pt x="695460" y="7927"/>
                </a:moveTo>
                <a:lnTo>
                  <a:pt x="695460" y="521650"/>
                </a:lnTo>
                <a:lnTo>
                  <a:pt x="703399" y="513722"/>
                </a:lnTo>
                <a:lnTo>
                  <a:pt x="711338" y="513722"/>
                </a:lnTo>
                <a:lnTo>
                  <a:pt x="711338" y="15855"/>
                </a:lnTo>
                <a:lnTo>
                  <a:pt x="703399" y="15855"/>
                </a:lnTo>
                <a:lnTo>
                  <a:pt x="695460" y="7927"/>
                </a:lnTo>
                <a:close/>
              </a:path>
              <a:path w="711835" h="529589">
                <a:moveTo>
                  <a:pt x="711338" y="513722"/>
                </a:moveTo>
                <a:lnTo>
                  <a:pt x="703399" y="513722"/>
                </a:lnTo>
                <a:lnTo>
                  <a:pt x="695460" y="521650"/>
                </a:lnTo>
                <a:lnTo>
                  <a:pt x="711338" y="521650"/>
                </a:lnTo>
                <a:lnTo>
                  <a:pt x="711338" y="513722"/>
                </a:lnTo>
                <a:close/>
              </a:path>
              <a:path w="711835" h="529589">
                <a:moveTo>
                  <a:pt x="15878" y="7927"/>
                </a:moveTo>
                <a:lnTo>
                  <a:pt x="7939" y="15855"/>
                </a:lnTo>
                <a:lnTo>
                  <a:pt x="15878" y="15855"/>
                </a:lnTo>
                <a:lnTo>
                  <a:pt x="15878" y="7927"/>
                </a:lnTo>
                <a:close/>
              </a:path>
              <a:path w="711835" h="529589">
                <a:moveTo>
                  <a:pt x="695460" y="7927"/>
                </a:moveTo>
                <a:lnTo>
                  <a:pt x="15878" y="7927"/>
                </a:lnTo>
                <a:lnTo>
                  <a:pt x="15878" y="15855"/>
                </a:lnTo>
                <a:lnTo>
                  <a:pt x="695460" y="15855"/>
                </a:lnTo>
                <a:lnTo>
                  <a:pt x="695460" y="7927"/>
                </a:lnTo>
                <a:close/>
              </a:path>
              <a:path w="711835" h="529589">
                <a:moveTo>
                  <a:pt x="711338" y="7927"/>
                </a:moveTo>
                <a:lnTo>
                  <a:pt x="695460" y="7927"/>
                </a:lnTo>
                <a:lnTo>
                  <a:pt x="703399" y="15855"/>
                </a:lnTo>
                <a:lnTo>
                  <a:pt x="711338" y="15855"/>
                </a:lnTo>
                <a:lnTo>
                  <a:pt x="711338" y="7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1314" y="5285394"/>
            <a:ext cx="3530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EMP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29460" y="5140209"/>
            <a:ext cx="2585085" cy="529590"/>
            <a:chOff x="929460" y="5140209"/>
            <a:chExt cx="2585085" cy="529590"/>
          </a:xfrm>
        </p:grpSpPr>
        <p:sp>
          <p:nvSpPr>
            <p:cNvPr id="22" name="object 22"/>
            <p:cNvSpPr/>
            <p:nvPr/>
          </p:nvSpPr>
          <p:spPr>
            <a:xfrm>
              <a:off x="934222" y="5414513"/>
              <a:ext cx="1867535" cy="0"/>
            </a:xfrm>
            <a:custGeom>
              <a:avLst/>
              <a:gdLst/>
              <a:ahLst/>
              <a:cxnLst/>
              <a:rect l="l" t="t" r="r" b="b"/>
              <a:pathLst>
                <a:path w="1867535">
                  <a:moveTo>
                    <a:pt x="0" y="0"/>
                  </a:moveTo>
                  <a:lnTo>
                    <a:pt x="1867264" y="0"/>
                  </a:lnTo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03010" y="5140209"/>
              <a:ext cx="711835" cy="529590"/>
            </a:xfrm>
            <a:custGeom>
              <a:avLst/>
              <a:gdLst/>
              <a:ahLst/>
              <a:cxnLst/>
              <a:rect l="l" t="t" r="r" b="b"/>
              <a:pathLst>
                <a:path w="711835" h="529589">
                  <a:moveTo>
                    <a:pt x="711338" y="0"/>
                  </a:moveTo>
                  <a:lnTo>
                    <a:pt x="0" y="0"/>
                  </a:lnTo>
                  <a:lnTo>
                    <a:pt x="0" y="529577"/>
                  </a:lnTo>
                  <a:lnTo>
                    <a:pt x="711338" y="529577"/>
                  </a:lnTo>
                  <a:lnTo>
                    <a:pt x="711338" y="521650"/>
                  </a:lnTo>
                  <a:lnTo>
                    <a:pt x="15878" y="521650"/>
                  </a:lnTo>
                  <a:lnTo>
                    <a:pt x="8002" y="513722"/>
                  </a:lnTo>
                  <a:lnTo>
                    <a:pt x="15878" y="513722"/>
                  </a:lnTo>
                  <a:lnTo>
                    <a:pt x="15878" y="15855"/>
                  </a:lnTo>
                  <a:lnTo>
                    <a:pt x="8002" y="15855"/>
                  </a:lnTo>
                  <a:lnTo>
                    <a:pt x="15878" y="7927"/>
                  </a:lnTo>
                  <a:lnTo>
                    <a:pt x="711338" y="7927"/>
                  </a:lnTo>
                  <a:lnTo>
                    <a:pt x="711338" y="0"/>
                  </a:lnTo>
                  <a:close/>
                </a:path>
                <a:path w="711835" h="529589">
                  <a:moveTo>
                    <a:pt x="15878" y="513722"/>
                  </a:moveTo>
                  <a:lnTo>
                    <a:pt x="8002" y="513722"/>
                  </a:lnTo>
                  <a:lnTo>
                    <a:pt x="15878" y="521650"/>
                  </a:lnTo>
                  <a:lnTo>
                    <a:pt x="15878" y="513722"/>
                  </a:lnTo>
                  <a:close/>
                </a:path>
                <a:path w="711835" h="529589">
                  <a:moveTo>
                    <a:pt x="695460" y="513722"/>
                  </a:moveTo>
                  <a:lnTo>
                    <a:pt x="15878" y="513722"/>
                  </a:lnTo>
                  <a:lnTo>
                    <a:pt x="15878" y="521650"/>
                  </a:lnTo>
                  <a:lnTo>
                    <a:pt x="695460" y="521650"/>
                  </a:lnTo>
                  <a:lnTo>
                    <a:pt x="695460" y="513722"/>
                  </a:lnTo>
                  <a:close/>
                </a:path>
                <a:path w="711835" h="529589">
                  <a:moveTo>
                    <a:pt x="695460" y="7927"/>
                  </a:moveTo>
                  <a:lnTo>
                    <a:pt x="695460" y="521650"/>
                  </a:lnTo>
                  <a:lnTo>
                    <a:pt x="703463" y="513722"/>
                  </a:lnTo>
                  <a:lnTo>
                    <a:pt x="711338" y="513722"/>
                  </a:lnTo>
                  <a:lnTo>
                    <a:pt x="711338" y="15855"/>
                  </a:lnTo>
                  <a:lnTo>
                    <a:pt x="703463" y="15855"/>
                  </a:lnTo>
                  <a:lnTo>
                    <a:pt x="695460" y="7927"/>
                  </a:lnTo>
                  <a:close/>
                </a:path>
                <a:path w="711835" h="529589">
                  <a:moveTo>
                    <a:pt x="711338" y="513722"/>
                  </a:moveTo>
                  <a:lnTo>
                    <a:pt x="703463" y="513722"/>
                  </a:lnTo>
                  <a:lnTo>
                    <a:pt x="695460" y="521650"/>
                  </a:lnTo>
                  <a:lnTo>
                    <a:pt x="711338" y="521650"/>
                  </a:lnTo>
                  <a:lnTo>
                    <a:pt x="711338" y="513722"/>
                  </a:lnTo>
                  <a:close/>
                </a:path>
                <a:path w="711835" h="529589">
                  <a:moveTo>
                    <a:pt x="15878" y="7927"/>
                  </a:moveTo>
                  <a:lnTo>
                    <a:pt x="8002" y="15855"/>
                  </a:lnTo>
                  <a:lnTo>
                    <a:pt x="15878" y="15855"/>
                  </a:lnTo>
                  <a:lnTo>
                    <a:pt x="15878" y="7927"/>
                  </a:lnTo>
                  <a:close/>
                </a:path>
                <a:path w="711835" h="529589">
                  <a:moveTo>
                    <a:pt x="695460" y="7927"/>
                  </a:moveTo>
                  <a:lnTo>
                    <a:pt x="15878" y="7927"/>
                  </a:lnTo>
                  <a:lnTo>
                    <a:pt x="15878" y="15855"/>
                  </a:lnTo>
                  <a:lnTo>
                    <a:pt x="695460" y="15855"/>
                  </a:lnTo>
                  <a:lnTo>
                    <a:pt x="695460" y="7927"/>
                  </a:lnTo>
                  <a:close/>
                </a:path>
                <a:path w="711835" h="529589">
                  <a:moveTo>
                    <a:pt x="711338" y="7927"/>
                  </a:moveTo>
                  <a:lnTo>
                    <a:pt x="695460" y="7927"/>
                  </a:lnTo>
                  <a:lnTo>
                    <a:pt x="703463" y="15855"/>
                  </a:lnTo>
                  <a:lnTo>
                    <a:pt x="711338" y="15855"/>
                  </a:lnTo>
                  <a:lnTo>
                    <a:pt x="711338" y="7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944391" y="5285394"/>
            <a:ext cx="4298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DEPT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87036" y="5414513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504" y="0"/>
                </a:lnTo>
              </a:path>
            </a:pathLst>
          </a:custGeom>
          <a:ln w="95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39935" y="5104867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*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99646" y="5077468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07019" y="5938471"/>
            <a:ext cx="710565" cy="529590"/>
          </a:xfrm>
          <a:custGeom>
            <a:avLst/>
            <a:gdLst/>
            <a:ahLst/>
            <a:cxnLst/>
            <a:rect l="l" t="t" r="r" b="b"/>
            <a:pathLst>
              <a:path w="710565" h="529589">
                <a:moveTo>
                  <a:pt x="710086" y="0"/>
                </a:moveTo>
                <a:lnTo>
                  <a:pt x="0" y="0"/>
                </a:lnTo>
                <a:lnTo>
                  <a:pt x="0" y="529171"/>
                </a:lnTo>
                <a:lnTo>
                  <a:pt x="710086" y="529171"/>
                </a:lnTo>
                <a:lnTo>
                  <a:pt x="710086" y="521249"/>
                </a:lnTo>
                <a:lnTo>
                  <a:pt x="15850" y="521249"/>
                </a:lnTo>
                <a:lnTo>
                  <a:pt x="7925" y="513328"/>
                </a:lnTo>
                <a:lnTo>
                  <a:pt x="15850" y="513328"/>
                </a:lnTo>
                <a:lnTo>
                  <a:pt x="15850" y="15843"/>
                </a:lnTo>
                <a:lnTo>
                  <a:pt x="7925" y="15843"/>
                </a:lnTo>
                <a:lnTo>
                  <a:pt x="15850" y="7921"/>
                </a:lnTo>
                <a:lnTo>
                  <a:pt x="710086" y="7921"/>
                </a:lnTo>
                <a:lnTo>
                  <a:pt x="710086" y="0"/>
                </a:lnTo>
                <a:close/>
              </a:path>
              <a:path w="710565" h="529589">
                <a:moveTo>
                  <a:pt x="15850" y="513328"/>
                </a:moveTo>
                <a:lnTo>
                  <a:pt x="7925" y="513328"/>
                </a:lnTo>
                <a:lnTo>
                  <a:pt x="15850" y="521249"/>
                </a:lnTo>
                <a:lnTo>
                  <a:pt x="15850" y="513328"/>
                </a:lnTo>
                <a:close/>
              </a:path>
              <a:path w="710565" h="529589">
                <a:moveTo>
                  <a:pt x="694236" y="513328"/>
                </a:moveTo>
                <a:lnTo>
                  <a:pt x="15850" y="513328"/>
                </a:lnTo>
                <a:lnTo>
                  <a:pt x="15850" y="521249"/>
                </a:lnTo>
                <a:lnTo>
                  <a:pt x="694236" y="521249"/>
                </a:lnTo>
                <a:lnTo>
                  <a:pt x="694236" y="513328"/>
                </a:lnTo>
                <a:close/>
              </a:path>
              <a:path w="710565" h="529589">
                <a:moveTo>
                  <a:pt x="694236" y="7921"/>
                </a:moveTo>
                <a:lnTo>
                  <a:pt x="694236" y="521249"/>
                </a:lnTo>
                <a:lnTo>
                  <a:pt x="702161" y="513328"/>
                </a:lnTo>
                <a:lnTo>
                  <a:pt x="710086" y="513328"/>
                </a:lnTo>
                <a:lnTo>
                  <a:pt x="710086" y="15843"/>
                </a:lnTo>
                <a:lnTo>
                  <a:pt x="702161" y="15843"/>
                </a:lnTo>
                <a:lnTo>
                  <a:pt x="694236" y="7921"/>
                </a:lnTo>
                <a:close/>
              </a:path>
              <a:path w="710565" h="529589">
                <a:moveTo>
                  <a:pt x="710086" y="513328"/>
                </a:moveTo>
                <a:lnTo>
                  <a:pt x="702161" y="513328"/>
                </a:lnTo>
                <a:lnTo>
                  <a:pt x="694236" y="521249"/>
                </a:lnTo>
                <a:lnTo>
                  <a:pt x="710086" y="521249"/>
                </a:lnTo>
                <a:lnTo>
                  <a:pt x="710086" y="513328"/>
                </a:lnTo>
                <a:close/>
              </a:path>
              <a:path w="710565" h="529589">
                <a:moveTo>
                  <a:pt x="15850" y="7921"/>
                </a:moveTo>
                <a:lnTo>
                  <a:pt x="7925" y="15843"/>
                </a:lnTo>
                <a:lnTo>
                  <a:pt x="15850" y="15843"/>
                </a:lnTo>
                <a:lnTo>
                  <a:pt x="15850" y="7921"/>
                </a:lnTo>
                <a:close/>
              </a:path>
              <a:path w="710565" h="529589">
                <a:moveTo>
                  <a:pt x="694236" y="7921"/>
                </a:moveTo>
                <a:lnTo>
                  <a:pt x="15850" y="7921"/>
                </a:lnTo>
                <a:lnTo>
                  <a:pt x="15850" y="15843"/>
                </a:lnTo>
                <a:lnTo>
                  <a:pt x="694236" y="15843"/>
                </a:lnTo>
                <a:lnTo>
                  <a:pt x="694236" y="7921"/>
                </a:lnTo>
                <a:close/>
              </a:path>
              <a:path w="710565" h="529589">
                <a:moveTo>
                  <a:pt x="710086" y="7921"/>
                </a:moveTo>
                <a:lnTo>
                  <a:pt x="694236" y="7921"/>
                </a:lnTo>
                <a:lnTo>
                  <a:pt x="702161" y="15843"/>
                </a:lnTo>
                <a:lnTo>
                  <a:pt x="710086" y="15843"/>
                </a:lnTo>
                <a:lnTo>
                  <a:pt x="710086" y="79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83823" y="6082090"/>
            <a:ext cx="355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EMP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04417" y="5938471"/>
            <a:ext cx="2580640" cy="529590"/>
            <a:chOff x="1004417" y="5938471"/>
            <a:chExt cx="2580640" cy="529590"/>
          </a:xfrm>
        </p:grpSpPr>
        <p:sp>
          <p:nvSpPr>
            <p:cNvPr id="31" name="object 31"/>
            <p:cNvSpPr/>
            <p:nvPr/>
          </p:nvSpPr>
          <p:spPr>
            <a:xfrm>
              <a:off x="1009180" y="6212565"/>
              <a:ext cx="1864360" cy="0"/>
            </a:xfrm>
            <a:custGeom>
              <a:avLst/>
              <a:gdLst/>
              <a:ahLst/>
              <a:cxnLst/>
              <a:rect l="l" t="t" r="r" b="b"/>
              <a:pathLst>
                <a:path w="1864360">
                  <a:moveTo>
                    <a:pt x="0" y="0"/>
                  </a:moveTo>
                  <a:lnTo>
                    <a:pt x="1863977" y="0"/>
                  </a:lnTo>
                </a:path>
              </a:pathLst>
            </a:custGeom>
            <a:ln w="9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74805" y="5938471"/>
              <a:ext cx="710565" cy="529590"/>
            </a:xfrm>
            <a:custGeom>
              <a:avLst/>
              <a:gdLst/>
              <a:ahLst/>
              <a:cxnLst/>
              <a:rect l="l" t="t" r="r" b="b"/>
              <a:pathLst>
                <a:path w="710564" h="529589">
                  <a:moveTo>
                    <a:pt x="709959" y="0"/>
                  </a:moveTo>
                  <a:lnTo>
                    <a:pt x="0" y="0"/>
                  </a:lnTo>
                  <a:lnTo>
                    <a:pt x="0" y="529171"/>
                  </a:lnTo>
                  <a:lnTo>
                    <a:pt x="709959" y="529171"/>
                  </a:lnTo>
                  <a:lnTo>
                    <a:pt x="709959" y="521249"/>
                  </a:lnTo>
                  <a:lnTo>
                    <a:pt x="15723" y="521249"/>
                  </a:lnTo>
                  <a:lnTo>
                    <a:pt x="7861" y="513328"/>
                  </a:lnTo>
                  <a:lnTo>
                    <a:pt x="15723" y="513328"/>
                  </a:lnTo>
                  <a:lnTo>
                    <a:pt x="15723" y="15843"/>
                  </a:lnTo>
                  <a:lnTo>
                    <a:pt x="7861" y="15843"/>
                  </a:lnTo>
                  <a:lnTo>
                    <a:pt x="15723" y="7921"/>
                  </a:lnTo>
                  <a:lnTo>
                    <a:pt x="709959" y="7921"/>
                  </a:lnTo>
                  <a:lnTo>
                    <a:pt x="709959" y="0"/>
                  </a:lnTo>
                  <a:close/>
                </a:path>
                <a:path w="710564" h="529589">
                  <a:moveTo>
                    <a:pt x="15723" y="513328"/>
                  </a:moveTo>
                  <a:lnTo>
                    <a:pt x="7861" y="513328"/>
                  </a:lnTo>
                  <a:lnTo>
                    <a:pt x="15723" y="521249"/>
                  </a:lnTo>
                  <a:lnTo>
                    <a:pt x="15723" y="513328"/>
                  </a:lnTo>
                  <a:close/>
                </a:path>
                <a:path w="710564" h="529589">
                  <a:moveTo>
                    <a:pt x="694109" y="513328"/>
                  </a:moveTo>
                  <a:lnTo>
                    <a:pt x="15723" y="513328"/>
                  </a:lnTo>
                  <a:lnTo>
                    <a:pt x="15723" y="521249"/>
                  </a:lnTo>
                  <a:lnTo>
                    <a:pt x="694109" y="521249"/>
                  </a:lnTo>
                  <a:lnTo>
                    <a:pt x="694109" y="513328"/>
                  </a:lnTo>
                  <a:close/>
                </a:path>
                <a:path w="710564" h="529589">
                  <a:moveTo>
                    <a:pt x="694109" y="7921"/>
                  </a:moveTo>
                  <a:lnTo>
                    <a:pt x="694109" y="521249"/>
                  </a:lnTo>
                  <a:lnTo>
                    <a:pt x="702098" y="513328"/>
                  </a:lnTo>
                  <a:lnTo>
                    <a:pt x="709959" y="513328"/>
                  </a:lnTo>
                  <a:lnTo>
                    <a:pt x="709959" y="15843"/>
                  </a:lnTo>
                  <a:lnTo>
                    <a:pt x="702098" y="15843"/>
                  </a:lnTo>
                  <a:lnTo>
                    <a:pt x="694109" y="7921"/>
                  </a:lnTo>
                  <a:close/>
                </a:path>
                <a:path w="710564" h="529589">
                  <a:moveTo>
                    <a:pt x="709959" y="513328"/>
                  </a:moveTo>
                  <a:lnTo>
                    <a:pt x="702098" y="513328"/>
                  </a:lnTo>
                  <a:lnTo>
                    <a:pt x="694109" y="521249"/>
                  </a:lnTo>
                  <a:lnTo>
                    <a:pt x="709959" y="521249"/>
                  </a:lnTo>
                  <a:lnTo>
                    <a:pt x="709959" y="513328"/>
                  </a:lnTo>
                  <a:close/>
                </a:path>
                <a:path w="710564" h="529589">
                  <a:moveTo>
                    <a:pt x="15723" y="7921"/>
                  </a:moveTo>
                  <a:lnTo>
                    <a:pt x="7861" y="15843"/>
                  </a:lnTo>
                  <a:lnTo>
                    <a:pt x="15723" y="15843"/>
                  </a:lnTo>
                  <a:lnTo>
                    <a:pt x="15723" y="7921"/>
                  </a:lnTo>
                  <a:close/>
                </a:path>
                <a:path w="710564" h="529589">
                  <a:moveTo>
                    <a:pt x="694109" y="7921"/>
                  </a:moveTo>
                  <a:lnTo>
                    <a:pt x="15723" y="7921"/>
                  </a:lnTo>
                  <a:lnTo>
                    <a:pt x="15723" y="15843"/>
                  </a:lnTo>
                  <a:lnTo>
                    <a:pt x="694109" y="15843"/>
                  </a:lnTo>
                  <a:lnTo>
                    <a:pt x="694109" y="7921"/>
                  </a:lnTo>
                  <a:close/>
                </a:path>
                <a:path w="710564" h="529589">
                  <a:moveTo>
                    <a:pt x="709959" y="7921"/>
                  </a:moveTo>
                  <a:lnTo>
                    <a:pt x="694109" y="7921"/>
                  </a:lnTo>
                  <a:lnTo>
                    <a:pt x="702098" y="15843"/>
                  </a:lnTo>
                  <a:lnTo>
                    <a:pt x="709959" y="15843"/>
                  </a:lnTo>
                  <a:lnTo>
                    <a:pt x="709959" y="79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13633" y="6082090"/>
            <a:ext cx="43243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DEPT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55001" y="6060467"/>
            <a:ext cx="637540" cy="156845"/>
            <a:chOff x="2255001" y="6060467"/>
            <a:chExt cx="637540" cy="156845"/>
          </a:xfrm>
        </p:grpSpPr>
        <p:sp>
          <p:nvSpPr>
            <p:cNvPr id="35" name="object 35"/>
            <p:cNvSpPr/>
            <p:nvPr/>
          </p:nvSpPr>
          <p:spPr>
            <a:xfrm>
              <a:off x="2359612" y="6212565"/>
              <a:ext cx="532765" cy="0"/>
            </a:xfrm>
            <a:custGeom>
              <a:avLst/>
              <a:gdLst/>
              <a:ahLst/>
              <a:cxnLst/>
              <a:rect l="l" t="t" r="r" b="b"/>
              <a:pathLst>
                <a:path w="532764">
                  <a:moveTo>
                    <a:pt x="0" y="0"/>
                  </a:moveTo>
                  <a:lnTo>
                    <a:pt x="532564" y="0"/>
                  </a:lnTo>
                </a:path>
              </a:pathLst>
            </a:custGeom>
            <a:ln w="9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55001" y="60604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049"/>
                  </a:lnTo>
                  <a:lnTo>
                    <a:pt x="76080" y="38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398617" y="5970450"/>
            <a:ext cx="685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Works_for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8" name="object 38"/>
          <p:cNvSpPr txBox="1"/>
          <p:nvPr/>
        </p:nvSpPr>
        <p:spPr>
          <a:xfrm>
            <a:off x="3890009" y="4295394"/>
            <a:ext cx="1306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Association</a:t>
            </a:r>
            <a:r>
              <a:rPr sz="1200" b="1" i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i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Role</a:t>
            </a:r>
            <a:r>
              <a:rPr sz="1200" spc="-20" dirty="0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66209" y="5210047"/>
            <a:ext cx="829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Multiplicity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15485" y="5880608"/>
            <a:ext cx="2247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Association</a:t>
            </a:r>
            <a:r>
              <a:rPr sz="1200" b="1" i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</a:t>
            </a:r>
            <a:r>
              <a:rPr sz="1200" b="1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&amp;</a:t>
            </a:r>
            <a:r>
              <a:rPr sz="1200" b="1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Direction</a:t>
            </a:r>
            <a:r>
              <a:rPr sz="1200" spc="-10" dirty="0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3985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Relationships</a:t>
            </a:r>
            <a:r>
              <a:rPr spc="-320" dirty="0"/>
              <a:t> </a:t>
            </a:r>
            <a:r>
              <a:rPr spc="-75" dirty="0"/>
              <a:t>in</a:t>
            </a:r>
            <a:r>
              <a:rPr spc="-275" dirty="0"/>
              <a:t> </a:t>
            </a:r>
            <a:r>
              <a:rPr spc="-25" dirty="0"/>
              <a:t>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3" name="object 3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133600" y="6553200"/>
            <a:ext cx="7010400" cy="45720"/>
            <a:chOff x="2133600" y="6553200"/>
            <a:chExt cx="7010400" cy="45720"/>
          </a:xfrm>
        </p:grpSpPr>
        <p:sp>
          <p:nvSpPr>
            <p:cNvPr id="7" name="object 7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5368" y="1322654"/>
            <a:ext cx="8497570" cy="469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450" indent="514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Assume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scenario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(like-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Music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Photography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etc.)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educational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Institution,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need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design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database.</a:t>
            </a:r>
            <a:r>
              <a:rPr sz="1800" spc="43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description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follows.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Each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Student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name,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roll#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(unique),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address,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contact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(more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contact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possible),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branch.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exist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clubs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(for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specialized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activities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like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Dance,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Music,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Photography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etc.),</a:t>
            </a:r>
            <a:endParaRPr sz="1800" dirty="0">
              <a:latin typeface="Arial"/>
              <a:cs typeface="Arial"/>
            </a:endParaRPr>
          </a:p>
          <a:p>
            <a:pPr marL="12700" marR="17526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each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name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(unique),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start_date,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Faculty-Incharge,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Funds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available.</a:t>
            </a:r>
            <a:r>
              <a:rPr sz="1800" spc="5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conduct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events.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event has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start-date,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end-date,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description,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budget.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Different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clubs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may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conduct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different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events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during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dates.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single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club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conduct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given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point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i.e.,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cannot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conduct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start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dates.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conducted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one </a:t>
            </a:r>
            <a:r>
              <a:rPr sz="1800" dirty="0">
                <a:latin typeface="Arial"/>
                <a:cs typeface="Arial"/>
              </a:rPr>
              <a:t>club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only.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Events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IDs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for.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Students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become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cub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members.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student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member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one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club.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membership.</a:t>
            </a:r>
            <a:endParaRPr sz="1800" dirty="0">
              <a:latin typeface="Arial"/>
              <a:cs typeface="Arial"/>
            </a:endParaRPr>
          </a:p>
          <a:p>
            <a:pPr marL="12700" marR="514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Students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become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office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bearers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(even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where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don’t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have </a:t>
            </a:r>
            <a:r>
              <a:rPr sz="1800" dirty="0">
                <a:latin typeface="Arial"/>
                <a:cs typeface="Arial"/>
              </a:rPr>
              <a:t>membership)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specific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role like-</a:t>
            </a:r>
            <a:r>
              <a:rPr sz="1800" spc="-10" dirty="0">
                <a:latin typeface="Arial"/>
                <a:cs typeface="Arial"/>
              </a:rPr>
              <a:t>secretary,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treasures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etc.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student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 be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office </a:t>
            </a:r>
            <a:r>
              <a:rPr sz="1800" dirty="0">
                <a:latin typeface="Arial"/>
                <a:cs typeface="Arial"/>
              </a:rPr>
              <a:t>bearer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club.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capture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info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about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present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office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bearers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only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3" name="object 3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133600" y="6553200"/>
            <a:ext cx="7010400" cy="45720"/>
            <a:chOff x="2133600" y="6553200"/>
            <a:chExt cx="7010400" cy="45720"/>
          </a:xfrm>
        </p:grpSpPr>
        <p:sp>
          <p:nvSpPr>
            <p:cNvPr id="7" name="object 7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844" y="1459968"/>
            <a:ext cx="5982335" cy="17049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000" b="1" i="1" spc="-10" dirty="0">
                <a:latin typeface="Arial"/>
                <a:cs typeface="Arial"/>
              </a:rPr>
              <a:t>Summary</a:t>
            </a:r>
            <a:endParaRPr sz="2000">
              <a:latin typeface="Arial"/>
              <a:cs typeface="Arial"/>
            </a:endParaRPr>
          </a:p>
          <a:p>
            <a:pPr marL="339090" indent="-326390">
              <a:lnSpc>
                <a:spcPct val="100000"/>
              </a:lnSpc>
              <a:spcBef>
                <a:spcPts val="565"/>
              </a:spcBef>
              <a:buClr>
                <a:srgbClr val="375F92"/>
              </a:buClr>
              <a:buFont typeface="Wingdings"/>
              <a:buChar char=""/>
              <a:tabLst>
                <a:tab pos="339090" algn="l"/>
              </a:tabLst>
            </a:pPr>
            <a:r>
              <a:rPr sz="2400" i="1" spc="-10" dirty="0">
                <a:solidFill>
                  <a:srgbClr val="0F1141"/>
                </a:solidFill>
                <a:latin typeface="Arial"/>
                <a:cs typeface="Arial"/>
              </a:rPr>
              <a:t>Various</a:t>
            </a:r>
            <a:r>
              <a:rPr sz="2400" i="1" spc="-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steps</a:t>
            </a:r>
            <a:r>
              <a:rPr sz="2400" i="1" spc="-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400" i="1" spc="-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database</a:t>
            </a:r>
            <a:r>
              <a:rPr sz="2400" i="1" spc="-9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design</a:t>
            </a:r>
            <a:r>
              <a:rPr sz="2400" i="1" spc="-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F1141"/>
                </a:solidFill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  <a:p>
            <a:pPr marL="339090" indent="-326390">
              <a:lnSpc>
                <a:spcPct val="100000"/>
              </a:lnSpc>
              <a:spcBef>
                <a:spcPts val="580"/>
              </a:spcBef>
              <a:buFont typeface="Wingdings"/>
              <a:buChar char=""/>
              <a:tabLst>
                <a:tab pos="339090" algn="l"/>
              </a:tabLst>
            </a:pP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What</a:t>
            </a:r>
            <a:r>
              <a:rPr sz="2400" i="1" spc="-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is</a:t>
            </a:r>
            <a:r>
              <a:rPr sz="2400" i="1" spc="-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ER</a:t>
            </a:r>
            <a:r>
              <a:rPr sz="2400" i="1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F1141"/>
                </a:solidFill>
                <a:latin typeface="Arial"/>
                <a:cs typeface="Arial"/>
              </a:rPr>
              <a:t>modeling</a:t>
            </a:r>
            <a:endParaRPr sz="2400">
              <a:latin typeface="Arial"/>
              <a:cs typeface="Arial"/>
            </a:endParaRPr>
          </a:p>
          <a:p>
            <a:pPr marL="338455" indent="-325755">
              <a:lnSpc>
                <a:spcPct val="100000"/>
              </a:lnSpc>
              <a:spcBef>
                <a:spcPts val="575"/>
              </a:spcBef>
              <a:buFont typeface="Wingdings"/>
              <a:buChar char=""/>
              <a:tabLst>
                <a:tab pos="338455" algn="l"/>
              </a:tabLst>
            </a:pP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Concepts</a:t>
            </a:r>
            <a:r>
              <a:rPr sz="2400" i="1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and</a:t>
            </a:r>
            <a:r>
              <a:rPr sz="2400" i="1" spc="-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notations</a:t>
            </a:r>
            <a:r>
              <a:rPr sz="2400" i="1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used</a:t>
            </a:r>
            <a:r>
              <a:rPr sz="2400" i="1" spc="-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400" i="1" spc="-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0F1141"/>
                </a:solidFill>
                <a:latin typeface="Arial"/>
                <a:cs typeface="Arial"/>
              </a:rPr>
              <a:t>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4832" y="6550152"/>
            <a:ext cx="7059295" cy="48895"/>
            <a:chOff x="2084832" y="6550152"/>
            <a:chExt cx="705929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9816" y="6550152"/>
              <a:ext cx="2234565" cy="45720"/>
            </a:xfrm>
            <a:custGeom>
              <a:avLst/>
              <a:gdLst/>
              <a:ahLst/>
              <a:cxnLst/>
              <a:rect l="l" t="t" r="r" b="b"/>
              <a:pathLst>
                <a:path w="2234565" h="45720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2" y="6550152"/>
              <a:ext cx="2581910" cy="48895"/>
            </a:xfrm>
            <a:custGeom>
              <a:avLst/>
              <a:gdLst/>
              <a:ahLst/>
              <a:cxnLst/>
              <a:rect l="l" t="t" r="r" b="b"/>
              <a:pathLst>
                <a:path w="2581910" h="48895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1" name="object 11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39846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Introduction</a:t>
            </a:r>
            <a:r>
              <a:rPr spc="-345" dirty="0"/>
              <a:t> </a:t>
            </a:r>
            <a:r>
              <a:rPr spc="-85" dirty="0"/>
              <a:t>to</a:t>
            </a:r>
            <a:r>
              <a:rPr spc="-240" dirty="0"/>
              <a:t> </a:t>
            </a:r>
            <a:r>
              <a:rPr spc="-55" dirty="0"/>
              <a:t>EER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7" name="object 17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5" name="object 15"/>
          <p:cNvSpPr txBox="1"/>
          <p:nvPr/>
        </p:nvSpPr>
        <p:spPr>
          <a:xfrm>
            <a:off x="764844" y="1398854"/>
            <a:ext cx="7463790" cy="493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943735"/>
                </a:solidFill>
                <a:latin typeface="Arial"/>
                <a:cs typeface="Arial"/>
              </a:rPr>
              <a:t>Why</a:t>
            </a:r>
            <a:r>
              <a:rPr sz="1800" b="1" i="1" spc="-25" dirty="0">
                <a:solidFill>
                  <a:srgbClr val="943735"/>
                </a:solidFill>
                <a:latin typeface="Arial"/>
                <a:cs typeface="Arial"/>
              </a:rPr>
              <a:t> EER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Arial"/>
              <a:cs typeface="Arial"/>
            </a:endParaRPr>
          </a:p>
          <a:p>
            <a:pPr marL="469900" marR="181610">
              <a:lnSpc>
                <a:spcPct val="100000"/>
              </a:lnSpc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Some</a:t>
            </a:r>
            <a:r>
              <a:rPr sz="20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applications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like</a:t>
            </a:r>
            <a:r>
              <a:rPr sz="20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17375E"/>
                </a:solidFill>
                <a:latin typeface="Arial"/>
                <a:cs typeface="Arial"/>
              </a:rPr>
              <a:t>–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GIS,</a:t>
            </a:r>
            <a:r>
              <a:rPr sz="20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CAD/CAM,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Telecommunication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Have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more</a:t>
            </a:r>
            <a:r>
              <a:rPr sz="20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complex</a:t>
            </a:r>
            <a:r>
              <a:rPr sz="20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requirements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than</a:t>
            </a:r>
            <a:r>
              <a:rPr sz="20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normal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database applications.</a:t>
            </a:r>
            <a:endParaRPr sz="2000">
              <a:latin typeface="Arial"/>
              <a:cs typeface="Arial"/>
            </a:endParaRPr>
          </a:p>
          <a:p>
            <a:pPr marL="469900" marR="140970">
              <a:lnSpc>
                <a:spcPct val="100000"/>
              </a:lnSpc>
              <a:spcBef>
                <a:spcPts val="5"/>
              </a:spcBef>
            </a:pPr>
            <a:r>
              <a:rPr sz="2000" spc="-11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0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meet</a:t>
            </a:r>
            <a:r>
              <a:rPr sz="20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requirements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additional</a:t>
            </a:r>
            <a:r>
              <a:rPr sz="2000" spc="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modeling</a:t>
            </a:r>
            <a:r>
              <a:rPr sz="20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concepts</a:t>
            </a:r>
            <a:r>
              <a:rPr sz="20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17375E"/>
                </a:solidFill>
                <a:latin typeface="Arial"/>
                <a:cs typeface="Arial"/>
              </a:rPr>
              <a:t>were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incorporated</a:t>
            </a:r>
            <a:r>
              <a:rPr sz="20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into</a:t>
            </a:r>
            <a:r>
              <a:rPr sz="20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Conceptual</a:t>
            </a:r>
            <a:r>
              <a:rPr sz="20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data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modeling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such</a:t>
            </a:r>
            <a:r>
              <a:rPr sz="20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as</a:t>
            </a:r>
            <a:r>
              <a:rPr sz="20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7375E"/>
                </a:solidFill>
                <a:latin typeface="Arial"/>
                <a:cs typeface="Arial"/>
              </a:rPr>
              <a:t>ER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modeling.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155"/>
              </a:lnSpc>
              <a:spcBef>
                <a:spcPts val="10"/>
              </a:spcBef>
              <a:tabLst>
                <a:tab pos="2439035" algn="l"/>
              </a:tabLst>
            </a:pP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The result</a:t>
            </a:r>
            <a:r>
              <a:rPr sz="18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18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17375E"/>
                </a:solidFill>
                <a:latin typeface="Arial"/>
                <a:cs typeface="Arial"/>
              </a:rPr>
              <a:t>EER,</a:t>
            </a: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	stands</a:t>
            </a:r>
            <a:r>
              <a:rPr sz="18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7375E"/>
                </a:solidFill>
                <a:latin typeface="Arial"/>
                <a:cs typeface="Arial"/>
              </a:rPr>
              <a:t>for</a:t>
            </a:r>
            <a:endParaRPr sz="1800">
              <a:latin typeface="Arial"/>
              <a:cs typeface="Arial"/>
            </a:endParaRPr>
          </a:p>
          <a:p>
            <a:pPr marL="539750">
              <a:lnSpc>
                <a:spcPts val="2395"/>
              </a:lnSpc>
            </a:pPr>
            <a:r>
              <a:rPr sz="2000" i="1" dirty="0">
                <a:solidFill>
                  <a:srgbClr val="943735"/>
                </a:solidFill>
                <a:latin typeface="Arial"/>
                <a:cs typeface="Arial"/>
              </a:rPr>
              <a:t>Extended</a:t>
            </a:r>
            <a:r>
              <a:rPr sz="2000" i="1" spc="-4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943735"/>
                </a:solidFill>
                <a:latin typeface="Arial"/>
                <a:cs typeface="Arial"/>
              </a:rPr>
              <a:t>ER</a:t>
            </a:r>
            <a:r>
              <a:rPr sz="2000" i="1" spc="-6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943735"/>
                </a:solidFill>
                <a:latin typeface="Arial"/>
                <a:cs typeface="Arial"/>
              </a:rPr>
              <a:t>modeling</a:t>
            </a:r>
            <a:r>
              <a:rPr sz="2000" i="1" spc="-6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943735"/>
                </a:solidFill>
                <a:latin typeface="Arial"/>
                <a:cs typeface="Arial"/>
              </a:rPr>
              <a:t>Enhanced</a:t>
            </a:r>
            <a:r>
              <a:rPr sz="2000" i="1" spc="-3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943735"/>
                </a:solidFill>
                <a:latin typeface="Arial"/>
                <a:cs typeface="Arial"/>
              </a:rPr>
              <a:t>ER</a:t>
            </a:r>
            <a:r>
              <a:rPr sz="2000" i="1" spc="-6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943735"/>
                </a:solidFill>
                <a:latin typeface="Arial"/>
                <a:cs typeface="Arial"/>
              </a:rPr>
              <a:t>modeling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60100"/>
              </a:lnSpc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0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additional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EER</a:t>
            </a:r>
            <a:r>
              <a:rPr sz="20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concepts</a:t>
            </a:r>
            <a:r>
              <a:rPr sz="20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20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used</a:t>
            </a:r>
            <a:r>
              <a:rPr sz="20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0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model</a:t>
            </a:r>
            <a:r>
              <a:rPr sz="2000" spc="-9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applications</a:t>
            </a:r>
            <a:r>
              <a:rPr sz="2000" spc="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17375E"/>
                </a:solidFill>
                <a:latin typeface="Arial"/>
                <a:cs typeface="Arial"/>
              </a:rPr>
              <a:t>more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completely</a:t>
            </a:r>
            <a:r>
              <a:rPr sz="20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0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more</a:t>
            </a:r>
            <a:r>
              <a:rPr sz="20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accurately.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2000">
              <a:latin typeface="Arial"/>
              <a:cs typeface="Arial"/>
            </a:endParaRPr>
          </a:p>
          <a:p>
            <a:pPr marL="469900" marR="919480">
              <a:lnSpc>
                <a:spcPct val="80000"/>
              </a:lnSpc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EER</a:t>
            </a:r>
            <a:r>
              <a:rPr sz="20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includes</a:t>
            </a:r>
            <a:r>
              <a:rPr sz="20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some</a:t>
            </a:r>
            <a:r>
              <a:rPr sz="20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object-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oriented</a:t>
            </a:r>
            <a:r>
              <a:rPr sz="20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concepts,</a:t>
            </a:r>
            <a:r>
              <a:rPr sz="20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such</a:t>
            </a:r>
            <a:r>
              <a:rPr sz="20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7375E"/>
                </a:solidFill>
                <a:latin typeface="Arial"/>
                <a:cs typeface="Arial"/>
              </a:rPr>
              <a:t>as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inheritance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4832" y="6550152"/>
            <a:ext cx="7059295" cy="48895"/>
            <a:chOff x="2084832" y="6550152"/>
            <a:chExt cx="705929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9816" y="6550152"/>
              <a:ext cx="2234565" cy="45720"/>
            </a:xfrm>
            <a:custGeom>
              <a:avLst/>
              <a:gdLst/>
              <a:ahLst/>
              <a:cxnLst/>
              <a:rect l="l" t="t" r="r" b="b"/>
              <a:pathLst>
                <a:path w="2234565" h="45720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2" y="6550152"/>
              <a:ext cx="2581910" cy="48895"/>
            </a:xfrm>
            <a:custGeom>
              <a:avLst/>
              <a:gdLst/>
              <a:ahLst/>
              <a:cxnLst/>
              <a:rect l="l" t="t" r="r" b="b"/>
              <a:pathLst>
                <a:path w="2581910" h="48895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1" name="object 11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917244" y="1404950"/>
            <a:ext cx="252857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0" dirty="0">
                <a:solidFill>
                  <a:srgbClr val="943735"/>
                </a:solidFill>
                <a:latin typeface="Arial"/>
                <a:cs typeface="Arial"/>
              </a:rPr>
              <a:t>Additional</a:t>
            </a:r>
            <a:r>
              <a:rPr sz="2200" b="0" spc="-9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200" b="0" spc="-10" dirty="0">
                <a:solidFill>
                  <a:srgbClr val="943735"/>
                </a:solidFill>
                <a:latin typeface="Arial"/>
                <a:cs typeface="Arial"/>
              </a:rPr>
              <a:t>concepts: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7" name="object 17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5" name="object 15"/>
          <p:cNvSpPr txBox="1"/>
          <p:nvPr/>
        </p:nvSpPr>
        <p:spPr>
          <a:xfrm>
            <a:off x="917244" y="2219706"/>
            <a:ext cx="4892675" cy="1818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6745" indent="-1568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Char char="•"/>
              <a:tabLst>
                <a:tab pos="62674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Subclasses/super</a:t>
            </a:r>
            <a:r>
              <a:rPr sz="20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classes</a:t>
            </a:r>
            <a:endParaRPr sz="2000">
              <a:latin typeface="Arial"/>
              <a:cs typeface="Arial"/>
            </a:endParaRPr>
          </a:p>
          <a:p>
            <a:pPr marL="626745" indent="-156845">
              <a:lnSpc>
                <a:spcPct val="100000"/>
              </a:lnSpc>
              <a:spcBef>
                <a:spcPts val="1440"/>
              </a:spcBef>
              <a:buChar char="•"/>
              <a:tabLst>
                <a:tab pos="626745" algn="l"/>
              </a:tabLst>
            </a:pP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Specialization/generalization</a:t>
            </a:r>
            <a:endParaRPr sz="2000">
              <a:latin typeface="Arial"/>
              <a:cs typeface="Arial"/>
            </a:endParaRPr>
          </a:p>
          <a:p>
            <a:pPr marL="611505" indent="-141605">
              <a:lnSpc>
                <a:spcPct val="100000"/>
              </a:lnSpc>
              <a:spcBef>
                <a:spcPts val="1585"/>
              </a:spcBef>
              <a:buChar char="•"/>
              <a:tabLst>
                <a:tab pos="611505" algn="l"/>
                <a:tab pos="362902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r>
              <a:rPr sz="20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0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Inheritance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These</a:t>
            </a:r>
            <a:r>
              <a:rPr sz="18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1800" spc="-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fundamental</a:t>
            </a:r>
            <a:r>
              <a:rPr sz="18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7375E"/>
                </a:solidFill>
                <a:latin typeface="Arial"/>
                <a:cs typeface="Arial"/>
              </a:rPr>
              <a:t>conceptual</a:t>
            </a:r>
            <a:r>
              <a:rPr sz="18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7375E"/>
                </a:solidFill>
                <a:latin typeface="Arial"/>
                <a:cs typeface="Arial"/>
              </a:rPr>
              <a:t>modeling.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4832" y="6550152"/>
            <a:ext cx="7059295" cy="48895"/>
            <a:chOff x="2084832" y="6550152"/>
            <a:chExt cx="705929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9816" y="6550152"/>
              <a:ext cx="2234565" cy="45720"/>
            </a:xfrm>
            <a:custGeom>
              <a:avLst/>
              <a:gdLst/>
              <a:ahLst/>
              <a:cxnLst/>
              <a:rect l="l" t="t" r="r" b="b"/>
              <a:pathLst>
                <a:path w="2234565" h="45720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2" y="6550152"/>
              <a:ext cx="2581910" cy="48895"/>
            </a:xfrm>
            <a:custGeom>
              <a:avLst/>
              <a:gdLst/>
              <a:ahLst/>
              <a:cxnLst/>
              <a:rect l="l" t="t" r="r" b="b"/>
              <a:pathLst>
                <a:path w="2581910" h="48895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1" name="object 11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38436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Subclasses</a:t>
            </a:r>
            <a:r>
              <a:rPr spc="-295" dirty="0"/>
              <a:t> </a:t>
            </a:r>
            <a:r>
              <a:rPr spc="-75" dirty="0"/>
              <a:t>in</a:t>
            </a:r>
            <a:r>
              <a:rPr spc="-270" dirty="0"/>
              <a:t> </a:t>
            </a:r>
            <a:r>
              <a:rPr spc="-65" dirty="0"/>
              <a:t>EER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0044" y="1237421"/>
            <a:ext cx="7839075" cy="144081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50"/>
              </a:spcBef>
            </a:pP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Subclass</a:t>
            </a:r>
            <a:r>
              <a:rPr sz="2400" spc="-5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400" spc="-4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an</a:t>
            </a:r>
            <a:r>
              <a:rPr sz="2400" spc="-4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43735"/>
                </a:solidFill>
                <a:latin typeface="Arial"/>
                <a:cs typeface="Arial"/>
              </a:rPr>
              <a:t>Entity</a:t>
            </a:r>
            <a:r>
              <a:rPr sz="2400" spc="-6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943735"/>
                </a:solidFill>
                <a:latin typeface="Arial"/>
                <a:cs typeface="Arial"/>
              </a:rPr>
              <a:t>type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spc="-155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type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17375E"/>
                </a:solidFill>
                <a:latin typeface="Arial"/>
                <a:cs typeface="Arial"/>
              </a:rPr>
              <a:t>may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17375E"/>
                </a:solidFill>
                <a:latin typeface="Arial"/>
                <a:cs typeface="Arial"/>
              </a:rPr>
              <a:t>have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additional</a:t>
            </a:r>
            <a:r>
              <a:rPr sz="24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17375E"/>
                </a:solidFill>
                <a:latin typeface="Arial"/>
                <a:cs typeface="Arial"/>
              </a:rPr>
              <a:t>meaningful</a:t>
            </a:r>
            <a:r>
              <a:rPr sz="24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subgroupings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its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entities.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6" name="object 16" descr="fig04_0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2519573"/>
            <a:ext cx="5329577" cy="3805026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18051"/>
            <a:ext cx="8136890" cy="47821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455"/>
              </a:spcBef>
              <a:buChar char="•"/>
              <a:tabLst>
                <a:tab pos="356870" algn="l"/>
              </a:tabLst>
            </a:pPr>
            <a:r>
              <a:rPr sz="2400" spc="-195" dirty="0">
                <a:solidFill>
                  <a:srgbClr val="17375E"/>
                </a:solidFill>
                <a:latin typeface="Arial"/>
                <a:cs typeface="Arial"/>
              </a:rPr>
              <a:t>These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2400" spc="-9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called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45" dirty="0">
                <a:solidFill>
                  <a:srgbClr val="17375E"/>
                </a:solidFill>
                <a:latin typeface="Arial"/>
                <a:cs typeface="Arial"/>
              </a:rPr>
              <a:t>superclass/subclass</a:t>
            </a:r>
            <a:r>
              <a:rPr sz="24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relationships</a:t>
            </a:r>
            <a:endParaRPr sz="2400">
              <a:latin typeface="Arial"/>
              <a:cs typeface="Arial"/>
            </a:endParaRPr>
          </a:p>
          <a:p>
            <a:pPr marL="356870" marR="306070" indent="-344805">
              <a:lnSpc>
                <a:spcPct val="90100"/>
              </a:lnSpc>
              <a:spcBef>
                <a:spcPts val="645"/>
              </a:spcBef>
              <a:buChar char="•"/>
              <a:tabLst>
                <a:tab pos="356870" algn="l"/>
              </a:tabLst>
            </a:pP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Note:</a:t>
            </a:r>
            <a:r>
              <a:rPr sz="24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that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member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subclass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represents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same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real-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world</a:t>
            </a:r>
            <a:r>
              <a:rPr sz="2400" spc="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as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some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member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the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superclass:</a:t>
            </a:r>
            <a:endParaRPr sz="2400">
              <a:latin typeface="Arial"/>
              <a:cs typeface="Arial"/>
            </a:endParaRPr>
          </a:p>
          <a:p>
            <a:pPr marL="812800" marR="245110" lvl="1" indent="-343535">
              <a:lnSpc>
                <a:spcPts val="2590"/>
              </a:lnSpc>
              <a:spcBef>
                <a:spcPts val="620"/>
              </a:spcBef>
              <a:buFont typeface="Wingdings"/>
              <a:buChar char=""/>
              <a:tabLst>
                <a:tab pos="814069" algn="l"/>
              </a:tabLst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subclass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member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same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17375E"/>
                </a:solidFill>
                <a:latin typeface="Arial"/>
                <a:cs typeface="Arial"/>
              </a:rPr>
              <a:t>distinct 	</a:t>
            </a:r>
            <a:r>
              <a:rPr sz="2400" i="1" dirty="0">
                <a:solidFill>
                  <a:srgbClr val="17375E"/>
                </a:solidFill>
                <a:latin typeface="Arial"/>
                <a:cs typeface="Arial"/>
              </a:rPr>
              <a:t>specific</a:t>
            </a:r>
            <a:r>
              <a:rPr sz="2400" i="1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17375E"/>
                </a:solidFill>
                <a:latin typeface="Arial"/>
                <a:cs typeface="Arial"/>
              </a:rPr>
              <a:t>role</a:t>
            </a:r>
            <a:endParaRPr sz="2400">
              <a:latin typeface="Arial"/>
              <a:cs typeface="Arial"/>
            </a:endParaRPr>
          </a:p>
          <a:p>
            <a:pPr marL="812800" marR="5080" lvl="1" indent="-343535">
              <a:lnSpc>
                <a:spcPct val="90100"/>
              </a:lnSpc>
              <a:spcBef>
                <a:spcPts val="540"/>
              </a:spcBef>
              <a:buFont typeface="Wingdings"/>
              <a:buChar char=""/>
              <a:tabLst>
                <a:tab pos="814069" algn="l"/>
              </a:tabLst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cannot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exist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database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merely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by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being 	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member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subclass;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it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must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also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be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member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of 	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superclass</a:t>
            </a:r>
            <a:endParaRPr sz="2400">
              <a:latin typeface="Arial"/>
              <a:cs typeface="Arial"/>
            </a:endParaRPr>
          </a:p>
          <a:p>
            <a:pPr marL="814069" marR="1156970" lvl="1" indent="-344805">
              <a:lnSpc>
                <a:spcPts val="2590"/>
              </a:lnSpc>
              <a:spcBef>
                <a:spcPts val="615"/>
              </a:spcBef>
              <a:buFont typeface="Wingdings"/>
              <a:buChar char=""/>
              <a:tabLst>
                <a:tab pos="814069" algn="l"/>
              </a:tabLst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member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superclass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can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be</a:t>
            </a:r>
            <a:r>
              <a:rPr sz="240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optionally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included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member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any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number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its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subclasses</a:t>
            </a:r>
            <a:endParaRPr sz="24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400"/>
              </a:spcBef>
            </a:pPr>
            <a:r>
              <a:rPr sz="2400" spc="-25" dirty="0">
                <a:solidFill>
                  <a:srgbClr val="943735"/>
                </a:solidFill>
                <a:latin typeface="Arial"/>
                <a:cs typeface="Arial"/>
              </a:rPr>
              <a:t>Attribute</a:t>
            </a:r>
            <a:r>
              <a:rPr sz="2400" spc="-16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943735"/>
                </a:solidFill>
                <a:latin typeface="Arial"/>
                <a:cs typeface="Arial"/>
              </a:rPr>
              <a:t>Inheritance</a:t>
            </a:r>
            <a:r>
              <a:rPr sz="2400" spc="-14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943735"/>
                </a:solidFill>
                <a:latin typeface="Arial"/>
                <a:cs typeface="Arial"/>
              </a:rPr>
              <a:t>in</a:t>
            </a:r>
            <a:r>
              <a:rPr sz="2400" spc="-9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180" dirty="0">
                <a:solidFill>
                  <a:srgbClr val="943735"/>
                </a:solidFill>
                <a:latin typeface="Arial"/>
                <a:cs typeface="Arial"/>
              </a:rPr>
              <a:t>Superclass</a:t>
            </a:r>
            <a:r>
              <a:rPr sz="2400" spc="-12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254" dirty="0">
                <a:solidFill>
                  <a:srgbClr val="943735"/>
                </a:solidFill>
                <a:latin typeface="Arial"/>
                <a:cs typeface="Arial"/>
              </a:rPr>
              <a:t>/</a:t>
            </a:r>
            <a:r>
              <a:rPr sz="2400" spc="-9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204" dirty="0">
                <a:solidFill>
                  <a:srgbClr val="943735"/>
                </a:solidFill>
                <a:latin typeface="Arial"/>
                <a:cs typeface="Arial"/>
              </a:rPr>
              <a:t>Subclass</a:t>
            </a:r>
            <a:r>
              <a:rPr sz="2400" spc="-10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943735"/>
                </a:solidFill>
                <a:latin typeface="Arial"/>
                <a:cs typeface="Arial"/>
              </a:rPr>
              <a:t>Relationships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4832" y="6550152"/>
            <a:ext cx="7059295" cy="48895"/>
            <a:chOff x="2084832" y="6550152"/>
            <a:chExt cx="705929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9816" y="6550152"/>
              <a:ext cx="2234565" cy="45720"/>
            </a:xfrm>
            <a:custGeom>
              <a:avLst/>
              <a:gdLst/>
              <a:ahLst/>
              <a:cxnLst/>
              <a:rect l="l" t="t" r="r" b="b"/>
              <a:pathLst>
                <a:path w="2234565" h="45720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2" y="6550152"/>
              <a:ext cx="2581910" cy="48895"/>
            </a:xfrm>
            <a:custGeom>
              <a:avLst/>
              <a:gdLst/>
              <a:ahLst/>
              <a:cxnLst/>
              <a:rect l="l" t="t" r="r" b="b"/>
              <a:pathLst>
                <a:path w="2581910" h="48895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1" name="object 11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6016" y="1838019"/>
            <a:ext cx="8409940" cy="2332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3970" algn="just">
              <a:lnSpc>
                <a:spcPct val="100000"/>
              </a:lnSpc>
              <a:spcBef>
                <a:spcPts val="110"/>
              </a:spcBef>
            </a:pPr>
            <a:r>
              <a:rPr sz="2800" i="1" spc="-140" dirty="0">
                <a:solidFill>
                  <a:srgbClr val="FF0000"/>
                </a:solidFill>
                <a:latin typeface="Arial"/>
                <a:cs typeface="Arial"/>
              </a:rPr>
              <a:t>Specialization</a:t>
            </a:r>
            <a:r>
              <a:rPr sz="2800" i="1" spc="-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is 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17375E"/>
                </a:solidFill>
                <a:latin typeface="Arial"/>
                <a:cs typeface="Arial"/>
              </a:rPr>
              <a:t>process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17375E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f</a:t>
            </a:r>
            <a:r>
              <a:rPr sz="2800" spc="-1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17375E"/>
                </a:solidFill>
                <a:latin typeface="Arial"/>
                <a:cs typeface="Arial"/>
              </a:rPr>
              <a:t>defining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17375E"/>
                </a:solidFill>
                <a:latin typeface="Arial"/>
                <a:cs typeface="Arial"/>
              </a:rPr>
              <a:t>set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17375E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f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17375E"/>
                </a:solidFill>
                <a:latin typeface="Arial"/>
                <a:cs typeface="Arial"/>
              </a:rPr>
              <a:t>subclasses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17375E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f</a:t>
            </a:r>
            <a:r>
              <a:rPr sz="2800" spc="-1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17375E"/>
                </a:solidFill>
                <a:latin typeface="Arial"/>
                <a:cs typeface="Arial"/>
              </a:rPr>
              <a:t>superclass.</a:t>
            </a:r>
            <a:endParaRPr sz="2800">
              <a:latin typeface="Arial"/>
              <a:cs typeface="Arial"/>
            </a:endParaRPr>
          </a:p>
          <a:p>
            <a:pPr marL="12700" marR="5080" algn="just">
              <a:lnSpc>
                <a:spcPct val="110000"/>
              </a:lnSpc>
              <a:spcBef>
                <a:spcPts val="340"/>
              </a:spcBef>
            </a:pPr>
            <a:r>
              <a:rPr sz="2800" i="1" spc="-135" dirty="0">
                <a:solidFill>
                  <a:srgbClr val="FF0000"/>
                </a:solidFill>
                <a:latin typeface="Arial"/>
                <a:cs typeface="Arial"/>
              </a:rPr>
              <a:t>Generalization</a:t>
            </a:r>
            <a:r>
              <a:rPr sz="2800"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800" spc="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17375E"/>
                </a:solidFill>
                <a:latin typeface="Arial"/>
                <a:cs typeface="Arial"/>
              </a:rPr>
              <a:t>reverse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8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specialization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17375E"/>
                </a:solidFill>
                <a:latin typeface="Arial"/>
                <a:cs typeface="Arial"/>
              </a:rPr>
              <a:t>process. </a:t>
            </a:r>
            <a:r>
              <a:rPr sz="2800" spc="-225" dirty="0">
                <a:solidFill>
                  <a:srgbClr val="17375E"/>
                </a:solidFill>
                <a:latin typeface="Arial"/>
                <a:cs typeface="Arial"/>
              </a:rPr>
              <a:t>Several</a:t>
            </a:r>
            <a:r>
              <a:rPr sz="2800" spc="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17375E"/>
                </a:solidFill>
                <a:latin typeface="Arial"/>
                <a:cs typeface="Arial"/>
              </a:rPr>
              <a:t>classes</a:t>
            </a:r>
            <a:r>
              <a:rPr sz="2800" spc="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with</a:t>
            </a:r>
            <a:r>
              <a:rPr sz="28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common</a:t>
            </a:r>
            <a:r>
              <a:rPr sz="2800" spc="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features</a:t>
            </a:r>
            <a:r>
              <a:rPr sz="2800" spc="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85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2800" spc="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17375E"/>
                </a:solidFill>
                <a:latin typeface="Arial"/>
                <a:cs typeface="Arial"/>
              </a:rPr>
              <a:t>generalized</a:t>
            </a:r>
            <a:r>
              <a:rPr sz="2800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into </a:t>
            </a:r>
            <a:r>
              <a:rPr sz="2800" spc="-225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17375E"/>
                </a:solidFill>
                <a:latin typeface="Arial"/>
                <a:cs typeface="Arial"/>
              </a:rPr>
              <a:t>superclass.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17375E"/>
                </a:solidFill>
                <a:latin typeface="Arial"/>
                <a:cs typeface="Arial"/>
              </a:rPr>
              <a:t>Original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17375E"/>
                </a:solidFill>
                <a:latin typeface="Arial"/>
                <a:cs typeface="Arial"/>
              </a:rPr>
              <a:t>classes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become</a:t>
            </a:r>
            <a:r>
              <a:rPr sz="28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17375E"/>
                </a:solidFill>
                <a:latin typeface="Arial"/>
                <a:cs typeface="Arial"/>
              </a:rPr>
              <a:t>its</a:t>
            </a:r>
            <a:r>
              <a:rPr sz="28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17375E"/>
                </a:solidFill>
                <a:latin typeface="Arial"/>
                <a:cs typeface="Arial"/>
              </a:rPr>
              <a:t>subclasses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7" name="object 17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43027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Specialization</a:t>
            </a:r>
            <a:r>
              <a:rPr spc="-300" dirty="0"/>
              <a:t> </a:t>
            </a:r>
            <a:r>
              <a:rPr spc="-75" dirty="0"/>
              <a:t>in</a:t>
            </a:r>
            <a:r>
              <a:rPr spc="-245" dirty="0"/>
              <a:t> </a:t>
            </a:r>
            <a:r>
              <a:rPr spc="-55" dirty="0"/>
              <a:t>EER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ig04_0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454166"/>
            <a:ext cx="6243218" cy="48704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ig04_0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230" y="1461233"/>
            <a:ext cx="7218854" cy="482921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4832" y="6550152"/>
            <a:ext cx="7059295" cy="48895"/>
            <a:chOff x="2084832" y="6550152"/>
            <a:chExt cx="705929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9816" y="6550152"/>
              <a:ext cx="2234565" cy="45720"/>
            </a:xfrm>
            <a:custGeom>
              <a:avLst/>
              <a:gdLst/>
              <a:ahLst/>
              <a:cxnLst/>
              <a:rect l="l" t="t" r="r" b="b"/>
              <a:pathLst>
                <a:path w="2234565" h="45720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2" y="6550152"/>
              <a:ext cx="2581910" cy="48895"/>
            </a:xfrm>
            <a:custGeom>
              <a:avLst/>
              <a:gdLst/>
              <a:ahLst/>
              <a:cxnLst/>
              <a:rect l="l" t="t" r="r" b="b"/>
              <a:pathLst>
                <a:path w="2581910" h="48895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1" name="object 11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Constraints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7" name="object 17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5" name="object 15"/>
          <p:cNvSpPr txBox="1"/>
          <p:nvPr/>
        </p:nvSpPr>
        <p:spPr>
          <a:xfrm>
            <a:off x="383540" y="1457325"/>
            <a:ext cx="5935980" cy="2026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spc="-250" dirty="0">
                <a:solidFill>
                  <a:srgbClr val="C0504D"/>
                </a:solidFill>
                <a:latin typeface="Arial"/>
                <a:cs typeface="Arial"/>
              </a:rPr>
              <a:t>Two</a:t>
            </a:r>
            <a:r>
              <a:rPr sz="3200" spc="-10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-195" dirty="0">
                <a:solidFill>
                  <a:srgbClr val="C0504D"/>
                </a:solidFill>
                <a:latin typeface="Arial"/>
                <a:cs typeface="Arial"/>
              </a:rPr>
              <a:t>basic</a:t>
            </a:r>
            <a:r>
              <a:rPr sz="3200" spc="-10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-125" dirty="0">
                <a:solidFill>
                  <a:srgbClr val="C0504D"/>
                </a:solidFill>
                <a:latin typeface="Arial"/>
                <a:cs typeface="Arial"/>
              </a:rPr>
              <a:t>constraints</a:t>
            </a:r>
            <a:r>
              <a:rPr sz="3200" spc="-10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-225" dirty="0">
                <a:solidFill>
                  <a:srgbClr val="C0504D"/>
                </a:solidFill>
                <a:latin typeface="Arial"/>
                <a:cs typeface="Arial"/>
              </a:rPr>
              <a:t>can</a:t>
            </a:r>
            <a:r>
              <a:rPr sz="3200" spc="-9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-125" dirty="0">
                <a:solidFill>
                  <a:srgbClr val="C0504D"/>
                </a:solidFill>
                <a:latin typeface="Arial"/>
                <a:cs typeface="Arial"/>
              </a:rPr>
              <a:t>apply</a:t>
            </a:r>
            <a:r>
              <a:rPr sz="3200" spc="-10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504D"/>
                </a:solidFill>
                <a:latin typeface="Arial"/>
                <a:cs typeface="Arial"/>
              </a:rPr>
              <a:t>to</a:t>
            </a:r>
            <a:r>
              <a:rPr sz="3200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-50" dirty="0">
                <a:solidFill>
                  <a:srgbClr val="C0504D"/>
                </a:solidFill>
                <a:latin typeface="Arial"/>
                <a:cs typeface="Arial"/>
              </a:rPr>
              <a:t>a </a:t>
            </a:r>
            <a:r>
              <a:rPr sz="3200" spc="-75" dirty="0">
                <a:solidFill>
                  <a:srgbClr val="C0504D"/>
                </a:solidFill>
                <a:latin typeface="Arial"/>
                <a:cs typeface="Arial"/>
              </a:rPr>
              <a:t>specialization/generalization:</a:t>
            </a:r>
            <a:endParaRPr sz="3200">
              <a:latin typeface="Arial"/>
              <a:cs typeface="Arial"/>
            </a:endParaRPr>
          </a:p>
          <a:p>
            <a:pPr marL="925830" indent="-455930">
              <a:lnSpc>
                <a:spcPct val="100000"/>
              </a:lnSpc>
              <a:spcBef>
                <a:spcPts val="690"/>
              </a:spcBef>
              <a:buFont typeface="Courier New"/>
              <a:buChar char="o"/>
              <a:tabLst>
                <a:tab pos="925830" algn="l"/>
              </a:tabLst>
            </a:pPr>
            <a:r>
              <a:rPr sz="2800" spc="-130" dirty="0">
                <a:latin typeface="Arial"/>
                <a:cs typeface="Arial"/>
              </a:rPr>
              <a:t>Disjointness </a:t>
            </a:r>
            <a:r>
              <a:rPr sz="2800" spc="-10" dirty="0">
                <a:latin typeface="Arial"/>
                <a:cs typeface="Arial"/>
              </a:rPr>
              <a:t>Constraint:</a:t>
            </a:r>
            <a:endParaRPr sz="2800">
              <a:latin typeface="Arial"/>
              <a:cs typeface="Arial"/>
            </a:endParaRPr>
          </a:p>
          <a:p>
            <a:pPr marL="925830" indent="-455930">
              <a:lnSpc>
                <a:spcPct val="100000"/>
              </a:lnSpc>
              <a:spcBef>
                <a:spcPts val="675"/>
              </a:spcBef>
              <a:buFont typeface="Courier New"/>
              <a:buChar char="o"/>
              <a:tabLst>
                <a:tab pos="925830" algn="l"/>
              </a:tabLst>
            </a:pPr>
            <a:r>
              <a:rPr sz="2800" spc="-170" dirty="0">
                <a:latin typeface="Arial"/>
                <a:cs typeface="Arial"/>
              </a:rPr>
              <a:t>Completeness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Constraint: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4832" y="6550152"/>
            <a:ext cx="7059295" cy="48895"/>
            <a:chOff x="2084832" y="6550152"/>
            <a:chExt cx="705929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9816" y="6550152"/>
              <a:ext cx="2234565" cy="45720"/>
            </a:xfrm>
            <a:custGeom>
              <a:avLst/>
              <a:gdLst/>
              <a:ahLst/>
              <a:cxnLst/>
              <a:rect l="l" t="t" r="r" b="b"/>
              <a:pathLst>
                <a:path w="2234565" h="45720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2" y="6550152"/>
              <a:ext cx="2581910" cy="48895"/>
            </a:xfrm>
            <a:custGeom>
              <a:avLst/>
              <a:gdLst/>
              <a:ahLst/>
              <a:cxnLst/>
              <a:rect l="l" t="t" r="r" b="b"/>
              <a:pathLst>
                <a:path w="2581910" h="48895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65532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8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1" name="object 11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60044" y="1533525"/>
            <a:ext cx="5179695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</a:pPr>
            <a:r>
              <a:rPr sz="3200" b="0" spc="-210" dirty="0">
                <a:solidFill>
                  <a:srgbClr val="C0504D"/>
                </a:solidFill>
                <a:latin typeface="Arial"/>
                <a:cs typeface="Arial"/>
              </a:rPr>
              <a:t>Hence,</a:t>
            </a:r>
            <a:r>
              <a:rPr sz="3200" b="0" spc="-1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spc="-140" dirty="0">
                <a:solidFill>
                  <a:srgbClr val="C0504D"/>
                </a:solidFill>
                <a:latin typeface="Arial"/>
                <a:cs typeface="Arial"/>
              </a:rPr>
              <a:t>we</a:t>
            </a:r>
            <a:r>
              <a:rPr sz="3200" b="0" spc="-15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spc="-204" dirty="0">
                <a:solidFill>
                  <a:srgbClr val="C0504D"/>
                </a:solidFill>
                <a:latin typeface="Arial"/>
                <a:cs typeface="Arial"/>
              </a:rPr>
              <a:t>have</a:t>
            </a:r>
            <a:r>
              <a:rPr sz="3200" b="0" spc="-13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spc="-35" dirty="0">
                <a:solidFill>
                  <a:srgbClr val="C0504D"/>
                </a:solidFill>
                <a:latin typeface="Arial"/>
                <a:cs typeface="Arial"/>
              </a:rPr>
              <a:t>four</a:t>
            </a:r>
            <a:r>
              <a:rPr sz="3200" b="0" spc="-135" dirty="0">
                <a:solidFill>
                  <a:srgbClr val="C0504D"/>
                </a:solidFill>
                <a:latin typeface="Arial"/>
                <a:cs typeface="Arial"/>
              </a:rPr>
              <a:t> types</a:t>
            </a:r>
            <a:r>
              <a:rPr sz="3200" b="0" spc="-14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spc="-25" dirty="0">
                <a:solidFill>
                  <a:srgbClr val="C0504D"/>
                </a:solidFill>
                <a:latin typeface="Arial"/>
                <a:cs typeface="Arial"/>
              </a:rPr>
              <a:t>of </a:t>
            </a:r>
            <a:r>
              <a:rPr sz="3200" b="0" spc="-110" dirty="0">
                <a:solidFill>
                  <a:srgbClr val="C0504D"/>
                </a:solidFill>
                <a:latin typeface="Arial"/>
                <a:cs typeface="Arial"/>
              </a:rPr>
              <a:t>specialization/generalization: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7" name="object 17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15" name="object 15"/>
          <p:cNvSpPr txBox="1"/>
          <p:nvPr/>
        </p:nvSpPr>
        <p:spPr>
          <a:xfrm>
            <a:off x="460044" y="2510292"/>
            <a:ext cx="7970520" cy="31457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927100" indent="-457200">
              <a:lnSpc>
                <a:spcPct val="100000"/>
              </a:lnSpc>
              <a:spcBef>
                <a:spcPts val="770"/>
              </a:spcBef>
              <a:buFont typeface="Wingdings"/>
              <a:buChar char=""/>
              <a:tabLst>
                <a:tab pos="927100" algn="l"/>
              </a:tabLst>
            </a:pPr>
            <a:r>
              <a:rPr sz="2800" spc="-80" dirty="0">
                <a:solidFill>
                  <a:srgbClr val="17375E"/>
                </a:solidFill>
                <a:latin typeface="Arial"/>
                <a:cs typeface="Arial"/>
              </a:rPr>
              <a:t>Disjoint,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total</a:t>
            </a:r>
            <a:endParaRPr sz="2800">
              <a:latin typeface="Arial"/>
              <a:cs typeface="Arial"/>
            </a:endParaRPr>
          </a:p>
          <a:p>
            <a:pPr marL="927100" indent="-457200">
              <a:lnSpc>
                <a:spcPct val="100000"/>
              </a:lnSpc>
              <a:spcBef>
                <a:spcPts val="675"/>
              </a:spcBef>
              <a:buFont typeface="Wingdings"/>
              <a:buChar char=""/>
              <a:tabLst>
                <a:tab pos="927100" algn="l"/>
              </a:tabLst>
            </a:pPr>
            <a:r>
              <a:rPr sz="2800" spc="-80" dirty="0">
                <a:solidFill>
                  <a:srgbClr val="17375E"/>
                </a:solidFill>
                <a:latin typeface="Arial"/>
                <a:cs typeface="Arial"/>
              </a:rPr>
              <a:t>Disjoint,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partial</a:t>
            </a:r>
            <a:endParaRPr sz="2800">
              <a:latin typeface="Arial"/>
              <a:cs typeface="Arial"/>
            </a:endParaRPr>
          </a:p>
          <a:p>
            <a:pPr marL="927100" indent="-457200">
              <a:lnSpc>
                <a:spcPct val="100000"/>
              </a:lnSpc>
              <a:spcBef>
                <a:spcPts val="675"/>
              </a:spcBef>
              <a:buFont typeface="Wingdings"/>
              <a:buChar char=""/>
              <a:tabLst>
                <a:tab pos="927100" algn="l"/>
              </a:tabLst>
            </a:pP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Overlapping,</a:t>
            </a:r>
            <a:r>
              <a:rPr sz="28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total</a:t>
            </a:r>
            <a:endParaRPr sz="2800">
              <a:latin typeface="Arial"/>
              <a:cs typeface="Arial"/>
            </a:endParaRPr>
          </a:p>
          <a:p>
            <a:pPr marL="927100" indent="-457200">
              <a:lnSpc>
                <a:spcPct val="100000"/>
              </a:lnSpc>
              <a:spcBef>
                <a:spcPts val="670"/>
              </a:spcBef>
              <a:buFont typeface="Wingdings"/>
              <a:buChar char=""/>
              <a:tabLst>
                <a:tab pos="927100" algn="l"/>
              </a:tabLst>
            </a:pP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Overlapping,</a:t>
            </a:r>
            <a:r>
              <a:rPr sz="28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partial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55"/>
              </a:spcBef>
            </a:pPr>
            <a:r>
              <a:rPr sz="3200" spc="-100" dirty="0">
                <a:solidFill>
                  <a:srgbClr val="17375E"/>
                </a:solidFill>
                <a:latin typeface="Arial"/>
                <a:cs typeface="Arial"/>
              </a:rPr>
              <a:t>Note:</a:t>
            </a:r>
            <a:r>
              <a:rPr sz="32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140" dirty="0">
                <a:solidFill>
                  <a:srgbClr val="17375E"/>
                </a:solidFill>
                <a:latin typeface="Arial"/>
                <a:cs typeface="Arial"/>
              </a:rPr>
              <a:t>Generalization</a:t>
            </a:r>
            <a:r>
              <a:rPr sz="32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135" dirty="0">
                <a:solidFill>
                  <a:srgbClr val="17375E"/>
                </a:solidFill>
                <a:latin typeface="Arial"/>
                <a:cs typeface="Arial"/>
              </a:rPr>
              <a:t>usually</a:t>
            </a:r>
            <a:r>
              <a:rPr sz="32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185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32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17375E"/>
                </a:solidFill>
                <a:latin typeface="Arial"/>
                <a:cs typeface="Arial"/>
              </a:rPr>
              <a:t>total</a:t>
            </a:r>
            <a:r>
              <a:rPr sz="32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225" dirty="0">
                <a:solidFill>
                  <a:srgbClr val="17375E"/>
                </a:solidFill>
                <a:latin typeface="Arial"/>
                <a:cs typeface="Arial"/>
              </a:rPr>
              <a:t>because</a:t>
            </a:r>
            <a:r>
              <a:rPr sz="32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17375E"/>
                </a:solidFill>
                <a:latin typeface="Arial"/>
                <a:cs typeface="Arial"/>
              </a:rPr>
              <a:t>the </a:t>
            </a:r>
            <a:r>
              <a:rPr sz="3200" spc="-210" dirty="0">
                <a:solidFill>
                  <a:srgbClr val="17375E"/>
                </a:solidFill>
                <a:latin typeface="Arial"/>
                <a:cs typeface="Arial"/>
              </a:rPr>
              <a:t>superclass</a:t>
            </a:r>
            <a:r>
              <a:rPr sz="32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185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32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110" dirty="0">
                <a:solidFill>
                  <a:srgbClr val="17375E"/>
                </a:solidFill>
                <a:latin typeface="Arial"/>
                <a:cs typeface="Arial"/>
              </a:rPr>
              <a:t>derived</a:t>
            </a:r>
            <a:r>
              <a:rPr sz="32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40" dirty="0">
                <a:solidFill>
                  <a:srgbClr val="17375E"/>
                </a:solidFill>
                <a:latin typeface="Arial"/>
                <a:cs typeface="Arial"/>
              </a:rPr>
              <a:t>from</a:t>
            </a:r>
            <a:r>
              <a:rPr sz="32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32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3200" spc="-114" dirty="0">
                <a:solidFill>
                  <a:srgbClr val="17375E"/>
                </a:solidFill>
                <a:latin typeface="Arial"/>
                <a:cs typeface="Arial"/>
              </a:rPr>
              <a:t>subclasses.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ig04_0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159592"/>
            <a:ext cx="8298095" cy="38602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638" y="1361643"/>
            <a:ext cx="66700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229" dirty="0">
                <a:solidFill>
                  <a:srgbClr val="C0504D"/>
                </a:solidFill>
                <a:latin typeface="Arial"/>
                <a:cs typeface="Arial"/>
              </a:rPr>
              <a:t>Example</a:t>
            </a:r>
            <a:r>
              <a:rPr sz="3200" b="0" spc="-15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C0504D"/>
                </a:solidFill>
                <a:latin typeface="Arial"/>
                <a:cs typeface="Arial"/>
              </a:rPr>
              <a:t>of</a:t>
            </a:r>
            <a:r>
              <a:rPr sz="3200" b="0" spc="-16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spc="-60" dirty="0">
                <a:solidFill>
                  <a:srgbClr val="C0504D"/>
                </a:solidFill>
                <a:latin typeface="Arial"/>
                <a:cs typeface="Arial"/>
              </a:rPr>
              <a:t>disjoint</a:t>
            </a:r>
            <a:r>
              <a:rPr sz="3200" b="0" spc="-16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spc="-50" dirty="0">
                <a:solidFill>
                  <a:srgbClr val="C0504D"/>
                </a:solidFill>
                <a:latin typeface="Arial"/>
                <a:cs typeface="Arial"/>
              </a:rPr>
              <a:t>partial</a:t>
            </a:r>
            <a:r>
              <a:rPr sz="3200" b="0" spc="-14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b="0" spc="-120" dirty="0">
                <a:solidFill>
                  <a:srgbClr val="C0504D"/>
                </a:solidFill>
                <a:latin typeface="Arial"/>
                <a:cs typeface="Arial"/>
              </a:rPr>
              <a:t>Specialization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ig04_0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243" y="3048197"/>
            <a:ext cx="8509608" cy="235428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3540" y="1607566"/>
            <a:ext cx="683133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solidFill>
                  <a:srgbClr val="800000"/>
                </a:solidFill>
                <a:latin typeface="Arial"/>
                <a:cs typeface="Arial"/>
              </a:rPr>
              <a:t>Example</a:t>
            </a:r>
            <a:r>
              <a:rPr sz="2800" b="0" spc="-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800000"/>
                </a:solidFill>
                <a:latin typeface="Arial"/>
                <a:cs typeface="Arial"/>
              </a:rPr>
              <a:t>of</a:t>
            </a:r>
            <a:r>
              <a:rPr sz="2800" b="0" spc="-8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800000"/>
                </a:solidFill>
                <a:latin typeface="Arial"/>
                <a:cs typeface="Arial"/>
              </a:rPr>
              <a:t>overlapping</a:t>
            </a:r>
            <a:r>
              <a:rPr sz="2800" b="0" spc="-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800000"/>
                </a:solidFill>
                <a:latin typeface="Arial"/>
                <a:cs typeface="Arial"/>
              </a:rPr>
              <a:t>total</a:t>
            </a:r>
            <a:r>
              <a:rPr sz="2800" b="0" spc="-10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800000"/>
                </a:solidFill>
                <a:latin typeface="Arial"/>
                <a:cs typeface="Arial"/>
              </a:rPr>
              <a:t>Specialization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3587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Exercise</a:t>
            </a:r>
            <a:r>
              <a:rPr spc="-245" dirty="0"/>
              <a:t> </a:t>
            </a:r>
            <a:r>
              <a:rPr spc="-105" dirty="0"/>
              <a:t>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426209"/>
            <a:ext cx="8543290" cy="496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Q.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Assume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 capture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about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Non-</a:t>
            </a:r>
            <a:r>
              <a:rPr sz="1800" i="1" dirty="0">
                <a:latin typeface="Arial"/>
                <a:cs typeface="Arial"/>
              </a:rPr>
              <a:t>profit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organization</a:t>
            </a:r>
            <a:r>
              <a:rPr sz="1800" spc="-10" dirty="0">
                <a:latin typeface="Arial"/>
                <a:cs typeface="Arial"/>
              </a:rPr>
              <a:t>(NPO)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with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following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details/requirements.</a:t>
            </a:r>
            <a:endParaRPr sz="1800">
              <a:latin typeface="Arial"/>
              <a:cs typeface="Arial"/>
            </a:endParaRPr>
          </a:p>
          <a:p>
            <a:pPr marL="12700" marR="842010" indent="946785">
              <a:lnSpc>
                <a:spcPct val="100000"/>
              </a:lnSpc>
              <a:buAutoNum type="romanLcParenR"/>
              <a:tabLst>
                <a:tab pos="95948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NPO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depends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number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different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types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its </a:t>
            </a:r>
            <a:r>
              <a:rPr sz="1800" dirty="0">
                <a:latin typeface="Arial"/>
                <a:cs typeface="Arial"/>
              </a:rPr>
              <a:t>successful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operations.</a:t>
            </a:r>
            <a:endParaRPr sz="1800">
              <a:latin typeface="Arial"/>
              <a:cs typeface="Arial"/>
            </a:endParaRPr>
          </a:p>
          <a:p>
            <a:pPr marL="12700" marR="177800" indent="236220">
              <a:lnSpc>
                <a:spcPct val="100000"/>
              </a:lnSpc>
              <a:spcBef>
                <a:spcPts val="5"/>
              </a:spcBef>
              <a:buAutoNum type="romanLcParenR"/>
              <a:tabLst>
                <a:tab pos="248920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NPO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interested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following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attributes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person-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SSN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(identifier),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name, </a:t>
            </a:r>
            <a:r>
              <a:rPr sz="1800" dirty="0">
                <a:latin typeface="Arial"/>
                <a:cs typeface="Arial"/>
              </a:rPr>
              <a:t>address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(consists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house#/city/state/zip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components),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telephone.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AutoNum type="romanLcParenR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Three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types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great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NPO- employees,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volunteers,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donors.</a:t>
            </a:r>
            <a:endParaRPr sz="1800">
              <a:latin typeface="Arial"/>
              <a:cs typeface="Arial"/>
            </a:endParaRPr>
          </a:p>
          <a:p>
            <a:pPr marL="12700" marR="238760" indent="303530">
              <a:lnSpc>
                <a:spcPct val="100000"/>
              </a:lnSpc>
              <a:buAutoNum type="romanLcParenR" startAt="4"/>
              <a:tabLst>
                <a:tab pos="316230" algn="l"/>
              </a:tabLst>
            </a:pPr>
            <a:r>
              <a:rPr sz="1800" dirty="0">
                <a:latin typeface="Arial"/>
                <a:cs typeface="Arial"/>
              </a:rPr>
              <a:t>Employees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date_hired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attribute,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volunteers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skill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attribute,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donors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 donor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category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 specific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attribute.</a:t>
            </a:r>
            <a:endParaRPr sz="180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5"/>
              </a:spcBef>
              <a:buAutoNum type="romanLcParenR" startAt="4"/>
              <a:tabLst>
                <a:tab pos="329565" algn="l"/>
              </a:tabLst>
            </a:pPr>
            <a:r>
              <a:rPr sz="1800" dirty="0">
                <a:latin typeface="Arial"/>
                <a:cs typeface="Arial"/>
              </a:rPr>
              <a:t>Donors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specific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relationship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(called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Donates)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entity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type(assume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suitable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attributes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entity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type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including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key).</a:t>
            </a:r>
            <a:endParaRPr sz="1800">
              <a:latin typeface="Arial"/>
              <a:cs typeface="Arial"/>
            </a:endParaRPr>
          </a:p>
          <a:p>
            <a:pPr marL="12700" marR="5080" indent="291465">
              <a:lnSpc>
                <a:spcPct val="100000"/>
              </a:lnSpc>
              <a:buAutoNum type="romanLcParenR" startAt="6"/>
              <a:tabLst>
                <a:tab pos="304165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donor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donated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 may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donors, </a:t>
            </a:r>
            <a:r>
              <a:rPr sz="1800" dirty="0">
                <a:latin typeface="Arial"/>
                <a:cs typeface="Arial"/>
              </a:rPr>
              <a:t>or one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 more</a:t>
            </a:r>
            <a:r>
              <a:rPr sz="1800" spc="-10" dirty="0">
                <a:latin typeface="Arial"/>
                <a:cs typeface="Arial"/>
              </a:rPr>
              <a:t> donors.</a:t>
            </a:r>
            <a:endParaRPr sz="1800">
              <a:latin typeface="Arial"/>
              <a:cs typeface="Arial"/>
            </a:endParaRPr>
          </a:p>
          <a:p>
            <a:pPr marL="12700" marR="455930" indent="349250">
              <a:lnSpc>
                <a:spcPct val="100000"/>
              </a:lnSpc>
              <a:buAutoNum type="romanLcParenR" startAt="6"/>
              <a:tabLst>
                <a:tab pos="361950" algn="l"/>
              </a:tabLst>
            </a:pPr>
            <a:r>
              <a:rPr sz="1800" dirty="0">
                <a:latin typeface="Arial"/>
                <a:cs typeface="Arial"/>
              </a:rPr>
              <a:t>There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other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employees,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volunteers,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donors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who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 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NPO,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need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belong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 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these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three </a:t>
            </a:r>
            <a:r>
              <a:rPr sz="1800" dirty="0">
                <a:latin typeface="Arial"/>
                <a:cs typeface="Arial"/>
              </a:rPr>
              <a:t>types/groups.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other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hand,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given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belong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two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or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above</a:t>
            </a:r>
            <a:r>
              <a:rPr sz="1800" spc="-10" dirty="0">
                <a:latin typeface="Arial"/>
                <a:cs typeface="Arial"/>
              </a:rPr>
              <a:t> groups.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50975" y="2015108"/>
            <a:ext cx="23399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solidFill>
                  <a:srgbClr val="17375E"/>
                </a:solidFill>
                <a:latin typeface="Arial"/>
                <a:cs typeface="Arial"/>
              </a:rPr>
              <a:t>We</a:t>
            </a:r>
            <a:r>
              <a:rPr sz="2800" b="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17375E"/>
                </a:solidFill>
                <a:latin typeface="Arial"/>
                <a:cs typeface="Arial"/>
              </a:rPr>
              <a:t>discussed: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3890009" y="6641897"/>
            <a:ext cx="85788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Dr.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R.Gururaj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450975" y="2631186"/>
            <a:ext cx="4638675" cy="2298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Wingdings"/>
              <a:buChar char=""/>
              <a:tabLst>
                <a:tab pos="356870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What</a:t>
            </a:r>
            <a:r>
              <a:rPr sz="20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000" spc="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7375E"/>
                </a:solidFill>
                <a:latin typeface="Arial"/>
                <a:cs typeface="Arial"/>
              </a:rPr>
              <a:t>EER</a:t>
            </a:r>
            <a:endParaRPr sz="20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623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Subclasses/super</a:t>
            </a:r>
            <a:r>
              <a:rPr sz="20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classes</a:t>
            </a:r>
            <a:endParaRPr sz="20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6870" algn="l"/>
              </a:tabLst>
            </a:pP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Specialization/generalization</a:t>
            </a:r>
            <a:endParaRPr sz="20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6870" algn="l"/>
                <a:tab pos="3375025" algn="l"/>
              </a:tabLst>
            </a:pP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Attribute</a:t>
            </a:r>
            <a:r>
              <a:rPr sz="20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000" spc="-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sz="2000" dirty="0">
                <a:solidFill>
                  <a:srgbClr val="17375E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Inheritance</a:t>
            </a:r>
            <a:endParaRPr sz="20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1585"/>
              </a:spcBef>
              <a:buFont typeface="Wingdings"/>
              <a:buChar char=""/>
              <a:tabLst>
                <a:tab pos="356235" algn="l"/>
              </a:tabLst>
            </a:pP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Participation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11" ma:contentTypeDescription="Create a new document." ma:contentTypeScope="" ma:versionID="d3cd38d02b6adb00a379bc58ed8af54a">
  <xsd:schema xmlns:xsd="http://www.w3.org/2001/XMLSchema" xmlns:xs="http://www.w3.org/2001/XMLSchema" xmlns:p="http://schemas.microsoft.com/office/2006/metadata/properties" xmlns:ns2="e1b5d412-63f5-4184-9493-34a8c46e02de" xmlns:ns3="385a44b4-34aa-45df-8ce2-c9f8500b9889" targetNamespace="http://schemas.microsoft.com/office/2006/metadata/properties" ma:root="true" ma:fieldsID="791b1ac97928cf4b25cdaf1896da24a8" ns2:_="" ns3:_="">
    <xsd:import namespace="e1b5d412-63f5-4184-9493-34a8c46e02de"/>
    <xsd:import namespace="385a44b4-34aa-45df-8ce2-c9f8500b98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a44b4-34aa-45df-8ce2-c9f8500b988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b4e7dd7-dbd6-4d13-8f22-69445e1d5abb}" ma:internalName="TaxCatchAll" ma:showField="CatchAllData" ma:web="385a44b4-34aa-45df-8ce2-c9f8500b98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b5d412-63f5-4184-9493-34a8c46e02de">
      <Terms xmlns="http://schemas.microsoft.com/office/infopath/2007/PartnerControls"/>
    </lcf76f155ced4ddcb4097134ff3c332f>
    <TaxCatchAll xmlns="385a44b4-34aa-45df-8ce2-c9f8500b9889" xsi:nil="true"/>
  </documentManagement>
</p:properties>
</file>

<file path=customXml/itemProps1.xml><?xml version="1.0" encoding="utf-8"?>
<ds:datastoreItem xmlns:ds="http://schemas.openxmlformats.org/officeDocument/2006/customXml" ds:itemID="{46E01A0C-8E57-4741-9137-D49966E38BF1}"/>
</file>

<file path=customXml/itemProps2.xml><?xml version="1.0" encoding="utf-8"?>
<ds:datastoreItem xmlns:ds="http://schemas.openxmlformats.org/officeDocument/2006/customXml" ds:itemID="{2C9C1F1D-16CB-41F0-A568-AA61B5FBBF1B}"/>
</file>

<file path=customXml/itemProps3.xml><?xml version="1.0" encoding="utf-8"?>
<ds:datastoreItem xmlns:ds="http://schemas.openxmlformats.org/officeDocument/2006/customXml" ds:itemID="{EDBAB1F0-F97D-46D7-BA61-09A8E29E342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1592</Words>
  <Application>Microsoft Macintosh PowerPoint</Application>
  <PresentationFormat>On-screen Show (4:3)</PresentationFormat>
  <Paragraphs>261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Courier New</vt:lpstr>
      <vt:lpstr>Times New Roman</vt:lpstr>
      <vt:lpstr>Wingdings</vt:lpstr>
      <vt:lpstr>Office Theme</vt:lpstr>
      <vt:lpstr>PowerPoint Presentation</vt:lpstr>
      <vt:lpstr>Conceptual Database Design (ER Modeling) Ch.7</vt:lpstr>
      <vt:lpstr>Major Steps in Database Design Process</vt:lpstr>
      <vt:lpstr>ER Modeling</vt:lpstr>
      <vt:lpstr>ER Modeling</vt:lpstr>
      <vt:lpstr>Concepts used in ER</vt:lpstr>
      <vt:lpstr>Concepts used in ER</vt:lpstr>
      <vt:lpstr>Notations used in ER</vt:lpstr>
      <vt:lpstr>Notations used in ER</vt:lpstr>
      <vt:lpstr>Notations used in ER</vt:lpstr>
      <vt:lpstr>Relationships in ER</vt:lpstr>
      <vt:lpstr>Relationships in ER</vt:lpstr>
      <vt:lpstr>Relationships in ER</vt:lpstr>
      <vt:lpstr>PowerPoint Presentation</vt:lpstr>
      <vt:lpstr>PowerPoint Presentation</vt:lpstr>
      <vt:lpstr>Introduction to EER</vt:lpstr>
      <vt:lpstr>Additional concepts:</vt:lpstr>
      <vt:lpstr>Subclasses in EER</vt:lpstr>
      <vt:lpstr>PowerPoint Presentation</vt:lpstr>
      <vt:lpstr>Specialization in EER</vt:lpstr>
      <vt:lpstr>PowerPoint Presentation</vt:lpstr>
      <vt:lpstr>PowerPoint Presentation</vt:lpstr>
      <vt:lpstr>Constraints</vt:lpstr>
      <vt:lpstr>Hence, we have four types of specialization/generalization:</vt:lpstr>
      <vt:lpstr>Example of disjoint partial Specialization</vt:lpstr>
      <vt:lpstr>Example of overlapping total Specialization</vt:lpstr>
      <vt:lpstr>Exercise Problem</vt:lpstr>
      <vt:lpstr>We discussed: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Rakesh Prasanna</cp:lastModifiedBy>
  <cp:revision>2</cp:revision>
  <dcterms:created xsi:type="dcterms:W3CDTF">2026-01-31T17:04:59Z</dcterms:created>
  <dcterms:modified xsi:type="dcterms:W3CDTF">2026-02-07T22:23:05Z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2026-01-31T00:00:00Z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0x010100B123C1875908B441AF4AF4B1296840D8</vt:lpwstr>
  </property>
</Properties>
</file>